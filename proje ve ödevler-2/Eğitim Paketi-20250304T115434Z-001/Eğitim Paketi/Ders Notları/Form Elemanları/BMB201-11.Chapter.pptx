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2" r:id="rId1"/>
  </p:sldMasterIdLst>
  <p:notesMasterIdLst>
    <p:notesMasterId r:id="rId44"/>
  </p:notesMasterIdLst>
  <p:handoutMasterIdLst>
    <p:handoutMasterId r:id="rId45"/>
  </p:handoutMasterIdLst>
  <p:sldIdLst>
    <p:sldId id="269" r:id="rId2"/>
    <p:sldId id="424" r:id="rId3"/>
    <p:sldId id="426" r:id="rId4"/>
    <p:sldId id="425" r:id="rId5"/>
    <p:sldId id="427" r:id="rId6"/>
    <p:sldId id="423" r:id="rId7"/>
    <p:sldId id="428" r:id="rId8"/>
    <p:sldId id="429" r:id="rId9"/>
    <p:sldId id="430" r:id="rId10"/>
    <p:sldId id="431" r:id="rId11"/>
    <p:sldId id="432" r:id="rId12"/>
    <p:sldId id="433" r:id="rId13"/>
    <p:sldId id="434" r:id="rId14"/>
    <p:sldId id="435" r:id="rId15"/>
    <p:sldId id="436" r:id="rId16"/>
    <p:sldId id="442" r:id="rId17"/>
    <p:sldId id="443" r:id="rId18"/>
    <p:sldId id="441" r:id="rId19"/>
    <p:sldId id="437" r:id="rId20"/>
    <p:sldId id="438" r:id="rId21"/>
    <p:sldId id="439" r:id="rId22"/>
    <p:sldId id="440" r:id="rId23"/>
    <p:sldId id="444" r:id="rId24"/>
    <p:sldId id="445" r:id="rId25"/>
    <p:sldId id="446" r:id="rId26"/>
    <p:sldId id="449" r:id="rId27"/>
    <p:sldId id="447" r:id="rId28"/>
    <p:sldId id="448" r:id="rId29"/>
    <p:sldId id="450" r:id="rId30"/>
    <p:sldId id="451" r:id="rId31"/>
    <p:sldId id="452" r:id="rId32"/>
    <p:sldId id="453" r:id="rId33"/>
    <p:sldId id="454" r:id="rId34"/>
    <p:sldId id="455" r:id="rId35"/>
    <p:sldId id="456" r:id="rId36"/>
    <p:sldId id="457" r:id="rId37"/>
    <p:sldId id="458" r:id="rId38"/>
    <p:sldId id="459" r:id="rId39"/>
    <p:sldId id="460" r:id="rId40"/>
    <p:sldId id="461" r:id="rId41"/>
    <p:sldId id="462" r:id="rId42"/>
    <p:sldId id="281" r:id="rId43"/>
  </p:sldIdLst>
  <p:sldSz cx="9144000" cy="6858000" type="screen4x3"/>
  <p:notesSz cx="7010400" cy="9296400"/>
  <p:defaultTextStyle>
    <a:defPPr rtl="0">
      <a:defRPr lang="tr-tr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4" clrIdx="0">
    <p:extLst>
      <p:ext uri="{19B8F6BF-5375-455C-9EA6-DF929625EA0E}">
        <p15:presenceInfo xmlns:p15="http://schemas.microsoft.com/office/powerpoint/2012/main" userId="1fc7fc7521ad5d0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3611"/>
    <a:srgbClr val="A44114"/>
    <a:srgbClr val="F3B99F"/>
    <a:srgbClr val="B94917"/>
    <a:srgbClr val="FF6600"/>
    <a:srgbClr val="000066"/>
    <a:srgbClr val="00002C"/>
    <a:srgbClr val="C4E7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Açık Stil 1 - Vurgu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Açık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7292A2E-F333-43FB-9621-5CBBE7FDCDCB}" styleName="Açık Stil 2 - Vurgu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Açık Stil 1 - Vurgu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Açık Stil 1 - Vurgu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01" autoAdjust="0"/>
    <p:restoredTop sz="97155" autoAdjust="0"/>
  </p:normalViewPr>
  <p:slideViewPr>
    <p:cSldViewPr>
      <p:cViewPr varScale="1">
        <p:scale>
          <a:sx n="84" d="100"/>
          <a:sy n="84" d="100"/>
        </p:scale>
        <p:origin x="139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296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ke Test User" userId="SID-0" providerId="Test" clId="FakeClientId"/>
    <pc:docChg chg="undo custSel modSld modNotesMaster">
      <pc:chgData name="Fake Test User" userId="SID-0" providerId="Test" clId="FakeClientId" dt="2018-12-04T05:43:13.074" v="7" actId="790"/>
      <pc:docMkLst>
        <pc:docMk/>
      </pc:docMkLst>
      <pc:sldChg chg="modSp">
        <pc:chgData name="Fake Test User" userId="SID-0" providerId="Test" clId="FakeClientId" dt="2018-12-04T05:39:21.983" v="1" actId="6549"/>
        <pc:sldMkLst>
          <pc:docMk/>
          <pc:sldMk cId="3733441278" sldId="271"/>
        </pc:sldMkLst>
        <pc:spChg chg="mod">
          <ac:chgData name="Fake Test User" userId="SID-0" providerId="Test" clId="FakeClientId" dt="2018-12-04T05:39:21.983" v="1" actId="6549"/>
          <ac:spMkLst>
            <pc:docMk/>
            <pc:sldMk cId="3733441278" sldId="271"/>
            <ac:spMk id="3" creationId="{138AFC74-2DAB-4FF2-A66B-288CACB8B844}"/>
          </ac:spMkLst>
        </pc:spChg>
      </pc:sldChg>
      <pc:sldChg chg="modSp">
        <pc:chgData name="Fake Test User" userId="SID-0" providerId="Test" clId="FakeClientId" dt="2018-12-04T05:41:53.817" v="6" actId="27636"/>
        <pc:sldMkLst>
          <pc:docMk/>
          <pc:sldMk cId="2525023481" sldId="277"/>
        </pc:sldMkLst>
        <pc:spChg chg="mod">
          <ac:chgData name="Fake Test User" userId="SID-0" providerId="Test" clId="FakeClientId" dt="2018-12-04T05:41:53.817" v="6" actId="27636"/>
          <ac:spMkLst>
            <pc:docMk/>
            <pc:sldMk cId="2525023481" sldId="277"/>
            <ac:spMk id="3" creationId="{CF66EF10-C287-4341-AD3D-9B48C2895A59}"/>
          </ac:spMkLst>
        </pc:spChg>
      </pc:sldChg>
      <pc:sldChg chg="modSp">
        <pc:chgData name="Fake Test User" userId="SID-0" providerId="Test" clId="FakeClientId" dt="2018-12-04T05:40:40.727" v="5" actId="20577"/>
        <pc:sldMkLst>
          <pc:docMk/>
          <pc:sldMk cId="2321117250" sldId="278"/>
        </pc:sldMkLst>
        <pc:spChg chg="mod">
          <ac:chgData name="Fake Test User" userId="SID-0" providerId="Test" clId="FakeClientId" dt="2018-12-04T05:40:40.727" v="5" actId="20577"/>
          <ac:spMkLst>
            <pc:docMk/>
            <pc:sldMk cId="2321117250" sldId="278"/>
            <ac:spMk id="3" creationId="{D1E1198F-DBE4-4470-AE42-7DC4BC96CAD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Dikdörtgen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4819" name="Dikdörtgen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fld id="{8EB1AC0F-E286-44A1-8E5A-20BC1E627360}" type="datetime1">
              <a:rPr lang="tr-TR" smtClean="0">
                <a:latin typeface="Arial" panose="020B0604020202020204" pitchFamily="34" charset="0"/>
              </a:rPr>
              <a:t>4.05.2021</a:t>
            </a:fld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4820" name="Dikdörtgen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4821" name="Dikdörtgen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fld id="{F0B6EC5B-DE15-4B62-9DC0-DE1BD893DD16}" type="slidenum">
              <a:rPr lang="tr-TR" smtClean="0">
                <a:latin typeface="Arial" panose="020B0604020202020204" pitchFamily="34" charset="0"/>
              </a:rPr>
              <a:pPr/>
              <a:t>‹#›</a:t>
            </a:fld>
            <a:endParaRPr lang="tr-T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8682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ikdörtgen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endParaRPr lang="tr-TR" noProof="0"/>
          </a:p>
        </p:txBody>
      </p:sp>
      <p:sp>
        <p:nvSpPr>
          <p:cNvPr id="26627" name="Dikdörtgen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fld id="{8B2142ED-62CF-4BE7-A720-C948E8939493}" type="datetime1">
              <a:rPr lang="tr-TR" noProof="0" smtClean="0"/>
              <a:t>4.05.2021</a:t>
            </a:fld>
            <a:endParaRPr lang="tr-TR" noProof="0"/>
          </a:p>
        </p:txBody>
      </p:sp>
      <p:sp>
        <p:nvSpPr>
          <p:cNvPr id="26628" name="Dikdörtgen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Dikdörtgen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26630" name="Dikdörtgen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endParaRPr lang="tr-TR" noProof="0"/>
          </a:p>
        </p:txBody>
      </p:sp>
      <p:sp>
        <p:nvSpPr>
          <p:cNvPr id="26631" name="Dikdörtgen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fld id="{823FACB9-4E35-4CB3-835A-2EBF55FAEDE3}" type="slidenum">
              <a:rPr lang="tr-TR" noProof="0" smtClean="0"/>
              <a:pPr/>
              <a:t>‹#›</a:t>
            </a:fld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9718694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FACB9-4E35-4CB3-835A-2EBF55FAEDE3}" type="slidenum">
              <a:rPr lang="tr-TR" smtClean="0"/>
              <a:pPr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05594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FACB9-4E35-4CB3-835A-2EBF55FAEDE3}" type="slidenum">
              <a:rPr lang="tr-TR" smtClean="0"/>
              <a:pPr/>
              <a:t>42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57196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Çizgi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/>
          <a:lstStyle/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grpSp>
        <p:nvGrpSpPr>
          <p:cNvPr id="47112" name="Gr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7113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4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5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6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7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8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9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0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1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2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3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4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5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6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7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8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9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0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1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2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3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4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5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6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7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8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9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0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1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2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3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</p:grpSp>
      <p:sp>
        <p:nvSpPr>
          <p:cNvPr id="47144" name="Çizgi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/>
          <a:lstStyle/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47107" name="Başlık Yer Tutucusu 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15913" y="466725"/>
            <a:ext cx="6781800" cy="2133600"/>
          </a:xfrm>
        </p:spPr>
        <p:txBody>
          <a:bodyPr rtlCol="0"/>
          <a:lstStyle>
            <a:lvl1pPr algn="r">
              <a:defRPr sz="4400">
                <a:latin typeface="Arial" panose="020B0604020202020204" pitchFamily="34" charset="0"/>
              </a:defRPr>
            </a:lvl1pPr>
          </a:lstStyle>
          <a:p>
            <a:pPr lvl="0"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47108" name="Metin Yer Tutucusu 2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849313" y="3049588"/>
            <a:ext cx="6248400" cy="2362200"/>
          </a:xfrm>
        </p:spPr>
        <p:txBody>
          <a:bodyPr rtlCol="0"/>
          <a:lstStyle>
            <a:lvl1pPr marL="0" indent="0" algn="r">
              <a:buFontTx/>
              <a:buNone/>
              <a:defRPr sz="2900">
                <a:latin typeface="Arial" panose="020B0604020202020204" pitchFamily="34" charset="0"/>
              </a:defRPr>
            </a:lvl1pPr>
          </a:lstStyle>
          <a:p>
            <a:pPr lvl="0" rtl="0"/>
            <a:r>
              <a:rPr lang="tr-TR" noProof="0"/>
              <a:t>Asıl alt başlık stilini düzenlemek için tıklatın</a:t>
            </a:r>
            <a:endParaRPr lang="tr-TR" noProof="0" dirty="0"/>
          </a:p>
        </p:txBody>
      </p:sp>
      <p:sp>
        <p:nvSpPr>
          <p:cNvPr id="47109" name="Tarih Yer Tutucusu 3"/>
          <p:cNvSpPr>
            <a:spLocks noGrp="1" noChangeArrowheads="1"/>
          </p:cNvSpPr>
          <p:nvPr>
            <p:ph type="dt" sz="half" idx="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6E4DA47A-E178-47C6-957C-5C8A574CF14A}" type="datetime1">
              <a:rPr lang="tr-TR" altLang="en-US" smtClean="0"/>
              <a:t>4.05.2021</a:t>
            </a:fld>
            <a:endParaRPr lang="tr-TR" altLang="en-US" dirty="0"/>
          </a:p>
        </p:txBody>
      </p:sp>
      <p:sp>
        <p:nvSpPr>
          <p:cNvPr id="47110" name="Alt Bilgi Yer Tutucusu 4"/>
          <p:cNvSpPr>
            <a:spLocks noGrp="1" noChangeArrowheads="1"/>
          </p:cNvSpPr>
          <p:nvPr>
            <p:ph type="ftr" sz="quarter" idx="3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47111" name="Slayt Numarası Yer Tutucusu 5"/>
          <p:cNvSpPr>
            <a:spLocks noGrp="1" noChangeArrowheads="1"/>
          </p:cNvSpPr>
          <p:nvPr>
            <p:ph type="sldNum" sz="quarter" idx="4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E945280F-DE53-48B1-9FB9-96A39916642A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 marL="45720" indent="0">
              <a:buFontTx/>
              <a:buNone/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ABA82BB-27B0-4E74-BE3A-6182D4BDFFF8}" type="datetime1">
              <a:rPr lang="tr-TR" altLang="en-US" smtClean="0"/>
              <a:t>4.05.2021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71C6F290-D301-4864-9490-340EF11588D9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036072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rtlCol="0" anchor="t"/>
          <a:lstStyle>
            <a:lvl1pPr algn="l">
              <a:defRPr sz="4000" b="1" cap="all"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rtlCol="0" anchor="b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B25015F-A951-49B0-B508-28EBA635A12D}" type="datetime1">
              <a:rPr lang="tr-TR" altLang="en-US" smtClean="0"/>
              <a:t>4.05.2021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D0208CE1-DD55-4A43-A479-EF83A2DC3985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62197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 hasCustomPrompt="1"/>
          </p:nvPr>
        </p:nvSpPr>
        <p:spPr>
          <a:xfrm>
            <a:off x="1143000" y="1524000"/>
            <a:ext cx="3619500" cy="4411663"/>
          </a:xfrm>
        </p:spPr>
        <p:txBody>
          <a:bodyPr rtlCol="0"/>
          <a:lstStyle>
            <a:lvl1pPr marL="45720" indent="0">
              <a:buFontTx/>
              <a:buNone/>
              <a:defRPr sz="2800">
                <a:latin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4914900" y="1524000"/>
            <a:ext cx="3619500" cy="4411663"/>
          </a:xfrm>
        </p:spPr>
        <p:txBody>
          <a:bodyPr rtlCol="0"/>
          <a:lstStyle>
            <a:lvl1pPr marL="45720" indent="0">
              <a:buFontTx/>
              <a:buNone/>
              <a:defRPr sz="2800">
                <a:latin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838651B3-C06A-4DB8-9B86-EE9A06EB1686}" type="datetime1">
              <a:rPr lang="tr-TR" altLang="en-US" smtClean="0"/>
              <a:t>4.05.2021</a:t>
            </a:fld>
            <a:endParaRPr lang="tr-TR" altLang="en-US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927AF89-6755-46F5-BBCF-E571D7F311A5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03735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rtlCol="0" anchor="b"/>
          <a:lstStyle>
            <a:lvl1pPr marL="0" indent="0">
              <a:buNone/>
              <a:defRPr sz="2400" b="1"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 rtlCol="0"/>
          <a:lstStyle>
            <a:lvl1pPr marL="45720" indent="0">
              <a:buFontTx/>
              <a:buNone/>
              <a:defRPr sz="2400">
                <a:latin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rtlCol="0" anchor="b"/>
          <a:lstStyle>
            <a:lvl1pPr marL="0" indent="0">
              <a:buNone/>
              <a:defRPr sz="2400" b="1"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 rtlCol="0"/>
          <a:lstStyle>
            <a:lvl1pPr marL="45720" indent="0">
              <a:buFontTx/>
              <a:buNone/>
              <a:defRPr sz="2400">
                <a:latin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7" name="Tarih Yer Tutucusu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A8342BDE-81B1-4706-BA40-C213250F8A97}" type="datetime1">
              <a:rPr lang="tr-TR" altLang="en-US" smtClean="0"/>
              <a:t>4.05.2021</a:t>
            </a:fld>
            <a:endParaRPr lang="tr-TR" altLang="en-US" dirty="0"/>
          </a:p>
        </p:txBody>
      </p:sp>
      <p:sp>
        <p:nvSpPr>
          <p:cNvPr id="8" name="Alt Bilgi Yer Tutucusu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F76BE3C0-1208-4260-82C3-0EB040027195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39325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2BC3C9F-7E22-400E-8A2B-8FB0E30EB41F}" type="datetime1">
              <a:rPr lang="tr-TR" altLang="en-US" smtClean="0"/>
              <a:t>4.05.2021</a:t>
            </a:fld>
            <a:endParaRPr lang="tr-TR" altLang="en-US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D5F02DF6-5EF1-449D-8E8F-F40E7D2FCBCB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86736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EE45D13-EAC8-40B6-9D8A-717416E4E6C9}" type="datetime1">
              <a:rPr lang="tr-TR" altLang="en-US" smtClean="0"/>
              <a:t>4.05.2021</a:t>
            </a:fld>
            <a:endParaRPr lang="tr-TR" altLang="en-US" dirty="0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AC3460AA-1533-4548-8781-A6D0EAE276D6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251094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rtlCol="0"/>
          <a:lstStyle>
            <a:lvl1pPr algn="l">
              <a:defRPr sz="2000" b="1"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 rtlCol="0"/>
          <a:lstStyle>
            <a:lvl1pPr marL="45720" indent="0">
              <a:buFontTx/>
              <a:buNone/>
              <a:defRPr sz="3200">
                <a:latin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 rtlCol="0"/>
          <a:lstStyle>
            <a:lvl1pPr marL="0" indent="0">
              <a:buNone/>
              <a:defRPr sz="1400">
                <a:latin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12130E0B-9CBE-4DBD-9C9C-6411A8276026}" type="datetime1">
              <a:rPr lang="tr-TR" altLang="en-US" smtClean="0"/>
              <a:t>4.05.2021</a:t>
            </a:fld>
            <a:endParaRPr lang="tr-TR" altLang="en-US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6386842-FEC9-453F-B6F7-7C945F3A2D73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530924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rtlCol="0"/>
          <a:lstStyle>
            <a:lvl1pPr algn="l">
              <a:defRPr sz="2000" b="1"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 rtlCol="0"/>
          <a:lstStyle>
            <a:lvl1pPr marL="0" indent="0">
              <a:buNone/>
              <a:defRPr sz="3200">
                <a:latin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tr-TR"/>
              <a:t>Resim eklemek için simgeye tıklayın</a:t>
            </a:r>
            <a:endParaRPr lang="tr-TR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 rtlCol="0"/>
          <a:lstStyle>
            <a:lvl1pPr marL="0" indent="0">
              <a:buNone/>
              <a:defRPr sz="1400">
                <a:latin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FD45A49D-D59C-4043-BFE4-3F91EBD2EAE0}" type="datetime1">
              <a:rPr lang="tr-TR" altLang="en-US" smtClean="0"/>
              <a:t>4.05.2021</a:t>
            </a:fld>
            <a:endParaRPr lang="tr-TR" altLang="en-US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E96DA581-ADE3-4A40-91CB-711A776CAC29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291156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 marL="45720" indent="0">
              <a:buFontTx/>
              <a:buNone/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6C70543-142E-47BD-9F7A-114C2D10A1C1}" type="datetime1">
              <a:rPr lang="tr-TR" altLang="en-US" smtClean="0"/>
              <a:t>4.05.2021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872E90EB-6CA4-453F-8712-C339590DE034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411312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6457950" y="228600"/>
            <a:ext cx="2076450" cy="5707063"/>
          </a:xfrm>
        </p:spPr>
        <p:txBody>
          <a:bodyPr vert="eaVert"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228600" y="228600"/>
            <a:ext cx="6076950" cy="5707063"/>
          </a:xfrm>
        </p:spPr>
        <p:txBody>
          <a:bodyPr vert="eaVert" rtlCol="0"/>
          <a:lstStyle>
            <a:lvl1pPr marL="45720" indent="0">
              <a:buFontTx/>
              <a:buNone/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038A33F-6BB9-4C64-B05E-81B73C45F6B7}" type="datetime1">
              <a:rPr lang="tr-TR" altLang="en-US" smtClean="0"/>
              <a:t>4.05.2021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26D251BA-4196-46F7-BF5E-DE37F6712AD1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2517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Çizgi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/>
          <a:lstStyle/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grpSp>
        <p:nvGrpSpPr>
          <p:cNvPr id="46088" name="Gr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46089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0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1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2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3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4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5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6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7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8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9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0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1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2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3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4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5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6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7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8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9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0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1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2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3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4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5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6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7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8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9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</p:grpSp>
      <p:sp>
        <p:nvSpPr>
          <p:cNvPr id="46083" name="Başlık Yer Tutucusu 1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7696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lvl="0"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46084" name="Metin Yer Tutucusu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1524000"/>
            <a:ext cx="7391400" cy="441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</a:p>
          <a:p>
            <a:pPr lvl="8" rtl="0"/>
            <a:endParaRPr lang="tr-TR" altLang="en-US"/>
          </a:p>
          <a:p>
            <a:pPr lvl="8" rtl="0"/>
            <a:endParaRPr lang="tr-TR" altLang="en-US" dirty="0"/>
          </a:p>
        </p:txBody>
      </p:sp>
      <p:sp>
        <p:nvSpPr>
          <p:cNvPr id="46085" name="Tarih Yer Tutucusu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000">
                <a:latin typeface="Arial" panose="020B0604020202020204" pitchFamily="34" charset="0"/>
              </a:defRPr>
            </a:lvl1pPr>
          </a:lstStyle>
          <a:p>
            <a:fld id="{322246E8-490E-476E-B1A5-1D98C583C7E1}" type="datetime1">
              <a:rPr lang="tr-TR" altLang="en-US" smtClean="0"/>
              <a:t>4.05.2021</a:t>
            </a:fld>
            <a:endParaRPr lang="tr-TR" altLang="en-US" dirty="0"/>
          </a:p>
        </p:txBody>
      </p:sp>
      <p:sp>
        <p:nvSpPr>
          <p:cNvPr id="46086" name="Alt Bilgi Yer Tutucusu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000"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46087" name="Slayt Numarası Yer Tutucusu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000">
                <a:latin typeface="Arial" panose="020B0604020202020204" pitchFamily="34" charset="0"/>
              </a:defRPr>
            </a:lvl1pPr>
          </a:lstStyle>
          <a:p>
            <a:fld id="{D7E5119E-5338-4B55-81DC-57EAC9440FD0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45720" indent="0" algn="l" rtl="0" eaLnBrk="1" fontAlgn="base" hangingPunct="1">
        <a:spcBef>
          <a:spcPct val="25000"/>
        </a:spcBef>
        <a:spcAft>
          <a:spcPct val="0"/>
        </a:spcAft>
        <a:buClr>
          <a:schemeClr val="tx2"/>
        </a:buClr>
        <a:buSzPct val="120000"/>
        <a:buFontTx/>
        <a:buNone/>
        <a:defRPr sz="27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92150" indent="-347663" algn="l" rtl="0" eaLnBrk="1" fontAlgn="base" hangingPunct="1">
        <a:spcBef>
          <a:spcPct val="0"/>
        </a:spcBef>
        <a:spcAft>
          <a:spcPct val="25000"/>
        </a:spcAft>
        <a:buClr>
          <a:schemeClr val="accent2">
            <a:lumMod val="75000"/>
          </a:schemeClr>
        </a:buClr>
        <a:buSzPct val="55000"/>
        <a:buFont typeface="Wingdings" pitchFamily="2" charset="2"/>
        <a:buChar char="l"/>
        <a:defRPr sz="2400">
          <a:solidFill>
            <a:schemeClr val="tx1"/>
          </a:solidFill>
          <a:latin typeface="Arial" panose="020B0604020202020204" pitchFamily="34" charset="0"/>
        </a:defRPr>
      </a:lvl2pPr>
      <a:lvl3pPr marL="987425" indent="-293688" algn="l" rtl="0" eaLnBrk="1" fontAlgn="base" hangingPunct="1">
        <a:spcBef>
          <a:spcPct val="0"/>
        </a:spcBef>
        <a:spcAft>
          <a:spcPct val="25000"/>
        </a:spcAft>
        <a:buClr>
          <a:schemeClr val="accent1">
            <a:lumMod val="50000"/>
          </a:schemeClr>
        </a:buClr>
        <a:buSzPct val="50000"/>
        <a:buFont typeface="Wingdings" pitchFamily="2" charset="2"/>
        <a:buChar char="l"/>
        <a:defRPr sz="2200">
          <a:solidFill>
            <a:schemeClr val="tx1"/>
          </a:solidFill>
          <a:latin typeface="Arial" panose="020B0604020202020204" pitchFamily="34" charset="0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>
            <a:lumMod val="75000"/>
          </a:schemeClr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Arial" panose="020B0604020202020204" pitchFamily="34" charset="0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accent3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Arial" panose="020B0604020202020204" pitchFamily="34" charset="0"/>
        </a:defRPr>
      </a:lvl5pPr>
      <a:lvl6pPr marL="1920240" indent="-315913" algn="l" rtl="0" eaLnBrk="1" fontAlgn="base" hangingPunct="1">
        <a:spcBef>
          <a:spcPct val="20000"/>
        </a:spcBef>
        <a:spcAft>
          <a:spcPct val="0"/>
        </a:spcAft>
        <a:buClr>
          <a:schemeClr val="accent6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240280" indent="-315913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651760" indent="-315913" algn="l" rtl="0" eaLnBrk="1" fontAlgn="base" hangingPunct="1">
        <a:spcBef>
          <a:spcPct val="20000"/>
        </a:spcBef>
        <a:spcAft>
          <a:spcPct val="0"/>
        </a:spcAft>
        <a:buClr>
          <a:schemeClr val="bg2">
            <a:lumMod val="75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108960" indent="-315913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70486D98-0B9B-4C4E-A25F-64BA4C5DB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BM201</a:t>
            </a:r>
            <a:r>
              <a:rPr lang="tr-TR" dirty="0" smtClean="0">
                <a:latin typeface="Arial" panose="020B0604020202020204" pitchFamily="34" charset="0"/>
              </a:rPr>
              <a:t/>
            </a:r>
            <a:br>
              <a:rPr lang="tr-TR" dirty="0" smtClean="0">
                <a:latin typeface="Arial" panose="020B0604020202020204" pitchFamily="34" charset="0"/>
              </a:rPr>
            </a:br>
            <a:r>
              <a:rPr lang="tr-TR" dirty="0" smtClean="0"/>
              <a:t>Görsel </a:t>
            </a:r>
            <a:br>
              <a:rPr lang="tr-TR" dirty="0" smtClean="0"/>
            </a:br>
            <a:r>
              <a:rPr lang="tr-TR" dirty="0" smtClean="0"/>
              <a:t>Programlamaya Giriş</a:t>
            </a:r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5" name="Alt Başlık 4">
            <a:extLst>
              <a:ext uri="{FF2B5EF4-FFF2-40B4-BE49-F238E27FC236}">
                <a16:creationId xmlns:a16="http://schemas.microsoft.com/office/drawing/2014/main" id="{D655BBED-E65C-4B70-99E3-9318D4F2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576" y="3049588"/>
            <a:ext cx="6342137" cy="3259732"/>
          </a:xfrm>
        </p:spPr>
        <p:txBody>
          <a:bodyPr rtlCol="0">
            <a:normAutofit fontScale="92500"/>
          </a:bodyPr>
          <a:lstStyle/>
          <a:p>
            <a:r>
              <a:rPr lang="tr-TR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</a:t>
            </a:r>
            <a:r>
              <a:rPr lang="tr-T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tr-T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  <a:r>
              <a:rPr lang="tr-TR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:</a:t>
            </a:r>
            <a:r>
              <a:rPr lang="tr-TR" dirty="0" smtClean="0">
                <a:latin typeface="Arial" panose="020B0604020202020204" pitchFamily="34" charset="0"/>
              </a:rPr>
              <a:t> </a:t>
            </a:r>
            <a:r>
              <a:rPr lang="tr-T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Grafik </a:t>
            </a:r>
            <a:r>
              <a:rPr lang="tr-T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Arayüz</a:t>
            </a:r>
            <a:r>
              <a:rPr lang="tr-T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Konseptleri </a:t>
            </a:r>
            <a:r>
              <a:rPr lang="tr-T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</a:t>
            </a:r>
            <a:endParaRPr lang="tr-T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tr-TR" dirty="0" smtClean="0">
              <a:latin typeface="Arial" panose="020B0604020202020204" pitchFamily="34" charset="0"/>
            </a:endParaRPr>
          </a:p>
          <a:p>
            <a:endParaRPr lang="tr-TR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ettenschweiler" panose="020B0706040902060204" pitchFamily="34" charset="0"/>
            </a:endParaRPr>
          </a:p>
          <a:p>
            <a:r>
              <a:rPr lang="tr-TR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Dr</a:t>
            </a:r>
            <a:r>
              <a:rPr lang="tr-T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. Öğr. Üyesi Ali Şenol</a:t>
            </a:r>
          </a:p>
          <a:p>
            <a:r>
              <a:rPr lang="tr-T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Bilgisayar Mühendisliği Bölümü</a:t>
            </a:r>
          </a:p>
          <a:p>
            <a:r>
              <a:rPr lang="tr-T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GİBTÜ</a:t>
            </a:r>
          </a:p>
        </p:txBody>
      </p:sp>
      <p:pic>
        <p:nvPicPr>
          <p:cNvPr id="6" name="Picture 2" descr="Gaziantep İslam Bilim ve Teknoloji Üniversites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196752"/>
            <a:ext cx="1512168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48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Yeni Form Projesi Oluşturma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504820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804248" y="6448359"/>
            <a:ext cx="2133600" cy="257241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17920"/>
            <a:ext cx="7200800" cy="442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8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Yeni Form Projesi Oluşturma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504820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804248" y="6448359"/>
            <a:ext cx="2133600" cy="257241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3</a:t>
            </a:fld>
            <a:endParaRPr lang="tr-TR" alt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524000"/>
            <a:ext cx="7850832" cy="490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43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Form Geliştirme Ortamı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1259632" y="6629400"/>
            <a:ext cx="5904656" cy="457200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4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8" y="1501136"/>
            <a:ext cx="9006768" cy="493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14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7504" y="228600"/>
            <a:ext cx="7817296" cy="1295400"/>
          </a:xfrm>
        </p:spPr>
        <p:txBody>
          <a:bodyPr/>
          <a:lstStyle/>
          <a:p>
            <a:r>
              <a:rPr lang="tr-TR" dirty="0" smtClean="0"/>
              <a:t>Solution Explorer (Çözüm Gezgini)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1520" y="1524001"/>
            <a:ext cx="8282880" cy="968896"/>
          </a:xfrm>
        </p:spPr>
        <p:txBody>
          <a:bodyPr/>
          <a:lstStyle/>
          <a:p>
            <a:r>
              <a:rPr lang="tr-TR" dirty="0" smtClean="0"/>
              <a:t>Çözüm be bağlı sınıf, kontrol, metot gibi bileşenlerini ulaşılabilir olduğu pencere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5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76" y="2636912"/>
            <a:ext cx="2956872" cy="351320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856" y="2695259"/>
            <a:ext cx="5282244" cy="296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62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Toolbox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24128" y="1524000"/>
            <a:ext cx="2810272" cy="4411663"/>
          </a:xfrm>
        </p:spPr>
        <p:txBody>
          <a:bodyPr>
            <a:normAutofit fontScale="92500" lnSpcReduction="20000"/>
          </a:bodyPr>
          <a:lstStyle/>
          <a:p>
            <a:r>
              <a:rPr lang="tr-TR" dirty="0" smtClean="0"/>
              <a:t>Form bileşenlerinin listelendiği ve kullanıma sunulduğu penceredir. Sürükle bırak ile forma eklenebilir. </a:t>
            </a:r>
          </a:p>
          <a:p>
            <a:r>
              <a:rPr lang="en-GB" b="1" dirty="0" smtClean="0"/>
              <a:t>Toolbox</a:t>
            </a:r>
            <a:r>
              <a:rPr lang="tr-TR" b="1" dirty="0" smtClean="0"/>
              <a:t> </a:t>
            </a:r>
            <a:r>
              <a:rPr lang="en-GB" dirty="0" err="1" smtClean="0"/>
              <a:t>kapalı</a:t>
            </a:r>
            <a:r>
              <a:rPr lang="tr-TR" dirty="0" smtClean="0"/>
              <a:t> </a:t>
            </a:r>
            <a:r>
              <a:rPr lang="en-GB" dirty="0" err="1" smtClean="0"/>
              <a:t>ise</a:t>
            </a:r>
            <a:r>
              <a:rPr lang="tr-TR" dirty="0" smtClean="0"/>
              <a:t> </a:t>
            </a:r>
            <a:r>
              <a:rPr lang="en-GB" b="1" dirty="0" smtClean="0"/>
              <a:t>Ctrl </a:t>
            </a:r>
            <a:r>
              <a:rPr lang="en-GB" b="1" dirty="0"/>
              <a:t>+ Alt + X </a:t>
            </a:r>
            <a:r>
              <a:rPr lang="en-GB" dirty="0" err="1" smtClean="0"/>
              <a:t>tuşlarına</a:t>
            </a:r>
            <a:r>
              <a:rPr lang="tr-TR" dirty="0" smtClean="0"/>
              <a:t> </a:t>
            </a:r>
            <a:r>
              <a:rPr lang="en-GB" dirty="0" err="1" smtClean="0"/>
              <a:t>birlikte</a:t>
            </a:r>
            <a:r>
              <a:rPr lang="tr-TR" dirty="0" smtClean="0"/>
              <a:t> </a:t>
            </a:r>
            <a:r>
              <a:rPr lang="en-GB" dirty="0" err="1" smtClean="0"/>
              <a:t>basarak</a:t>
            </a:r>
            <a:r>
              <a:rPr lang="tr-TR" dirty="0" smtClean="0"/>
              <a:t> </a:t>
            </a:r>
            <a:r>
              <a:rPr lang="en-GB" dirty="0" err="1" smtClean="0"/>
              <a:t>aktif</a:t>
            </a:r>
            <a:r>
              <a:rPr lang="tr-TR" dirty="0" smtClean="0"/>
              <a:t> </a:t>
            </a:r>
            <a:r>
              <a:rPr lang="en-GB" dirty="0" smtClean="0"/>
              <a:t>hale </a:t>
            </a:r>
            <a:r>
              <a:rPr lang="en-GB" dirty="0" err="1"/>
              <a:t>getirilebilir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6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6211"/>
            <a:ext cx="5269945" cy="387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349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Özellikler Penceresi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7504" y="1628800"/>
            <a:ext cx="8426896" cy="4299631"/>
          </a:xfrm>
        </p:spPr>
        <p:txBody>
          <a:bodyPr>
            <a:normAutofit/>
          </a:bodyPr>
          <a:lstStyle/>
          <a:p>
            <a:r>
              <a:rPr lang="tr-TR" sz="2000" dirty="0" smtClean="0"/>
              <a:t>Seçilen nesneye ait özelliklerin ve olayların düzenlenebildiği pencereler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2123728" y="6540577"/>
            <a:ext cx="4752528" cy="292177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25024" y="6540577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7</a:t>
            </a:fld>
            <a:endParaRPr lang="tr-TR" alt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92" y="2136146"/>
            <a:ext cx="3405600" cy="4319734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948" y="2129679"/>
            <a:ext cx="3405600" cy="432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1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Özellikler Penceresi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7504" y="1628800"/>
            <a:ext cx="8426896" cy="4299631"/>
          </a:xfrm>
        </p:spPr>
        <p:txBody>
          <a:bodyPr>
            <a:normAutofit/>
          </a:bodyPr>
          <a:lstStyle/>
          <a:p>
            <a:r>
              <a:rPr lang="tr-TR" sz="2000" dirty="0" smtClean="0"/>
              <a:t>Seçilen nesneye ait özelliklerin ve olayların düzenlenebildiği pencereler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2123728" y="6540577"/>
            <a:ext cx="4752528" cy="292177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25024" y="6540577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8</a:t>
            </a:fld>
            <a:endParaRPr lang="tr-TR" alt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92" y="2136146"/>
            <a:ext cx="3405600" cy="4319734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948" y="2129679"/>
            <a:ext cx="3405600" cy="432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68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Özellikler Penceresi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7504" y="1628800"/>
            <a:ext cx="8426896" cy="4299631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2123728" y="6540577"/>
            <a:ext cx="4752528" cy="292177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25024" y="6540577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9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700808"/>
            <a:ext cx="6908740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3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Form Kodlarına Ulaşma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7504" y="1628800"/>
            <a:ext cx="8426896" cy="4299631"/>
          </a:xfrm>
        </p:spPr>
        <p:txBody>
          <a:bodyPr>
            <a:normAutofit/>
          </a:bodyPr>
          <a:lstStyle/>
          <a:p>
            <a:r>
              <a:rPr lang="tr-TR" sz="2000" dirty="0" smtClean="0"/>
              <a:t>Form kodlarına «formda boş bir alana çift tıklayarak veya Solution </a:t>
            </a:r>
            <a:r>
              <a:rPr lang="tr-TR" sz="2000" dirty="0" err="1" smtClean="0"/>
              <a:t>Explorer’dan</a:t>
            </a:r>
            <a:r>
              <a:rPr lang="tr-TR" sz="2000" dirty="0" smtClean="0"/>
              <a:t> Form1 üzerine sağ tıklayıp </a:t>
            </a:r>
            <a:r>
              <a:rPr lang="tr-TR" sz="2000" dirty="0" err="1" smtClean="0"/>
              <a:t>view</a:t>
            </a:r>
            <a:r>
              <a:rPr lang="tr-TR" sz="2000" dirty="0" smtClean="0"/>
              <a:t> </a:t>
            </a:r>
            <a:r>
              <a:rPr lang="tr-TR" sz="2000" dirty="0" err="1" smtClean="0"/>
              <a:t>code</a:t>
            </a:r>
            <a:r>
              <a:rPr lang="tr-TR" sz="2000" dirty="0" smtClean="0"/>
              <a:t> diyerek ulaşılabilir»</a:t>
            </a:r>
            <a:endParaRPr lang="tr-TR" sz="2000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2123728" y="6540577"/>
            <a:ext cx="4752528" cy="292177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25024" y="6540577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10</a:t>
            </a:fld>
            <a:endParaRPr lang="tr-TR" alt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348880"/>
            <a:ext cx="3173400" cy="4067534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967" y="2440015"/>
            <a:ext cx="4067833" cy="3058758"/>
          </a:xfrm>
          <a:prstGeom prst="rect">
            <a:avLst/>
          </a:prstGeom>
        </p:spPr>
      </p:pic>
      <p:sp>
        <p:nvSpPr>
          <p:cNvPr id="9" name="Metin kutusu 8"/>
          <p:cNvSpPr txBox="1"/>
          <p:nvPr/>
        </p:nvSpPr>
        <p:spPr>
          <a:xfrm>
            <a:off x="4076700" y="5539251"/>
            <a:ext cx="4506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tr-TR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ÖR: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Uygula butonuna tıklayarak butonun </a:t>
            </a:r>
            <a:r>
              <a:rPr lang="tr-T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click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olayına kod yazılabilir</a:t>
            </a: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27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Form Kodlarına Ulaşma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7504" y="1628800"/>
            <a:ext cx="8426896" cy="4299631"/>
          </a:xfrm>
        </p:spPr>
        <p:txBody>
          <a:bodyPr>
            <a:normAutofit/>
          </a:bodyPr>
          <a:lstStyle/>
          <a:p>
            <a:r>
              <a:rPr lang="tr-TR" sz="2000" dirty="0" smtClean="0"/>
              <a:t>ÖR: Merhaba Dünya Örneği</a:t>
            </a:r>
            <a:endParaRPr lang="tr-TR" sz="2000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2123728" y="6540577"/>
            <a:ext cx="4752528" cy="292177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25024" y="6540577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11</a:t>
            </a:fld>
            <a:endParaRPr lang="tr-TR" altLang="en-US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480493"/>
            <a:ext cx="4067833" cy="3058758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945" y="2397981"/>
            <a:ext cx="4677516" cy="314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89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Kodun Çalıştırılması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7504" y="1628800"/>
            <a:ext cx="8426896" cy="4299631"/>
          </a:xfrm>
        </p:spPr>
        <p:txBody>
          <a:bodyPr>
            <a:normAutofit/>
          </a:bodyPr>
          <a:lstStyle/>
          <a:p>
            <a:r>
              <a:rPr lang="tr-TR" sz="2000" dirty="0" smtClean="0"/>
              <a:t>Kodu çalıştırmak için üst menüde bulunan </a:t>
            </a:r>
            <a:r>
              <a:rPr lang="tr-TR" sz="2000" b="1" dirty="0" smtClean="0"/>
              <a:t>Start</a:t>
            </a:r>
            <a:r>
              <a:rPr lang="tr-TR" sz="2000" dirty="0" smtClean="0"/>
              <a:t> bileşenine basılır.</a:t>
            </a:r>
            <a:endParaRPr lang="tr-TR" sz="2000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2123728" y="6540577"/>
            <a:ext cx="4752528" cy="292177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25024" y="6540577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12</a:t>
            </a:fld>
            <a:endParaRPr lang="tr-TR" alt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113274"/>
            <a:ext cx="5207496" cy="4334259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2546154"/>
            <a:ext cx="3225000" cy="263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63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Derleme ve Hata Bulma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23528" y="1524000"/>
            <a:ext cx="8210872" cy="5007124"/>
          </a:xfrm>
        </p:spPr>
        <p:txBody>
          <a:bodyPr>
            <a:normAutofit/>
          </a:bodyPr>
          <a:lstStyle/>
          <a:p>
            <a:r>
              <a:rPr lang="tr-TR" sz="2000" dirty="0" smtClean="0"/>
              <a:t>Yazılan bir kodda hata olup olmadığını kontrol etmek için </a:t>
            </a:r>
            <a:r>
              <a:rPr lang="tr-TR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build</a:t>
            </a:r>
            <a:r>
              <a:rPr lang="tr-TR" sz="2000" dirty="0" smtClean="0"/>
              <a:t> edilir. Bu sırada hata varsa açıklamaları ile listelenir.</a:t>
            </a:r>
            <a:endParaRPr lang="en-GB" sz="2000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1355304" y="6603132"/>
            <a:ext cx="6264696" cy="204936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858000" y="6531124"/>
            <a:ext cx="2133600" cy="276944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13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63" y="2348880"/>
            <a:ext cx="8023801" cy="388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58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Görsel Bileşenler ve Özellikleri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23528" y="1524000"/>
            <a:ext cx="8210872" cy="5007124"/>
          </a:xfrm>
        </p:spPr>
        <p:txBody>
          <a:bodyPr>
            <a:normAutofit/>
          </a:bodyPr>
          <a:lstStyle/>
          <a:p>
            <a:r>
              <a:rPr lang="tr-TR" sz="2000" dirty="0" smtClean="0"/>
              <a:t>C# Form </a:t>
            </a:r>
            <a:r>
              <a:rPr lang="tr-TR" sz="2000" dirty="0" err="1" smtClean="0"/>
              <a:t>uygulamalrında</a:t>
            </a:r>
            <a:r>
              <a:rPr lang="tr-TR" sz="2000" dirty="0" smtClean="0"/>
              <a:t> hazır sunulan çok sayıda nesne ve bunlara ait bileşenler (</a:t>
            </a:r>
            <a:r>
              <a:rPr lang="tr-TR" sz="2000" dirty="0" err="1" smtClean="0"/>
              <a:t>Properties</a:t>
            </a:r>
            <a:r>
              <a:rPr lang="tr-TR" sz="2000" dirty="0" smtClean="0"/>
              <a:t>, </a:t>
            </a:r>
            <a:r>
              <a:rPr lang="tr-TR" sz="2000" dirty="0" err="1" smtClean="0"/>
              <a:t>Events</a:t>
            </a:r>
            <a:r>
              <a:rPr lang="tr-TR" sz="2000" dirty="0" smtClean="0"/>
              <a:t> vs.) vardır. Bu bileşenlerin kullanım şekli ve özellikleri amacına uygun geliştirilmiştir. Belli başlı olanlar:</a:t>
            </a:r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smtClean="0"/>
              <a:t>Form</a:t>
            </a:r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MessageBox</a:t>
            </a:r>
            <a:endParaRPr lang="tr-TR" sz="2000" dirty="0" smtClean="0"/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TextBox</a:t>
            </a:r>
            <a:endParaRPr lang="tr-TR" sz="2000" dirty="0" smtClean="0"/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Label</a:t>
            </a:r>
            <a:endParaRPr lang="tr-TR" sz="2000" dirty="0" smtClean="0"/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Button</a:t>
            </a:r>
            <a:endParaRPr lang="tr-TR" sz="2000" dirty="0" smtClean="0"/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RichTextBox</a:t>
            </a:r>
            <a:endParaRPr lang="tr-TR" sz="2000" dirty="0" smtClean="0"/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MaskedTextBox</a:t>
            </a:r>
            <a:endParaRPr lang="tr-TR" sz="2000" dirty="0" smtClean="0"/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CheckBox</a:t>
            </a:r>
            <a:endParaRPr lang="tr-TR" sz="2000" dirty="0" smtClean="0"/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RadioButton</a:t>
            </a:r>
            <a:endParaRPr lang="tr-TR" sz="2000" dirty="0" smtClean="0"/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ComboBox</a:t>
            </a:r>
            <a:endParaRPr lang="tr-TR" sz="2000" dirty="0" smtClean="0"/>
          </a:p>
          <a:p>
            <a:pPr marL="388620" indent="-34290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1355304" y="6603132"/>
            <a:ext cx="6264696" cy="204936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858000" y="6531124"/>
            <a:ext cx="2133600" cy="276944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14</a:t>
            </a:fld>
            <a:endParaRPr lang="tr-TR" altLang="en-US" dirty="0"/>
          </a:p>
        </p:txBody>
      </p:sp>
      <p:sp>
        <p:nvSpPr>
          <p:cNvPr id="7" name="Metin kutusu 6"/>
          <p:cNvSpPr txBox="1"/>
          <p:nvPr/>
        </p:nvSpPr>
        <p:spPr>
          <a:xfrm>
            <a:off x="3481248" y="2492896"/>
            <a:ext cx="410445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GroupBox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smtClean="0"/>
              <a:t>Panel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ListBox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CheckedListBox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ListView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DataGridView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DataSet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ProgressBas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PictureBox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PrintDialog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MonthCalender</a:t>
            </a:r>
            <a:r>
              <a:rPr lang="tr-TR" sz="2000" dirty="0" smtClean="0"/>
              <a:t> vs.</a:t>
            </a:r>
          </a:p>
          <a:p>
            <a:pPr marL="342900" indent="-342900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3213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Form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Form Özellikleri:</a:t>
            </a:r>
            <a:endParaRPr lang="en-GB" b="1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15</a:t>
            </a:fld>
            <a:endParaRPr lang="tr-TR" altLang="en-US" dirty="0"/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40" y="2093635"/>
            <a:ext cx="8576592" cy="426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594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Form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Form Olayları:</a:t>
            </a:r>
          </a:p>
          <a:p>
            <a:endParaRPr lang="tr-TR" b="1" dirty="0"/>
          </a:p>
          <a:p>
            <a:endParaRPr lang="tr-TR" b="1" dirty="0" smtClean="0"/>
          </a:p>
          <a:p>
            <a:endParaRPr lang="tr-TR" b="1" dirty="0"/>
          </a:p>
          <a:p>
            <a:endParaRPr lang="tr-TR" b="1" dirty="0" smtClean="0"/>
          </a:p>
          <a:p>
            <a:r>
              <a:rPr lang="tr-TR" b="1" dirty="0" smtClean="0"/>
              <a:t>Form Metotları</a:t>
            </a:r>
          </a:p>
          <a:p>
            <a:endParaRPr lang="en-GB" b="1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16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36" y="1988840"/>
            <a:ext cx="6346801" cy="203700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736" y="4528693"/>
            <a:ext cx="6553201" cy="146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286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Form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Form1 _</a:t>
            </a:r>
            <a:r>
              <a:rPr lang="tr-TR" b="1" dirty="0" err="1" smtClean="0"/>
              <a:t>Load</a:t>
            </a:r>
            <a:r>
              <a:rPr lang="tr-TR" b="1" dirty="0" smtClean="0"/>
              <a:t> Olayı: </a:t>
            </a:r>
            <a:r>
              <a:rPr lang="tr-TR" dirty="0"/>
              <a:t>Program çalıştırılınca çalışır. Burada belirtilen görevler ilk çalıştırılır.</a:t>
            </a:r>
            <a:endParaRPr lang="en-GB" dirty="0"/>
          </a:p>
          <a:p>
            <a:endParaRPr lang="tr-TR" b="1" dirty="0" smtClean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17</a:t>
            </a:fld>
            <a:endParaRPr lang="tr-TR" altLang="en-US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44" y="2492896"/>
            <a:ext cx="4217390" cy="3442767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834" y="2460888"/>
            <a:ext cx="3445524" cy="361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0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Form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ControlBox</a:t>
            </a:r>
            <a:r>
              <a:rPr lang="tr-TR" dirty="0" smtClean="0"/>
              <a:t>, </a:t>
            </a:r>
            <a:r>
              <a:rPr lang="tr-TR" dirty="0" err="1" smtClean="0"/>
              <a:t>MinimizeBox</a:t>
            </a:r>
            <a:r>
              <a:rPr lang="tr-TR" dirty="0" smtClean="0"/>
              <a:t>, </a:t>
            </a:r>
            <a:r>
              <a:rPr lang="tr-TR" dirty="0" err="1" smtClean="0"/>
              <a:t>MaximizeBox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18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8" y="3658066"/>
            <a:ext cx="4604766" cy="2808312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324" y="3810655"/>
            <a:ext cx="3962400" cy="240982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2056383"/>
            <a:ext cx="6775475" cy="129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652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Form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788024" y="1524000"/>
            <a:ext cx="4331920" cy="4411663"/>
          </a:xfrm>
        </p:spPr>
        <p:txBody>
          <a:bodyPr/>
          <a:lstStyle/>
          <a:p>
            <a:r>
              <a:rPr lang="tr-TR" dirty="0" err="1" smtClean="0"/>
              <a:t>Width</a:t>
            </a:r>
            <a:endParaRPr lang="tr-TR" dirty="0" smtClean="0"/>
          </a:p>
          <a:p>
            <a:r>
              <a:rPr lang="tr-TR" dirty="0" err="1" smtClean="0"/>
              <a:t>Height</a:t>
            </a:r>
            <a:endParaRPr lang="tr-TR" dirty="0" smtClean="0"/>
          </a:p>
          <a:p>
            <a:r>
              <a:rPr lang="tr-TR" dirty="0" err="1" smtClean="0"/>
              <a:t>Text</a:t>
            </a:r>
            <a:endParaRPr lang="tr-TR" dirty="0" smtClean="0"/>
          </a:p>
          <a:p>
            <a:r>
              <a:rPr lang="tr-TR" dirty="0" err="1" smtClean="0"/>
              <a:t>StartPosition</a:t>
            </a:r>
            <a:r>
              <a:rPr lang="tr-TR" dirty="0" smtClean="0"/>
              <a:t>: 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Manuel, 	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CenterScreen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	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CenterParent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smtClean="0"/>
              <a:t>vs.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19</a:t>
            </a:fld>
            <a:endParaRPr lang="tr-TR" altLang="en-US" dirty="0"/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641296"/>
            <a:ext cx="415290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9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Form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788024" y="1524000"/>
            <a:ext cx="4331920" cy="4411663"/>
          </a:xfrm>
        </p:spPr>
        <p:txBody>
          <a:bodyPr/>
          <a:lstStyle/>
          <a:p>
            <a:r>
              <a:rPr lang="tr-TR" dirty="0" smtClean="0"/>
              <a:t>Font: 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Name, Size, 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Unit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Bold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Italic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smtClean="0"/>
              <a:t>vs.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20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75" y="1607008"/>
            <a:ext cx="41814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89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Form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0771" y="4772592"/>
            <a:ext cx="4331920" cy="1968775"/>
          </a:xfrm>
        </p:spPr>
        <p:txBody>
          <a:bodyPr>
            <a:normAutofit fontScale="92500" lnSpcReduction="10000"/>
          </a:bodyPr>
          <a:lstStyle/>
          <a:p>
            <a:r>
              <a:rPr lang="tr-TR" dirty="0" err="1" smtClean="0"/>
              <a:t>BackgroundImage</a:t>
            </a:r>
            <a:r>
              <a:rPr lang="tr-TR" dirty="0" smtClean="0"/>
              <a:t>, </a:t>
            </a:r>
            <a:r>
              <a:rPr lang="tr-TR" dirty="0" err="1" smtClean="0"/>
              <a:t>BackColor</a:t>
            </a:r>
            <a:r>
              <a:rPr lang="tr-TR" dirty="0" smtClean="0"/>
              <a:t>,</a:t>
            </a:r>
            <a:endParaRPr lang="tr-TR" dirty="0"/>
          </a:p>
          <a:p>
            <a:r>
              <a:rPr lang="tr-TR" dirty="0" err="1" smtClean="0"/>
              <a:t>BackgroundImageLayout</a:t>
            </a:r>
            <a:r>
              <a:rPr lang="tr-TR" dirty="0" smtClean="0"/>
              <a:t>: 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Tile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Center, 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Zoom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Stretch</a:t>
            </a:r>
            <a:r>
              <a:rPr lang="tr-TR" dirty="0" smtClean="0"/>
              <a:t> vs.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21</a:t>
            </a:fld>
            <a:endParaRPr lang="tr-TR" alt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1" y="1700808"/>
            <a:ext cx="4815083" cy="2928169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854" y="1700808"/>
            <a:ext cx="412432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Form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95536" y="1607009"/>
            <a:ext cx="7704856" cy="3910224"/>
          </a:xfrm>
        </p:spPr>
        <p:txBody>
          <a:bodyPr>
            <a:normAutofit/>
          </a:bodyPr>
          <a:lstStyle/>
          <a:p>
            <a:r>
              <a:rPr lang="tr-TR" b="1" dirty="0" smtClean="0"/>
              <a:t>Form</a:t>
            </a:r>
            <a:r>
              <a:rPr lang="tr-TR" dirty="0" smtClean="0"/>
              <a:t> nesnesinin </a:t>
            </a:r>
            <a:r>
              <a:rPr lang="tr-TR" dirty="0" err="1"/>
              <a:t>I</a:t>
            </a:r>
            <a:r>
              <a:rPr lang="tr-TR" dirty="0" err="1" smtClean="0"/>
              <a:t>con</a:t>
            </a:r>
            <a:r>
              <a:rPr lang="tr-TR" dirty="0" smtClean="0"/>
              <a:t>, </a:t>
            </a:r>
            <a:r>
              <a:rPr lang="tr-TR" dirty="0" err="1" smtClean="0"/>
              <a:t>Oppacity</a:t>
            </a:r>
            <a:r>
              <a:rPr lang="tr-TR" dirty="0" smtClean="0"/>
              <a:t> </a:t>
            </a:r>
            <a:r>
              <a:rPr lang="tr-TR" dirty="0" err="1" smtClean="0"/>
              <a:t>vs</a:t>
            </a:r>
            <a:r>
              <a:rPr lang="tr-TR" dirty="0" smtClean="0"/>
              <a:t> </a:t>
            </a:r>
            <a:r>
              <a:rPr lang="tr-TR" dirty="0" err="1" smtClean="0"/>
              <a:t>property’leri</a:t>
            </a:r>
            <a:endParaRPr lang="tr-TR" dirty="0" smtClean="0"/>
          </a:p>
          <a:p>
            <a:r>
              <a:rPr lang="tr-TR" dirty="0"/>
              <a:t>v</a:t>
            </a:r>
            <a:r>
              <a:rPr lang="tr-TR" dirty="0" smtClean="0"/>
              <a:t>e </a:t>
            </a:r>
            <a:r>
              <a:rPr lang="tr-TR" dirty="0" err="1" smtClean="0"/>
              <a:t>Leave</a:t>
            </a:r>
            <a:r>
              <a:rPr lang="tr-TR" dirty="0" smtClean="0"/>
              <a:t>, </a:t>
            </a:r>
            <a:r>
              <a:rPr lang="tr-TR" dirty="0" err="1" smtClean="0"/>
              <a:t>Click</a:t>
            </a:r>
            <a:r>
              <a:rPr lang="tr-TR" dirty="0" smtClean="0"/>
              <a:t>, </a:t>
            </a:r>
            <a:r>
              <a:rPr lang="tr-TR" dirty="0" err="1" smtClean="0"/>
              <a:t>MouseClick</a:t>
            </a:r>
            <a:r>
              <a:rPr lang="tr-TR" dirty="0" smtClean="0"/>
              <a:t>, </a:t>
            </a:r>
            <a:r>
              <a:rPr lang="tr-TR" dirty="0" err="1" smtClean="0"/>
              <a:t>MouseDoubleClick</a:t>
            </a:r>
            <a:r>
              <a:rPr lang="tr-TR" dirty="0" smtClean="0"/>
              <a:t> </a:t>
            </a:r>
            <a:r>
              <a:rPr lang="tr-TR" dirty="0" err="1" smtClean="0"/>
              <a:t>vs</a:t>
            </a:r>
            <a:r>
              <a:rPr lang="tr-TR" dirty="0" smtClean="0"/>
              <a:t> olayları vardır.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22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985749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</a:t>
            </a:r>
            <a:r>
              <a:rPr lang="tr-TR" dirty="0" err="1" smtClean="0"/>
              <a:t>Label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5" y="4081582"/>
            <a:ext cx="4172294" cy="2518198"/>
          </a:xfrm>
        </p:spPr>
        <p:txBody>
          <a:bodyPr>
            <a:normAutofit/>
          </a:bodyPr>
          <a:lstStyle/>
          <a:p>
            <a:r>
              <a:rPr lang="tr-TR" dirty="0" smtClean="0"/>
              <a:t>Name, </a:t>
            </a:r>
            <a:r>
              <a:rPr lang="tr-TR" dirty="0" err="1" smtClean="0"/>
              <a:t>Text</a:t>
            </a:r>
            <a:r>
              <a:rPr lang="tr-TR" dirty="0" smtClean="0"/>
              <a:t>, Font, </a:t>
            </a:r>
            <a:r>
              <a:rPr lang="tr-TR" dirty="0" err="1" smtClean="0"/>
              <a:t>ForeColor</a:t>
            </a:r>
            <a:r>
              <a:rPr lang="tr-TR" dirty="0" smtClean="0"/>
              <a:t>, Size, </a:t>
            </a:r>
            <a:r>
              <a:rPr lang="tr-TR" dirty="0" err="1" smtClean="0"/>
              <a:t>Bold</a:t>
            </a:r>
            <a:r>
              <a:rPr lang="tr-TR" dirty="0" smtClean="0"/>
              <a:t>, </a:t>
            </a:r>
            <a:r>
              <a:rPr lang="tr-TR" dirty="0" err="1" smtClean="0"/>
              <a:t>Italic</a:t>
            </a:r>
            <a:r>
              <a:rPr lang="tr-TR" dirty="0" smtClean="0"/>
              <a:t> </a:t>
            </a:r>
            <a:r>
              <a:rPr lang="tr-TR" dirty="0" err="1" smtClean="0"/>
              <a:t>vs</a:t>
            </a:r>
            <a:r>
              <a:rPr lang="tr-TR" dirty="0" smtClean="0"/>
              <a:t> çok sayıda </a:t>
            </a:r>
            <a:r>
              <a:rPr lang="tr-TR" dirty="0" err="1" smtClean="0"/>
              <a:t>propoerty’si</a:t>
            </a:r>
            <a:r>
              <a:rPr lang="tr-TR" dirty="0" smtClean="0"/>
              <a:t> vardır.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23</a:t>
            </a:fld>
            <a:endParaRPr lang="tr-TR" altLang="en-US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1" y="1607008"/>
            <a:ext cx="4230642" cy="2470064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096" y="1607008"/>
            <a:ext cx="41910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2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</a:t>
            </a:r>
            <a:r>
              <a:rPr lang="tr-TR" dirty="0" err="1" smtClean="0"/>
              <a:t>TextBox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5" y="4081582"/>
            <a:ext cx="4172294" cy="2518198"/>
          </a:xfrm>
        </p:spPr>
        <p:txBody>
          <a:bodyPr>
            <a:normAutofit/>
          </a:bodyPr>
          <a:lstStyle/>
          <a:p>
            <a:r>
              <a:rPr lang="tr-TR" dirty="0" err="1" smtClean="0"/>
              <a:t>Text</a:t>
            </a:r>
            <a:r>
              <a:rPr lang="tr-TR" dirty="0" smtClean="0"/>
              <a:t>, </a:t>
            </a:r>
            <a:r>
              <a:rPr lang="tr-TR" dirty="0" err="1" smtClean="0"/>
              <a:t>TextAlign</a:t>
            </a:r>
            <a:r>
              <a:rPr lang="tr-TR" dirty="0" smtClean="0"/>
              <a:t>, Size, Font, </a:t>
            </a:r>
            <a:r>
              <a:rPr lang="tr-TR" dirty="0" err="1" smtClean="0"/>
              <a:t>BackColor</a:t>
            </a:r>
            <a:r>
              <a:rPr lang="tr-TR" dirty="0" smtClean="0"/>
              <a:t> vs.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24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46" y="1607008"/>
            <a:ext cx="3907352" cy="257383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629" y="1607008"/>
            <a:ext cx="4181475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5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</a:t>
            </a:r>
            <a:r>
              <a:rPr lang="tr-TR" dirty="0" err="1" smtClean="0"/>
              <a:t>TextBox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4" y="1607008"/>
            <a:ext cx="7667025" cy="4992772"/>
          </a:xfrm>
        </p:spPr>
        <p:txBody>
          <a:bodyPr>
            <a:normAutofit lnSpcReduction="10000"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Olayları:</a:t>
            </a:r>
          </a:p>
          <a:p>
            <a:r>
              <a:rPr lang="tr-TR" dirty="0" err="1" smtClean="0"/>
              <a:t>KeyDown</a:t>
            </a:r>
            <a:r>
              <a:rPr lang="tr-TR" dirty="0" smtClean="0"/>
              <a:t>: </a:t>
            </a:r>
            <a:r>
              <a:rPr lang="tr-TR" dirty="0"/>
              <a:t>Bir tuşa basıldığında</a:t>
            </a:r>
            <a:endParaRPr lang="tr-TR" dirty="0" smtClean="0"/>
          </a:p>
          <a:p>
            <a:r>
              <a:rPr lang="tr-TR" dirty="0" err="1" smtClean="0"/>
              <a:t>KeyUp</a:t>
            </a:r>
            <a:r>
              <a:rPr lang="tr-TR" dirty="0" smtClean="0"/>
              <a:t>: </a:t>
            </a:r>
            <a:r>
              <a:rPr lang="tr-TR" dirty="0" err="1"/>
              <a:t>KeyPress</a:t>
            </a:r>
            <a:r>
              <a:rPr lang="tr-TR" dirty="0"/>
              <a:t>: Tuşa basma ve tuştan parmağını çekene kadar olan bölümde olan </a:t>
            </a:r>
            <a:r>
              <a:rPr lang="tr-TR" dirty="0" smtClean="0"/>
              <a:t>olay</a:t>
            </a:r>
          </a:p>
          <a:p>
            <a:r>
              <a:rPr lang="tr-TR" dirty="0" err="1" smtClean="0"/>
              <a:t>Enter</a:t>
            </a:r>
            <a:r>
              <a:rPr lang="tr-TR" dirty="0" smtClean="0"/>
              <a:t>: </a:t>
            </a:r>
            <a:r>
              <a:rPr lang="tr-TR" dirty="0" err="1" smtClean="0"/>
              <a:t>TextBox’a</a:t>
            </a:r>
            <a:r>
              <a:rPr lang="tr-TR" dirty="0" smtClean="0"/>
              <a:t> girme olayı</a:t>
            </a:r>
          </a:p>
          <a:p>
            <a:r>
              <a:rPr lang="tr-TR" dirty="0" err="1" smtClean="0"/>
              <a:t>Leave</a:t>
            </a:r>
            <a:r>
              <a:rPr lang="tr-TR" dirty="0" smtClean="0"/>
              <a:t>: </a:t>
            </a:r>
            <a:r>
              <a:rPr lang="tr-TR" dirty="0" err="1" smtClean="0"/>
              <a:t>TextBox’tan</a:t>
            </a:r>
            <a:r>
              <a:rPr lang="tr-TR" dirty="0" smtClean="0"/>
              <a:t> ayrılm</a:t>
            </a:r>
            <a:r>
              <a:rPr lang="tr-TR" dirty="0" smtClean="0"/>
              <a:t>a anı</a:t>
            </a:r>
          </a:p>
          <a:p>
            <a:r>
              <a:rPr lang="tr-TR" dirty="0" err="1" smtClean="0"/>
              <a:t>TextChanged:TextBox’teki</a:t>
            </a:r>
            <a:r>
              <a:rPr lang="tr-TR" dirty="0" smtClean="0"/>
              <a:t> metin değiştiğinde olan olay</a:t>
            </a:r>
          </a:p>
          <a:p>
            <a:r>
              <a:rPr lang="tr-TR" dirty="0" smtClean="0"/>
              <a:t>*</a:t>
            </a:r>
            <a:r>
              <a:rPr lang="tr-TR" dirty="0" err="1" smtClean="0"/>
              <a:t>PasswordChar</a:t>
            </a:r>
            <a:r>
              <a:rPr lang="tr-TR" dirty="0" smtClean="0"/>
              <a:t> </a:t>
            </a:r>
            <a:r>
              <a:rPr lang="tr-TR" dirty="0" err="1" smtClean="0"/>
              <a:t>Özelliği:Metin</a:t>
            </a:r>
            <a:r>
              <a:rPr lang="tr-TR" dirty="0" smtClean="0"/>
              <a:t> kutusuna girilen karakterleri belirtilen karakter ile gizler.</a:t>
            </a:r>
            <a:endParaRPr lang="tr-TR" dirty="0" smtClean="0"/>
          </a:p>
          <a:p>
            <a:r>
              <a:rPr lang="tr-TR" dirty="0" smtClean="0"/>
              <a:t>Vs.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25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235793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</a:t>
            </a:r>
            <a:r>
              <a:rPr lang="tr-TR" dirty="0" err="1" smtClean="0"/>
              <a:t>TextBox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4" y="1607008"/>
            <a:ext cx="7667025" cy="4992772"/>
          </a:xfrm>
        </p:spPr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Metotları:</a:t>
            </a:r>
          </a:p>
          <a:p>
            <a:r>
              <a:rPr lang="tr-TR" dirty="0" err="1" smtClean="0"/>
              <a:t>Cut</a:t>
            </a:r>
            <a:r>
              <a:rPr lang="tr-TR" dirty="0" smtClean="0"/>
              <a:t>: </a:t>
            </a:r>
            <a:r>
              <a:rPr lang="tr-TR" dirty="0" err="1" smtClean="0"/>
              <a:t>Seçlien</a:t>
            </a:r>
            <a:r>
              <a:rPr lang="tr-TR" dirty="0" smtClean="0"/>
              <a:t> karakterleri siler ama hafızada tutar.</a:t>
            </a:r>
          </a:p>
          <a:p>
            <a:r>
              <a:rPr lang="tr-TR" dirty="0" err="1" smtClean="0"/>
              <a:t>Copy</a:t>
            </a:r>
            <a:r>
              <a:rPr lang="tr-TR" dirty="0" smtClean="0"/>
              <a:t>: Seçilen karakterleri kopyalar</a:t>
            </a:r>
          </a:p>
          <a:p>
            <a:r>
              <a:rPr lang="tr-TR" dirty="0" err="1" smtClean="0"/>
              <a:t>Paste</a:t>
            </a:r>
            <a:r>
              <a:rPr lang="tr-TR" dirty="0" smtClean="0"/>
              <a:t>: Hafızaya alınmış olan karakterleri metin kutusuna yapıştırır</a:t>
            </a:r>
          </a:p>
          <a:p>
            <a:r>
              <a:rPr lang="tr-TR" dirty="0" err="1" smtClean="0"/>
              <a:t>Clear</a:t>
            </a:r>
            <a:r>
              <a:rPr lang="tr-TR" dirty="0" smtClean="0"/>
              <a:t>: Metin kutusundaki karakterleri siler</a:t>
            </a:r>
          </a:p>
          <a:p>
            <a:r>
              <a:rPr lang="tr-TR" dirty="0" err="1" smtClean="0"/>
              <a:t>SelectAll</a:t>
            </a:r>
            <a:r>
              <a:rPr lang="tr-TR" dirty="0" smtClean="0"/>
              <a:t>: Metin kutusundaki tüm karakterleri seçer.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26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600414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</a:t>
            </a:r>
            <a:r>
              <a:rPr lang="tr-TR" dirty="0" err="1" smtClean="0"/>
              <a:t>Button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5" y="4081582"/>
            <a:ext cx="4172294" cy="2518198"/>
          </a:xfrm>
        </p:spPr>
        <p:txBody>
          <a:bodyPr>
            <a:normAutofit/>
          </a:bodyPr>
          <a:lstStyle/>
          <a:p>
            <a:r>
              <a:rPr lang="tr-TR" dirty="0" err="1" smtClean="0"/>
              <a:t>Text</a:t>
            </a:r>
            <a:r>
              <a:rPr lang="tr-TR" dirty="0" smtClean="0"/>
              <a:t>,, Size, Font, </a:t>
            </a:r>
            <a:r>
              <a:rPr lang="tr-TR" dirty="0" err="1" smtClean="0"/>
              <a:t>ForeColor</a:t>
            </a:r>
            <a:r>
              <a:rPr lang="tr-TR" dirty="0" smtClean="0"/>
              <a:t> vs. </a:t>
            </a:r>
            <a:r>
              <a:rPr lang="tr-TR" dirty="0" err="1" smtClean="0"/>
              <a:t>property’leri</a:t>
            </a:r>
            <a:r>
              <a:rPr lang="tr-TR" dirty="0" smtClean="0"/>
              <a:t> var.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27</a:t>
            </a:fld>
            <a:endParaRPr lang="tr-TR" altLang="en-US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48" y="1516758"/>
            <a:ext cx="4038778" cy="2645842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568" y="1522856"/>
            <a:ext cx="4162425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3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</a:t>
            </a:r>
            <a:r>
              <a:rPr lang="tr-TR" dirty="0" err="1" smtClean="0"/>
              <a:t>Button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4" y="1607008"/>
            <a:ext cx="7667025" cy="4992772"/>
          </a:xfrm>
        </p:spPr>
        <p:txBody>
          <a:bodyPr>
            <a:normAutofit/>
          </a:bodyPr>
          <a:lstStyle/>
          <a:p>
            <a:r>
              <a:rPr lang="tr-TR" dirty="0" err="1" smtClean="0"/>
              <a:t>Enable</a:t>
            </a:r>
            <a:r>
              <a:rPr lang="tr-TR" dirty="0" smtClean="0"/>
              <a:t> ve </a:t>
            </a:r>
            <a:r>
              <a:rPr lang="tr-TR" dirty="0" err="1" smtClean="0"/>
              <a:t>Visible</a:t>
            </a:r>
            <a:r>
              <a:rPr lang="tr-TR" dirty="0" smtClean="0"/>
              <a:t>: Butonun aktif veya pasif olmasını sağlar</a:t>
            </a:r>
          </a:p>
          <a:p>
            <a:r>
              <a:rPr lang="tr-TR" dirty="0" err="1" smtClean="0"/>
              <a:t>FlatStyle</a:t>
            </a:r>
            <a:r>
              <a:rPr lang="tr-TR" dirty="0" smtClean="0"/>
              <a:t> Özelliği: </a:t>
            </a:r>
            <a:r>
              <a:rPr lang="tr-TR" dirty="0" err="1" smtClean="0"/>
              <a:t>Popup</a:t>
            </a:r>
            <a:r>
              <a:rPr lang="tr-TR" dirty="0" smtClean="0"/>
              <a:t>, </a:t>
            </a:r>
            <a:r>
              <a:rPr lang="tr-TR" dirty="0" err="1" smtClean="0"/>
              <a:t>Standars</a:t>
            </a:r>
            <a:r>
              <a:rPr lang="tr-TR" dirty="0" smtClean="0"/>
              <a:t>, </a:t>
            </a:r>
            <a:r>
              <a:rPr lang="tr-TR" dirty="0" err="1" smtClean="0"/>
              <a:t>System</a:t>
            </a:r>
            <a:r>
              <a:rPr lang="tr-TR" dirty="0" smtClean="0"/>
              <a:t> ve </a:t>
            </a:r>
            <a:r>
              <a:rPr lang="tr-TR" dirty="0" err="1" smtClean="0"/>
              <a:t>Flat</a:t>
            </a:r>
            <a:r>
              <a:rPr lang="tr-TR" dirty="0" smtClean="0"/>
              <a:t> gibi seçenekleri vardır. Görünüm şeklini değiştirir.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28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3850048"/>
            <a:ext cx="6818549" cy="265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16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</a:t>
            </a:r>
            <a:r>
              <a:rPr lang="tr-TR" dirty="0" err="1" smtClean="0"/>
              <a:t>Button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4" y="1607008"/>
            <a:ext cx="7667025" cy="4992772"/>
          </a:xfrm>
        </p:spPr>
        <p:txBody>
          <a:bodyPr>
            <a:normAutofit/>
          </a:bodyPr>
          <a:lstStyle/>
          <a:p>
            <a:r>
              <a:rPr lang="tr-T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Olaylar:</a:t>
            </a:r>
          </a:p>
          <a:p>
            <a:r>
              <a:rPr lang="tr-TR" dirty="0" err="1" smtClean="0"/>
              <a:t>Click</a:t>
            </a:r>
            <a:r>
              <a:rPr lang="tr-TR" dirty="0" smtClean="0"/>
              <a:t> Olayı, </a:t>
            </a:r>
            <a:r>
              <a:rPr lang="tr-TR" dirty="0" err="1" smtClean="0"/>
              <a:t>MouseClick</a:t>
            </a:r>
            <a:r>
              <a:rPr lang="tr-TR" dirty="0" smtClean="0"/>
              <a:t>, </a:t>
            </a:r>
            <a:r>
              <a:rPr lang="tr-TR" dirty="0" err="1" smtClean="0"/>
              <a:t>MouseDown</a:t>
            </a:r>
            <a:r>
              <a:rPr lang="tr-TR" dirty="0" smtClean="0"/>
              <a:t>, </a:t>
            </a:r>
            <a:r>
              <a:rPr lang="tr-TR" dirty="0" err="1" smtClean="0"/>
              <a:t>MouseUp</a:t>
            </a:r>
            <a:r>
              <a:rPr lang="tr-TR" dirty="0" smtClean="0"/>
              <a:t>, </a:t>
            </a:r>
            <a:r>
              <a:rPr lang="tr-TR" dirty="0" err="1" smtClean="0"/>
              <a:t>MouseEnter</a:t>
            </a:r>
            <a:r>
              <a:rPr lang="tr-TR" dirty="0" smtClean="0"/>
              <a:t>, </a:t>
            </a:r>
            <a:r>
              <a:rPr lang="tr-TR" dirty="0" err="1" smtClean="0"/>
              <a:t>MouseLeave</a:t>
            </a:r>
            <a:r>
              <a:rPr lang="tr-TR" dirty="0" smtClean="0"/>
              <a:t> vs.</a:t>
            </a:r>
          </a:p>
          <a:p>
            <a:endParaRPr lang="tr-TR" dirty="0"/>
          </a:p>
          <a:p>
            <a:r>
              <a:rPr lang="tr-T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Metot:</a:t>
            </a:r>
          </a:p>
          <a:p>
            <a:r>
              <a:rPr lang="tr-TR" dirty="0" err="1" smtClean="0"/>
              <a:t>PerformClick</a:t>
            </a:r>
            <a:r>
              <a:rPr lang="tr-TR" dirty="0" smtClean="0"/>
              <a:t>() metodu: Dinamik bir şekilde butona tıklanmış gibi yapmayı sağlar.</a:t>
            </a:r>
          </a:p>
          <a:p>
            <a:r>
              <a:rPr lang="tr-TR" dirty="0"/>
              <a:t>	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button1.PerformClick();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29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963003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</a:t>
            </a:r>
            <a:r>
              <a:rPr lang="tr-TR" dirty="0" err="1" smtClean="0"/>
              <a:t>RichTextBox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4" y="1607008"/>
            <a:ext cx="7667025" cy="4992772"/>
          </a:xfrm>
        </p:spPr>
        <p:txBody>
          <a:bodyPr>
            <a:normAutofit/>
          </a:bodyPr>
          <a:lstStyle/>
          <a:p>
            <a:r>
              <a:rPr lang="tr-TR" dirty="0" err="1" smtClean="0"/>
              <a:t>TextBox’ın</a:t>
            </a:r>
            <a:r>
              <a:rPr lang="tr-TR" dirty="0" smtClean="0"/>
              <a:t> çok </a:t>
            </a:r>
            <a:r>
              <a:rPr lang="tr-TR" dirty="0" err="1" smtClean="0"/>
              <a:t>saturlı</a:t>
            </a:r>
            <a:r>
              <a:rPr lang="tr-TR" dirty="0" smtClean="0"/>
              <a:t> halidir. Kullanım şekli </a:t>
            </a:r>
            <a:r>
              <a:rPr lang="tr-TR" dirty="0" err="1" smtClean="0"/>
              <a:t>TextBox’a</a:t>
            </a:r>
            <a:r>
              <a:rPr lang="tr-TR" dirty="0" smtClean="0"/>
              <a:t> benzer.</a:t>
            </a:r>
          </a:p>
          <a:p>
            <a:r>
              <a:rPr lang="tr-TR" dirty="0"/>
              <a:t>	</a:t>
            </a:r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30</a:t>
            </a:fld>
            <a:endParaRPr lang="tr-TR" alt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373" y="2636912"/>
            <a:ext cx="51911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79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79512" y="228600"/>
            <a:ext cx="7745288" cy="1295400"/>
          </a:xfrm>
        </p:spPr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</a:t>
            </a:r>
            <a:r>
              <a:rPr lang="tr-TR" dirty="0" err="1" smtClean="0"/>
              <a:t>MaskedTextBox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4" y="1607008"/>
            <a:ext cx="7667025" cy="4992772"/>
          </a:xfrm>
        </p:spPr>
        <p:txBody>
          <a:bodyPr>
            <a:normAutofit/>
          </a:bodyPr>
          <a:lstStyle/>
          <a:p>
            <a:r>
              <a:rPr lang="tr-TR" dirty="0" smtClean="0"/>
              <a:t>Maskelenmiş </a:t>
            </a:r>
            <a:r>
              <a:rPr lang="tr-TR" dirty="0" err="1" smtClean="0"/>
              <a:t>TextBox’tır</a:t>
            </a:r>
            <a:r>
              <a:rPr lang="tr-TR" dirty="0" smtClean="0"/>
              <a:t>. Telefon numarası gibi kullanıcının girdiği veriyi belli formatta almak için kullanılır.</a:t>
            </a:r>
          </a:p>
          <a:p>
            <a:r>
              <a:rPr lang="tr-TR" dirty="0"/>
              <a:t>	</a:t>
            </a:r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31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34" y="2851306"/>
            <a:ext cx="8235137" cy="386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2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79512" y="228600"/>
            <a:ext cx="7745288" cy="1295400"/>
          </a:xfrm>
        </p:spPr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</a:t>
            </a:r>
            <a:r>
              <a:rPr lang="tr-TR" dirty="0" err="1" smtClean="0"/>
              <a:t>CheckBox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4" y="1607008"/>
            <a:ext cx="7667025" cy="4992772"/>
          </a:xfrm>
        </p:spPr>
        <p:txBody>
          <a:bodyPr>
            <a:normAutofit/>
          </a:bodyPr>
          <a:lstStyle/>
          <a:p>
            <a:r>
              <a:rPr lang="tr-TR" dirty="0" smtClean="0"/>
              <a:t>Kullanıcıya birden çok seçenek seçme şansı tanır. </a:t>
            </a:r>
            <a:r>
              <a:rPr lang="tr-TR" dirty="0" err="1" smtClean="0"/>
              <a:t>Checked</a:t>
            </a:r>
            <a:r>
              <a:rPr lang="tr-TR" dirty="0" smtClean="0"/>
              <a:t> özelliği seçilip seçilmediğini gösterir. </a:t>
            </a:r>
            <a:r>
              <a:rPr lang="tr-TR" dirty="0" err="1" smtClean="0"/>
              <a:t>CheckChanged</a:t>
            </a:r>
            <a:r>
              <a:rPr lang="tr-TR" dirty="0" smtClean="0"/>
              <a:t> seçme kutusunun durumu değişince gerçekleşen olaydır.</a:t>
            </a:r>
          </a:p>
          <a:p>
            <a:r>
              <a:rPr lang="tr-TR" dirty="0"/>
              <a:t>	</a:t>
            </a:r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32</a:t>
            </a:fld>
            <a:endParaRPr lang="tr-TR" altLang="en-US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520" y="3341438"/>
            <a:ext cx="5473998" cy="316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630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79512" y="228600"/>
            <a:ext cx="7745288" cy="1295400"/>
          </a:xfrm>
        </p:spPr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</a:t>
            </a:r>
            <a:r>
              <a:rPr lang="tr-TR" dirty="0" err="1" smtClean="0"/>
              <a:t>RadioButton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4" y="1607008"/>
            <a:ext cx="7667025" cy="4992772"/>
          </a:xfrm>
        </p:spPr>
        <p:txBody>
          <a:bodyPr>
            <a:normAutofit/>
          </a:bodyPr>
          <a:lstStyle/>
          <a:p>
            <a:r>
              <a:rPr lang="tr-TR" dirty="0" err="1" smtClean="0"/>
              <a:t>CheckBox’tan</a:t>
            </a:r>
            <a:r>
              <a:rPr lang="tr-TR" dirty="0" smtClean="0"/>
              <a:t> farklı olarak çoklu seçeneklerden sadece bir tanesinin seçilmesini sağlar.</a:t>
            </a:r>
          </a:p>
          <a:p>
            <a:r>
              <a:rPr lang="tr-TR" dirty="0"/>
              <a:t>	</a:t>
            </a:r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33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672543"/>
            <a:ext cx="6120680" cy="391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330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79512" y="228600"/>
            <a:ext cx="7745288" cy="1295400"/>
          </a:xfrm>
        </p:spPr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</a:t>
            </a:r>
            <a:r>
              <a:rPr lang="tr-TR" dirty="0" err="1" smtClean="0"/>
              <a:t>ListBox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4" y="1607008"/>
            <a:ext cx="7698602" cy="4992772"/>
          </a:xfrm>
        </p:spPr>
        <p:txBody>
          <a:bodyPr>
            <a:normAutofit/>
          </a:bodyPr>
          <a:lstStyle/>
          <a:p>
            <a:r>
              <a:rPr lang="tr-TR" dirty="0" smtClean="0"/>
              <a:t>Seçeneklerin bir liste halinde görünmesini sağlar.</a:t>
            </a:r>
          </a:p>
          <a:p>
            <a:r>
              <a:rPr lang="tr-TR" dirty="0"/>
              <a:t>	</a:t>
            </a:r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34</a:t>
            </a:fld>
            <a:endParaRPr lang="tr-TR" alt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" y="2405134"/>
            <a:ext cx="7095882" cy="410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30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79512" y="228600"/>
            <a:ext cx="7745288" cy="1295400"/>
          </a:xfrm>
        </p:spPr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</a:t>
            </a:r>
            <a:r>
              <a:rPr lang="tr-TR" dirty="0" err="1" smtClean="0"/>
              <a:t>ListBox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4" y="1607008"/>
            <a:ext cx="7698602" cy="4992772"/>
          </a:xfrm>
        </p:spPr>
        <p:txBody>
          <a:bodyPr>
            <a:normAutofit/>
          </a:bodyPr>
          <a:lstStyle/>
          <a:p>
            <a:r>
              <a:rPr lang="tr-TR" dirty="0" err="1" smtClean="0"/>
              <a:t>Insert</a:t>
            </a:r>
            <a:r>
              <a:rPr lang="tr-TR" dirty="0" smtClean="0"/>
              <a:t> Olayı: listeye yeni bir eleman eklemeyi sağlar.</a:t>
            </a:r>
          </a:p>
          <a:p>
            <a:r>
              <a:rPr lang="tr-T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listBox1.Items.Insert(7,’’Antalya’’);</a:t>
            </a:r>
          </a:p>
          <a:p>
            <a:r>
              <a:rPr lang="tr-TR" dirty="0" err="1" smtClean="0"/>
              <a:t>Remove</a:t>
            </a:r>
            <a:r>
              <a:rPr lang="tr-TR" dirty="0" smtClean="0"/>
              <a:t> Olayı: Listeden eleman siler.</a:t>
            </a:r>
          </a:p>
          <a:p>
            <a:r>
              <a:rPr lang="tr-T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listBox1.Items.Remove(’Diğer’’);</a:t>
            </a:r>
            <a:endParaRPr lang="tr-TR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 smtClean="0"/>
          </a:p>
          <a:p>
            <a:r>
              <a:rPr lang="tr-TR" dirty="0" smtClean="0"/>
              <a:t>Bunların dışında; </a:t>
            </a:r>
            <a:r>
              <a:rPr lang="tr-TR" dirty="0" err="1" smtClean="0"/>
              <a:t>Clear</a:t>
            </a:r>
            <a:r>
              <a:rPr lang="tr-TR" dirty="0" smtClean="0"/>
              <a:t>, </a:t>
            </a:r>
            <a:r>
              <a:rPr lang="tr-TR" dirty="0" err="1" smtClean="0"/>
              <a:t>Contains</a:t>
            </a:r>
            <a:r>
              <a:rPr lang="tr-TR" dirty="0" smtClean="0"/>
              <a:t>, </a:t>
            </a:r>
            <a:r>
              <a:rPr lang="tr-TR" dirty="0" err="1" smtClean="0"/>
              <a:t>CopyTo</a:t>
            </a:r>
            <a:r>
              <a:rPr lang="tr-TR" dirty="0" smtClean="0"/>
              <a:t> vs. gibi metotları vardır.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35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15204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79512" y="228600"/>
            <a:ext cx="7745288" cy="1295400"/>
          </a:xfrm>
        </p:spPr>
        <p:txBody>
          <a:bodyPr/>
          <a:lstStyle/>
          <a:p>
            <a:r>
              <a:rPr lang="tr-TR" dirty="0" smtClean="0"/>
              <a:t>Örnek Form Uygulaması: Kullanıcı Formu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4" y="1607008"/>
            <a:ext cx="7698602" cy="4992772"/>
          </a:xfrm>
        </p:spPr>
        <p:txBody>
          <a:bodyPr>
            <a:normAutofit/>
          </a:bodyPr>
          <a:lstStyle/>
          <a:p>
            <a:r>
              <a:rPr lang="tr-TR" dirty="0"/>
              <a:t>	</a:t>
            </a:r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36</a:t>
            </a:fld>
            <a:endParaRPr lang="tr-TR" altLang="en-US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49" y="1701490"/>
            <a:ext cx="7606651" cy="489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17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79512" y="228600"/>
            <a:ext cx="7745288" cy="1295400"/>
          </a:xfrm>
        </p:spPr>
        <p:txBody>
          <a:bodyPr/>
          <a:lstStyle/>
          <a:p>
            <a:r>
              <a:rPr lang="tr-TR" dirty="0" smtClean="0"/>
              <a:t>Örnek Form Uygulaması: Kullanıcı Formu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4" y="1607008"/>
            <a:ext cx="8274666" cy="4992772"/>
          </a:xfrm>
        </p:spPr>
        <p:txBody>
          <a:bodyPr>
            <a:normAutofit/>
          </a:bodyPr>
          <a:lstStyle/>
          <a:p>
            <a:r>
              <a:rPr lang="tr-T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Şifreyi Gizleme</a:t>
            </a:r>
            <a:r>
              <a:rPr lang="tr-TR" dirty="0" smtClean="0"/>
              <a:t>:</a:t>
            </a:r>
            <a:endParaRPr lang="tr-TR" dirty="0" smtClean="0"/>
          </a:p>
          <a:p>
            <a:endParaRPr lang="tr-TR" dirty="0" smtClean="0"/>
          </a:p>
          <a:p>
            <a:r>
              <a:rPr lang="en-GB" sz="2000" dirty="0"/>
              <a:t>private void textBox2_</a:t>
            </a:r>
            <a:r>
              <a:rPr lang="en-GB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KeyDown</a:t>
            </a:r>
            <a:r>
              <a:rPr lang="en-GB" sz="2000" dirty="0"/>
              <a:t>(object sender, </a:t>
            </a:r>
            <a:r>
              <a:rPr lang="en-GB" sz="2000" dirty="0" err="1"/>
              <a:t>KeyEventArgs</a:t>
            </a:r>
            <a:r>
              <a:rPr lang="en-GB" sz="2000" dirty="0"/>
              <a:t> e)</a:t>
            </a:r>
          </a:p>
          <a:p>
            <a:r>
              <a:rPr lang="en-GB" sz="2000" dirty="0"/>
              <a:t>        {</a:t>
            </a:r>
          </a:p>
          <a:p>
            <a:r>
              <a:rPr lang="en-GB" sz="2000" dirty="0"/>
              <a:t>            textBox2.PasswordChar = '*';</a:t>
            </a:r>
          </a:p>
          <a:p>
            <a:r>
              <a:rPr lang="en-GB" sz="2000" dirty="0"/>
              <a:t>        }</a:t>
            </a:r>
            <a:endParaRPr lang="tr-TR" sz="2000" dirty="0" smtClean="0"/>
          </a:p>
          <a:p>
            <a:endParaRPr lang="tr-TR" dirty="0" smtClean="0"/>
          </a:p>
          <a:p>
            <a:endParaRPr lang="tr-TR" dirty="0" smtClean="0"/>
          </a:p>
          <a:p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37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80248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79512" y="228600"/>
            <a:ext cx="7745288" cy="1295400"/>
          </a:xfrm>
        </p:spPr>
        <p:txBody>
          <a:bodyPr/>
          <a:lstStyle/>
          <a:p>
            <a:r>
              <a:rPr lang="tr-TR" dirty="0" smtClean="0"/>
              <a:t>Örnek Form Uygulaması: Kullanıcı Formu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4" y="1607008"/>
            <a:ext cx="8274666" cy="4992772"/>
          </a:xfrm>
        </p:spPr>
        <p:txBody>
          <a:bodyPr>
            <a:normAutofit fontScale="77500" lnSpcReduction="20000"/>
          </a:bodyPr>
          <a:lstStyle/>
          <a:p>
            <a:r>
              <a:rPr lang="tr-T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Formu Temizleme</a:t>
            </a:r>
            <a:r>
              <a:rPr lang="tr-TR" dirty="0" smtClean="0"/>
              <a:t>:</a:t>
            </a:r>
            <a:endParaRPr lang="tr-TR" dirty="0" smtClean="0"/>
          </a:p>
          <a:p>
            <a:r>
              <a:rPr lang="en-GB" dirty="0"/>
              <a:t> private void </a:t>
            </a:r>
            <a:r>
              <a:rPr lang="en-GB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button1_Click</a:t>
            </a:r>
            <a:r>
              <a:rPr lang="en-GB" dirty="0"/>
              <a:t>(object sender, </a:t>
            </a:r>
            <a:r>
              <a:rPr lang="en-GB" dirty="0" err="1"/>
              <a:t>EventArgs</a:t>
            </a:r>
            <a:r>
              <a:rPr lang="en-GB" dirty="0"/>
              <a:t> e)</a:t>
            </a:r>
          </a:p>
          <a:p>
            <a:r>
              <a:rPr lang="en-GB" dirty="0"/>
              <a:t>        {</a:t>
            </a:r>
          </a:p>
          <a:p>
            <a:r>
              <a:rPr lang="en-GB" dirty="0"/>
              <a:t>            textBox1.Text = "";</a:t>
            </a:r>
          </a:p>
          <a:p>
            <a:r>
              <a:rPr lang="en-GB" dirty="0"/>
              <a:t>            textBox2.Text = "";</a:t>
            </a:r>
          </a:p>
          <a:p>
            <a:r>
              <a:rPr lang="en-GB" dirty="0"/>
              <a:t>            textBox3.Text = "";</a:t>
            </a:r>
          </a:p>
          <a:p>
            <a:r>
              <a:rPr lang="en-GB" dirty="0"/>
              <a:t>            richTextBox1.Text = "";</a:t>
            </a:r>
          </a:p>
          <a:p>
            <a:r>
              <a:rPr lang="en-GB" dirty="0"/>
              <a:t>            maskedTextBox1.Text = "";</a:t>
            </a:r>
          </a:p>
          <a:p>
            <a:r>
              <a:rPr lang="en-GB" dirty="0"/>
              <a:t>            checkBox1.Checked = false;</a:t>
            </a:r>
          </a:p>
          <a:p>
            <a:r>
              <a:rPr lang="en-GB" dirty="0"/>
              <a:t>            radioButton1.Checked = false;</a:t>
            </a:r>
          </a:p>
          <a:p>
            <a:r>
              <a:rPr lang="en-GB" dirty="0"/>
              <a:t>            radioButton2.Checked = false;</a:t>
            </a:r>
          </a:p>
          <a:p>
            <a:r>
              <a:rPr lang="en-GB" dirty="0"/>
              <a:t>            comboBox1.SelectedIndex = -1;</a:t>
            </a:r>
          </a:p>
          <a:p>
            <a:r>
              <a:rPr lang="en-GB" dirty="0"/>
              <a:t>            listBox1.SelectedIndex = -1;</a:t>
            </a:r>
          </a:p>
          <a:p>
            <a:r>
              <a:rPr lang="en-GB" dirty="0"/>
              <a:t>        }</a:t>
            </a:r>
            <a:endParaRPr lang="tr-TR" dirty="0" smtClean="0"/>
          </a:p>
          <a:p>
            <a:endParaRPr lang="tr-TR" dirty="0" smtClean="0"/>
          </a:p>
          <a:p>
            <a:endParaRPr lang="tr-TR" dirty="0" smtClean="0"/>
          </a:p>
          <a:p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38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387458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79512" y="228600"/>
            <a:ext cx="7745288" cy="1295400"/>
          </a:xfrm>
        </p:spPr>
        <p:txBody>
          <a:bodyPr/>
          <a:lstStyle/>
          <a:p>
            <a:r>
              <a:rPr lang="tr-TR" dirty="0" smtClean="0"/>
              <a:t>Örnek Form Uygulaması: Kullanıcı Formu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4" y="1607008"/>
            <a:ext cx="8274666" cy="4992772"/>
          </a:xfrm>
        </p:spPr>
        <p:txBody>
          <a:bodyPr>
            <a:normAutofit fontScale="55000" lnSpcReduction="20000"/>
          </a:bodyPr>
          <a:lstStyle/>
          <a:p>
            <a:r>
              <a:rPr lang="tr-T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Formu Gönderme</a:t>
            </a:r>
            <a:r>
              <a:rPr lang="tr-TR" dirty="0" smtClean="0"/>
              <a:t>:</a:t>
            </a:r>
            <a:endParaRPr lang="tr-TR" dirty="0" smtClean="0"/>
          </a:p>
          <a:p>
            <a:r>
              <a:rPr lang="en-GB" dirty="0"/>
              <a:t>private void </a:t>
            </a:r>
            <a:r>
              <a:rPr lang="en-GB" sz="33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button2_Click</a:t>
            </a:r>
            <a:r>
              <a:rPr lang="en-GB" dirty="0"/>
              <a:t>(object sender, </a:t>
            </a:r>
            <a:r>
              <a:rPr lang="en-GB" dirty="0" err="1"/>
              <a:t>EventArgs</a:t>
            </a:r>
            <a:r>
              <a:rPr lang="en-GB" dirty="0"/>
              <a:t> e)</a:t>
            </a:r>
          </a:p>
          <a:p>
            <a:r>
              <a:rPr lang="en-GB" dirty="0"/>
              <a:t>        {</a:t>
            </a:r>
          </a:p>
          <a:p>
            <a:r>
              <a:rPr lang="en-GB" dirty="0"/>
              <a:t>            string </a:t>
            </a:r>
            <a:r>
              <a:rPr lang="en-GB" dirty="0" err="1"/>
              <a:t>cinsiyet</a:t>
            </a:r>
            <a:r>
              <a:rPr lang="en-GB" dirty="0"/>
              <a:t>=""; </a:t>
            </a:r>
          </a:p>
          <a:p>
            <a:r>
              <a:rPr lang="en-GB" dirty="0"/>
              <a:t>            string </a:t>
            </a:r>
            <a:r>
              <a:rPr lang="en-GB" dirty="0" err="1"/>
              <a:t>gelir</a:t>
            </a:r>
            <a:r>
              <a:rPr lang="en-GB" dirty="0"/>
              <a:t>="";</a:t>
            </a:r>
          </a:p>
          <a:p>
            <a:r>
              <a:rPr lang="en-GB" dirty="0"/>
              <a:t>            if (radioButton1.Checked == true)</a:t>
            </a:r>
          </a:p>
          <a:p>
            <a:r>
              <a:rPr lang="en-GB" dirty="0"/>
              <a:t>                </a:t>
            </a:r>
            <a:r>
              <a:rPr lang="en-GB" dirty="0" err="1"/>
              <a:t>cinsiyet</a:t>
            </a:r>
            <a:r>
              <a:rPr lang="en-GB" dirty="0"/>
              <a:t> = "</a:t>
            </a:r>
            <a:r>
              <a:rPr lang="en-GB" dirty="0" err="1"/>
              <a:t>Erkek</a:t>
            </a:r>
            <a:r>
              <a:rPr lang="en-GB" dirty="0"/>
              <a:t>";</a:t>
            </a:r>
          </a:p>
          <a:p>
            <a:r>
              <a:rPr lang="en-GB" dirty="0"/>
              <a:t>            else</a:t>
            </a:r>
          </a:p>
          <a:p>
            <a:r>
              <a:rPr lang="en-GB" dirty="0"/>
              <a:t>                </a:t>
            </a:r>
            <a:r>
              <a:rPr lang="en-GB" dirty="0" err="1"/>
              <a:t>cinsiyet</a:t>
            </a:r>
            <a:r>
              <a:rPr lang="en-GB" dirty="0"/>
              <a:t> = "Kadın";</a:t>
            </a:r>
          </a:p>
          <a:p>
            <a:r>
              <a:rPr lang="en-GB" dirty="0"/>
              <a:t>            if (checkBox1.Checked == true)</a:t>
            </a:r>
          </a:p>
          <a:p>
            <a:r>
              <a:rPr lang="en-GB" dirty="0"/>
              <a:t>                </a:t>
            </a:r>
            <a:r>
              <a:rPr lang="en-GB" dirty="0" err="1"/>
              <a:t>gelir</a:t>
            </a:r>
            <a:r>
              <a:rPr lang="en-GB" dirty="0"/>
              <a:t> = "Evet";</a:t>
            </a:r>
          </a:p>
          <a:p>
            <a:r>
              <a:rPr lang="en-GB" dirty="0"/>
              <a:t>            else</a:t>
            </a:r>
          </a:p>
          <a:p>
            <a:r>
              <a:rPr lang="en-GB" dirty="0"/>
              <a:t>                </a:t>
            </a:r>
            <a:r>
              <a:rPr lang="en-GB" dirty="0" err="1"/>
              <a:t>gelir</a:t>
            </a:r>
            <a:r>
              <a:rPr lang="en-GB" dirty="0"/>
              <a:t> = "</a:t>
            </a:r>
            <a:r>
              <a:rPr lang="en-GB" dirty="0" err="1"/>
              <a:t>Hayır</a:t>
            </a:r>
            <a:r>
              <a:rPr lang="en-GB" dirty="0"/>
              <a:t>";</a:t>
            </a:r>
          </a:p>
          <a:p>
            <a:r>
              <a:rPr lang="en-GB" dirty="0"/>
              <a:t>            </a:t>
            </a:r>
            <a:r>
              <a:rPr lang="en-GB" dirty="0" err="1"/>
              <a:t>MessageBox.Show</a:t>
            </a:r>
            <a:r>
              <a:rPr lang="en-GB" dirty="0"/>
              <a:t>("</a:t>
            </a:r>
            <a:r>
              <a:rPr lang="en-GB" dirty="0" err="1"/>
              <a:t>Adı</a:t>
            </a:r>
            <a:r>
              <a:rPr lang="en-GB" dirty="0"/>
              <a:t> </a:t>
            </a:r>
            <a:r>
              <a:rPr lang="en-GB" dirty="0" err="1"/>
              <a:t>Soyadı</a:t>
            </a:r>
            <a:r>
              <a:rPr lang="en-GB" dirty="0"/>
              <a:t>:"+textBox3.Text+"\</a:t>
            </a:r>
            <a:r>
              <a:rPr lang="en-GB" dirty="0" err="1"/>
              <a:t>nKullanıcı</a:t>
            </a:r>
            <a:r>
              <a:rPr lang="en-GB" dirty="0"/>
              <a:t> </a:t>
            </a:r>
            <a:r>
              <a:rPr lang="en-GB" dirty="0" err="1"/>
              <a:t>adı</a:t>
            </a:r>
            <a:r>
              <a:rPr lang="en-GB" dirty="0"/>
              <a:t>= " +textBox1.Text+</a:t>
            </a:r>
          </a:p>
          <a:p>
            <a:r>
              <a:rPr lang="en-GB" dirty="0"/>
              <a:t>                    " \</a:t>
            </a:r>
            <a:r>
              <a:rPr lang="en-GB" dirty="0" err="1"/>
              <a:t>nŞifre</a:t>
            </a:r>
            <a:r>
              <a:rPr lang="en-GB" dirty="0"/>
              <a:t>:"+textBox2.Text+"\</a:t>
            </a:r>
            <a:r>
              <a:rPr lang="en-GB" dirty="0" err="1"/>
              <a:t>nAdres</a:t>
            </a:r>
            <a:r>
              <a:rPr lang="en-GB" dirty="0"/>
              <a:t>="+richTextBox1.Text+"\</a:t>
            </a:r>
            <a:r>
              <a:rPr lang="en-GB" dirty="0" err="1"/>
              <a:t>nBurs</a:t>
            </a:r>
            <a:r>
              <a:rPr lang="en-GB" dirty="0"/>
              <a:t> </a:t>
            </a:r>
            <a:r>
              <a:rPr lang="en-GB" dirty="0" err="1"/>
              <a:t>Alıyor</a:t>
            </a:r>
            <a:r>
              <a:rPr lang="en-GB" dirty="0"/>
              <a:t> mu? ="+</a:t>
            </a:r>
          </a:p>
          <a:p>
            <a:r>
              <a:rPr lang="en-GB" dirty="0"/>
              <a:t>                    </a:t>
            </a:r>
            <a:r>
              <a:rPr lang="en-GB" dirty="0" err="1"/>
              <a:t>gelir</a:t>
            </a:r>
            <a:r>
              <a:rPr lang="en-GB" dirty="0"/>
              <a:t>+"\</a:t>
            </a:r>
            <a:r>
              <a:rPr lang="en-GB" dirty="0" err="1"/>
              <a:t>nCinsiyet</a:t>
            </a:r>
            <a:r>
              <a:rPr lang="en-GB" dirty="0"/>
              <a:t>="+</a:t>
            </a:r>
            <a:r>
              <a:rPr lang="en-GB" dirty="0" err="1"/>
              <a:t>cinsiyet</a:t>
            </a:r>
            <a:r>
              <a:rPr lang="en-GB" dirty="0"/>
              <a:t>+"\</a:t>
            </a:r>
            <a:r>
              <a:rPr lang="en-GB" dirty="0" err="1"/>
              <a:t>nŞehir</a:t>
            </a:r>
            <a:r>
              <a:rPr lang="en-GB" dirty="0"/>
              <a:t>="+listBox1.SelectedItem</a:t>
            </a:r>
            <a:r>
              <a:rPr lang="en-GB" dirty="0" smtClean="0"/>
              <a:t>);</a:t>
            </a:r>
            <a:endParaRPr lang="en-GB" dirty="0"/>
          </a:p>
          <a:p>
            <a:r>
              <a:rPr lang="en-GB" dirty="0"/>
              <a:t>        }</a:t>
            </a:r>
            <a:endParaRPr lang="tr-TR" dirty="0" smtClean="0"/>
          </a:p>
          <a:p>
            <a:endParaRPr lang="tr-TR" dirty="0" smtClean="0"/>
          </a:p>
          <a:p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39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2669832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79512" y="228600"/>
            <a:ext cx="7745288" cy="1295400"/>
          </a:xfrm>
        </p:spPr>
        <p:txBody>
          <a:bodyPr/>
          <a:lstStyle/>
          <a:p>
            <a:r>
              <a:rPr lang="tr-TR" dirty="0" smtClean="0"/>
              <a:t>Örnek Form Uygulaması: Yeni Form Çağırma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79512" y="1607008"/>
            <a:ext cx="8352928" cy="4992772"/>
          </a:xfrm>
        </p:spPr>
        <p:txBody>
          <a:bodyPr>
            <a:normAutofit fontScale="55000" lnSpcReduction="20000"/>
          </a:bodyPr>
          <a:lstStyle/>
          <a:p>
            <a:r>
              <a:rPr lang="tr-T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 1</a:t>
            </a:r>
            <a:r>
              <a:rPr lang="tr-TR" dirty="0" smtClean="0"/>
              <a:t>:</a:t>
            </a:r>
            <a:endParaRPr lang="tr-TR" dirty="0" smtClean="0"/>
          </a:p>
          <a:p>
            <a:r>
              <a:rPr lang="en-GB" dirty="0"/>
              <a:t> private void textBox2_KeyDown(object sender, </a:t>
            </a:r>
            <a:r>
              <a:rPr lang="en-GB" dirty="0" err="1"/>
              <a:t>KeyEventArgs</a:t>
            </a:r>
            <a:r>
              <a:rPr lang="en-GB" dirty="0"/>
              <a:t> e)</a:t>
            </a:r>
          </a:p>
          <a:p>
            <a:r>
              <a:rPr lang="en-GB" dirty="0"/>
              <a:t>        {</a:t>
            </a:r>
          </a:p>
          <a:p>
            <a:r>
              <a:rPr lang="en-GB" dirty="0"/>
              <a:t>            textBox2.PasswordChar = '*';</a:t>
            </a:r>
          </a:p>
          <a:p>
            <a:r>
              <a:rPr lang="en-GB" dirty="0"/>
              <a:t>        </a:t>
            </a:r>
            <a:r>
              <a:rPr lang="en-GB" dirty="0" smtClean="0"/>
              <a:t>}</a:t>
            </a:r>
            <a:endParaRPr lang="en-GB" dirty="0"/>
          </a:p>
          <a:p>
            <a:r>
              <a:rPr lang="en-GB" dirty="0"/>
              <a:t>        private void button1_Click(object sender, </a:t>
            </a:r>
            <a:r>
              <a:rPr lang="en-GB" dirty="0" err="1"/>
              <a:t>EventArgs</a:t>
            </a:r>
            <a:r>
              <a:rPr lang="en-GB" dirty="0"/>
              <a:t> e)</a:t>
            </a:r>
          </a:p>
          <a:p>
            <a:r>
              <a:rPr lang="en-GB" dirty="0"/>
              <a:t>        {</a:t>
            </a:r>
          </a:p>
          <a:p>
            <a:r>
              <a:rPr lang="en-GB" dirty="0"/>
              <a:t>            textBox1.Text = "";</a:t>
            </a:r>
          </a:p>
          <a:p>
            <a:r>
              <a:rPr lang="en-GB" dirty="0"/>
              <a:t>            textBox2.Text = </a:t>
            </a:r>
            <a:r>
              <a:rPr lang="en-GB" dirty="0" smtClean="0"/>
              <a:t>"";</a:t>
            </a:r>
            <a:endParaRPr lang="en-GB" dirty="0"/>
          </a:p>
          <a:p>
            <a:r>
              <a:rPr lang="en-GB" dirty="0"/>
              <a:t>        </a:t>
            </a:r>
            <a:r>
              <a:rPr lang="en-GB" dirty="0" smtClean="0"/>
              <a:t>}</a:t>
            </a:r>
            <a:endParaRPr lang="en-GB" dirty="0"/>
          </a:p>
          <a:p>
            <a:r>
              <a:rPr lang="en-GB" dirty="0"/>
              <a:t>        private void button2_Click(object sender, </a:t>
            </a:r>
            <a:r>
              <a:rPr lang="en-GB" dirty="0" err="1"/>
              <a:t>EventArgs</a:t>
            </a:r>
            <a:r>
              <a:rPr lang="en-GB" dirty="0"/>
              <a:t> e)</a:t>
            </a:r>
          </a:p>
          <a:p>
            <a:r>
              <a:rPr lang="en-GB" dirty="0"/>
              <a:t>        </a:t>
            </a:r>
            <a:r>
              <a:rPr lang="en-GB" dirty="0" smtClean="0"/>
              <a:t>{</a:t>
            </a:r>
            <a:endParaRPr lang="en-GB" dirty="0"/>
          </a:p>
          <a:p>
            <a:r>
              <a:rPr lang="en-GB" dirty="0"/>
              <a:t>            Form2 </a:t>
            </a:r>
            <a:r>
              <a:rPr lang="en-GB" dirty="0" err="1"/>
              <a:t>yeniForm</a:t>
            </a:r>
            <a:r>
              <a:rPr lang="en-GB" dirty="0"/>
              <a:t> = new Form2(textBox1.Text, textBox2.Text);</a:t>
            </a:r>
          </a:p>
          <a:p>
            <a:r>
              <a:rPr lang="en-GB" dirty="0"/>
              <a:t>            </a:t>
            </a:r>
            <a:r>
              <a:rPr lang="en-GB" dirty="0" err="1"/>
              <a:t>yeniForm.Show</a:t>
            </a:r>
            <a:r>
              <a:rPr lang="en-GB" dirty="0"/>
              <a:t>();</a:t>
            </a:r>
          </a:p>
          <a:p>
            <a:r>
              <a:rPr lang="en-GB" dirty="0"/>
              <a:t>        </a:t>
            </a:r>
            <a:r>
              <a:rPr lang="en-GB" dirty="0" smtClean="0"/>
              <a:t>}</a:t>
            </a:r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r>
              <a:rPr lang="tr-TR" dirty="0" smtClean="0"/>
              <a:t>.</a:t>
            </a:r>
            <a:endParaRPr lang="tr-TR" dirty="0" smtClean="0"/>
          </a:p>
          <a:p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40</a:t>
            </a:fld>
            <a:endParaRPr lang="tr-TR" altLang="en-US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4725143"/>
            <a:ext cx="3312368" cy="206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5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79512" y="228600"/>
            <a:ext cx="7745288" cy="1295400"/>
          </a:xfrm>
        </p:spPr>
        <p:txBody>
          <a:bodyPr/>
          <a:lstStyle/>
          <a:p>
            <a:r>
              <a:rPr lang="tr-TR" dirty="0" smtClean="0"/>
              <a:t>Örnek Form Uygulaması: Yeni Form Çağırma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79512" y="1607008"/>
            <a:ext cx="8352928" cy="4992772"/>
          </a:xfrm>
        </p:spPr>
        <p:txBody>
          <a:bodyPr>
            <a:normAutofit fontScale="55000" lnSpcReduction="20000"/>
          </a:bodyPr>
          <a:lstStyle/>
          <a:p>
            <a:r>
              <a:rPr lang="tr-T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 2</a:t>
            </a:r>
            <a:r>
              <a:rPr lang="tr-TR" dirty="0" smtClean="0"/>
              <a:t>:</a:t>
            </a:r>
            <a:endParaRPr lang="tr-TR" dirty="0" smtClean="0"/>
          </a:p>
          <a:p>
            <a:r>
              <a:rPr lang="en-GB" dirty="0"/>
              <a:t>  public partial class Form2 : Form</a:t>
            </a:r>
          </a:p>
          <a:p>
            <a:r>
              <a:rPr lang="en-GB" dirty="0"/>
              <a:t>    {</a:t>
            </a:r>
          </a:p>
          <a:p>
            <a:r>
              <a:rPr lang="en-GB" dirty="0"/>
              <a:t>        public Form2(string </a:t>
            </a:r>
            <a:r>
              <a:rPr lang="en-GB" dirty="0" err="1"/>
              <a:t>kadi,string</a:t>
            </a:r>
            <a:r>
              <a:rPr lang="en-GB" dirty="0"/>
              <a:t> </a:t>
            </a:r>
            <a:r>
              <a:rPr lang="en-GB" dirty="0" err="1"/>
              <a:t>sifre</a:t>
            </a:r>
            <a:r>
              <a:rPr lang="en-GB" dirty="0"/>
              <a:t>)</a:t>
            </a:r>
          </a:p>
          <a:p>
            <a:r>
              <a:rPr lang="en-GB" dirty="0"/>
              <a:t>        {</a:t>
            </a:r>
          </a:p>
          <a:p>
            <a:r>
              <a:rPr lang="en-GB" dirty="0"/>
              <a:t>            </a:t>
            </a:r>
            <a:r>
              <a:rPr lang="en-GB" dirty="0" err="1"/>
              <a:t>InitializeComponent</a:t>
            </a:r>
            <a:r>
              <a:rPr lang="en-GB" dirty="0"/>
              <a:t>();</a:t>
            </a:r>
          </a:p>
          <a:p>
            <a:r>
              <a:rPr lang="en-GB" dirty="0"/>
              <a:t>            label1.Text = </a:t>
            </a:r>
            <a:r>
              <a:rPr lang="en-GB" dirty="0" err="1"/>
              <a:t>kadi</a:t>
            </a:r>
            <a:r>
              <a:rPr lang="en-GB" dirty="0"/>
              <a:t>;</a:t>
            </a:r>
          </a:p>
          <a:p>
            <a:r>
              <a:rPr lang="en-GB" dirty="0"/>
              <a:t>            label2.Text = </a:t>
            </a:r>
            <a:r>
              <a:rPr lang="en-GB" dirty="0" err="1"/>
              <a:t>sifre</a:t>
            </a:r>
            <a:r>
              <a:rPr lang="en-GB" dirty="0"/>
              <a:t>;</a:t>
            </a:r>
          </a:p>
          <a:p>
            <a:r>
              <a:rPr lang="en-GB" dirty="0"/>
              <a:t>        }</a:t>
            </a:r>
          </a:p>
          <a:p>
            <a:r>
              <a:rPr lang="en-GB" dirty="0"/>
              <a:t>    }</a:t>
            </a:r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r>
              <a:rPr lang="tr-TR" dirty="0" smtClean="0"/>
              <a:t>.</a:t>
            </a:r>
            <a:endParaRPr lang="tr-TR" dirty="0" smtClean="0"/>
          </a:p>
          <a:p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41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1607008"/>
            <a:ext cx="3960440" cy="2416422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621" y="4316722"/>
            <a:ext cx="6474710" cy="234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421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BF7E1A-4726-4A4D-936E-1547410B3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>
                <a:latin typeface="Arial" panose="020B0604020202020204" pitchFamily="34" charset="0"/>
              </a:rPr>
              <a:t>Teşekkürler</a:t>
            </a:r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4" name="Metin Yer Tutucusu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08CE1-DD55-4A43-A479-EF83A2DC3985}" type="slidenum">
              <a:rPr lang="tr-TR" altLang="en-US" smtClean="0"/>
              <a:pPr/>
              <a:t>42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85717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tış eğitimi sunusu">
  <a:themeElements>
    <a:clrScheme name="Sales Training_final2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Sales Training_final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92150" marR="0" indent="-347663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70000"/>
          <a:buFont typeface="Wingdings" pitchFamily="2" charset="2"/>
          <a:buChar char="l"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92150" marR="0" indent="-347663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70000"/>
          <a:buFont typeface="Wingdings" pitchFamily="2" charset="2"/>
          <a:buChar char="l"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les Training_final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les Training_final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_26714067_TF02819076" id="{E31F1C6B-7E02-4139-9FF8-9E6BFA94BC44}" vid="{1FD1549A-4032-4B7C-9579-369478E37A3B}"/>
    </a:ext>
  </a:ext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Satış eğitimi slaytları</Template>
  <TotalTime>10778</TotalTime>
  <Words>1437</Words>
  <Application>Microsoft Office PowerPoint</Application>
  <PresentationFormat>Ekran Gösterisi (4:3)</PresentationFormat>
  <Paragraphs>353</Paragraphs>
  <Slides>42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42</vt:i4>
      </vt:variant>
    </vt:vector>
  </HeadingPairs>
  <TitlesOfParts>
    <vt:vector size="47" baseType="lpstr">
      <vt:lpstr>Arial</vt:lpstr>
      <vt:lpstr>Courier New</vt:lpstr>
      <vt:lpstr>Haettenschweiler</vt:lpstr>
      <vt:lpstr>Wingdings</vt:lpstr>
      <vt:lpstr>Satış eğitimi sunusu</vt:lpstr>
      <vt:lpstr>BM201 Görsel  Programlamaya Giriş</vt:lpstr>
      <vt:lpstr>Yeni Form Projesi Oluşturma</vt:lpstr>
      <vt:lpstr>Yeni Form Projesi Oluşturma</vt:lpstr>
      <vt:lpstr>Form Geliştirme Ortamı</vt:lpstr>
      <vt:lpstr>Solution Explorer (Çözüm Gezgini)</vt:lpstr>
      <vt:lpstr>Toolbox</vt:lpstr>
      <vt:lpstr>Özellikler Penceresi</vt:lpstr>
      <vt:lpstr>Özellikler Penceresi</vt:lpstr>
      <vt:lpstr>Özellikler Penceresi</vt:lpstr>
      <vt:lpstr>Form Kodlarına Ulaşma</vt:lpstr>
      <vt:lpstr>Form Kodlarına Ulaşma</vt:lpstr>
      <vt:lpstr>Kodun Çalıştırılması</vt:lpstr>
      <vt:lpstr>Derleme ve Hata Bulma</vt:lpstr>
      <vt:lpstr>Görsel Bileşenler ve Özellikleri</vt:lpstr>
      <vt:lpstr>Görsel Bileşenler: Form</vt:lpstr>
      <vt:lpstr>Görsel Bileşenler: Form</vt:lpstr>
      <vt:lpstr>Görsel Bileşenler: Form</vt:lpstr>
      <vt:lpstr>Görsel Bileşenler: Form</vt:lpstr>
      <vt:lpstr>Görsel Bileşenler: Form</vt:lpstr>
      <vt:lpstr>Görsel Bileşenler: Form</vt:lpstr>
      <vt:lpstr>Görsel Bileşenler: Form</vt:lpstr>
      <vt:lpstr>Görsel Bileşenler: Form</vt:lpstr>
      <vt:lpstr>Görsel Bileşenler: Label</vt:lpstr>
      <vt:lpstr>Görsel Bileşenler: TextBox</vt:lpstr>
      <vt:lpstr>Görsel Bileşenler: TextBox</vt:lpstr>
      <vt:lpstr>Görsel Bileşenler: TextBox</vt:lpstr>
      <vt:lpstr>Görsel Bileşenler: Button</vt:lpstr>
      <vt:lpstr>Görsel Bileşenler: Button</vt:lpstr>
      <vt:lpstr>Görsel Bileşenler: Button</vt:lpstr>
      <vt:lpstr>Görsel Bileşenler: RichTextBox</vt:lpstr>
      <vt:lpstr>Görsel Bileşenler: MaskedTextBox</vt:lpstr>
      <vt:lpstr>Görsel Bileşenler: CheckBox</vt:lpstr>
      <vt:lpstr>Görsel Bileşenler: RadioButton</vt:lpstr>
      <vt:lpstr>Görsel Bileşenler: ListBox</vt:lpstr>
      <vt:lpstr>Görsel Bileşenler: ListBox</vt:lpstr>
      <vt:lpstr>Örnek Form Uygulaması: Kullanıcı Formu</vt:lpstr>
      <vt:lpstr>Örnek Form Uygulaması: Kullanıcı Formu</vt:lpstr>
      <vt:lpstr>Örnek Form Uygulaması: Kullanıcı Formu</vt:lpstr>
      <vt:lpstr>Örnek Form Uygulaması: Kullanıcı Formu</vt:lpstr>
      <vt:lpstr>Örnek Form Uygulaması: Yeni Form Çağırma</vt:lpstr>
      <vt:lpstr>Örnek Form Uygulaması: Yeni Form Çağırma</vt:lpstr>
      <vt:lpstr>Teşekkürler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BM108 Bilgisayar Mühendisliğine Giriş</dc:title>
  <dc:creator>user</dc:creator>
  <cp:lastModifiedBy>user</cp:lastModifiedBy>
  <cp:revision>756</cp:revision>
  <dcterms:created xsi:type="dcterms:W3CDTF">2020-10-09T08:01:48Z</dcterms:created>
  <dcterms:modified xsi:type="dcterms:W3CDTF">2021-05-04T10:15:57Z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