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28"/>
  </p:notesMasterIdLst>
  <p:handoutMasterIdLst>
    <p:handoutMasterId r:id="rId29"/>
  </p:handoutMasterIdLst>
  <p:sldIdLst>
    <p:sldId id="269" r:id="rId2"/>
    <p:sldId id="424" r:id="rId3"/>
    <p:sldId id="426" r:id="rId4"/>
    <p:sldId id="425" r:id="rId5"/>
    <p:sldId id="427" r:id="rId6"/>
    <p:sldId id="423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42" r:id="rId17"/>
    <p:sldId id="443" r:id="rId18"/>
    <p:sldId id="441" r:id="rId19"/>
    <p:sldId id="437" r:id="rId20"/>
    <p:sldId id="438" r:id="rId21"/>
    <p:sldId id="439" r:id="rId22"/>
    <p:sldId id="440" r:id="rId23"/>
    <p:sldId id="444" r:id="rId24"/>
    <p:sldId id="446" r:id="rId25"/>
    <p:sldId id="445" r:id="rId26"/>
    <p:sldId id="281" r:id="rId27"/>
  </p:sldIdLst>
  <p:sldSz cx="9144000" cy="6858000" type="screen4x3"/>
  <p:notesSz cx="7010400" cy="9296400"/>
  <p:defaultTextStyle>
    <a:defPPr rtl="0">
      <a:defRPr lang="tr-tr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1fc7fc7521ad5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Açık Stil 1 - Vurgu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1" autoAdjust="0"/>
    <p:restoredTop sz="97155" autoAdjust="0"/>
  </p:normalViewPr>
  <p:slideViewPr>
    <p:cSldViewPr>
      <p:cViewPr varScale="1">
        <p:scale>
          <a:sx n="84" d="100"/>
          <a:sy n="84" d="100"/>
        </p:scale>
        <p:origin x="1392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 modNotesMaster">
      <pc:chgData name="Fake Test User" userId="SID-0" providerId="Test" clId="FakeClientId" dt="2018-12-04T05:43:13.074" v="7" actId="790"/>
      <pc:docMkLst>
        <pc:docMk/>
      </pc:docMkLst>
      <pc:sldChg chg="modSp">
        <pc:chgData name="Fake Test User" userId="SID-0" providerId="Test" clId="FakeClientId" dt="2018-12-04T05:39:21.983" v="1" actId="6549"/>
        <pc:sldMkLst>
          <pc:docMk/>
          <pc:sldMk cId="3733441278" sldId="271"/>
        </pc:sldMkLst>
        <pc:spChg chg="mod">
          <ac:chgData name="Fake Test User" userId="SID-0" providerId="Test" clId="FakeClientId" dt="2018-12-04T05:39:21.983" v="1" actId="6549"/>
          <ac:spMkLst>
            <pc:docMk/>
            <pc:sldMk cId="3733441278" sldId="271"/>
            <ac:spMk id="3" creationId="{138AFC74-2DAB-4FF2-A66B-288CACB8B844}"/>
          </ac:spMkLst>
        </pc:spChg>
      </pc:sldChg>
      <pc:sldChg chg="modSp">
        <pc:chgData name="Fake Test User" userId="SID-0" providerId="Test" clId="FakeClientId" dt="2018-12-04T05:41:53.817" v="6" actId="27636"/>
        <pc:sldMkLst>
          <pc:docMk/>
          <pc:sldMk cId="2525023481" sldId="277"/>
        </pc:sldMkLst>
        <pc:spChg chg="mod">
          <ac:chgData name="Fake Test User" userId="SID-0" providerId="Test" clId="FakeClientId" dt="2018-12-04T05:41:53.817" v="6" actId="27636"/>
          <ac:spMkLst>
            <pc:docMk/>
            <pc:sldMk cId="2525023481" sldId="277"/>
            <ac:spMk id="3" creationId="{CF66EF10-C287-4341-AD3D-9B48C2895A59}"/>
          </ac:spMkLst>
        </pc:spChg>
      </pc:sldChg>
      <pc:sldChg chg="modSp">
        <pc:chgData name="Fake Test User" userId="SID-0" providerId="Test" clId="FakeClientId" dt="2018-12-04T05:40:40.727" v="5" actId="20577"/>
        <pc:sldMkLst>
          <pc:docMk/>
          <pc:sldMk cId="2321117250" sldId="278"/>
        </pc:sldMkLst>
        <pc:spChg chg="mod">
          <ac:chgData name="Fake Test User" userId="SID-0" providerId="Test" clId="FakeClientId" dt="2018-12-04T05:40:40.727" v="5" actId="20577"/>
          <ac:spMkLst>
            <pc:docMk/>
            <pc:sldMk cId="2321117250" sldId="278"/>
            <ac:spMk id="3" creationId="{D1E1198F-DBE4-4470-AE42-7DC4BC96C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19" name="Dikdörtgen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8EB1AC0F-E286-44A1-8E5A-20BC1E627360}" type="datetime1">
              <a:rPr lang="tr-TR" smtClean="0">
                <a:latin typeface="Arial" panose="020B0604020202020204" pitchFamily="34" charset="0"/>
              </a:rPr>
              <a:t>27.04.2021</a:t>
            </a:fld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0" name="Dikdörtgen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1" name="Dikdörtgen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F0B6EC5B-DE15-4B62-9DC0-DE1BD893DD16}" type="slidenum">
              <a:rPr lang="tr-TR" smtClean="0">
                <a:latin typeface="Arial" panose="020B0604020202020204" pitchFamily="34" charset="0"/>
              </a:rPr>
              <a:pPr/>
              <a:t>‹#›</a:t>
            </a:fld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27" name="Dikdörtgen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2142ED-62CF-4BE7-A720-C948E8939493}" type="datetime1">
              <a:rPr lang="tr-TR" noProof="0" smtClean="0"/>
              <a:t>27.04.2021</a:t>
            </a:fld>
            <a:endParaRPr lang="tr-TR" noProof="0"/>
          </a:p>
        </p:txBody>
      </p:sp>
      <p:sp>
        <p:nvSpPr>
          <p:cNvPr id="26628" name="Dikdörtgen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Dikdörtgen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26630" name="Dikdörtgen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31" name="Dikdörtgen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23FACB9-4E35-4CB3-835A-2EBF55FAEDE3}" type="slidenum">
              <a:rPr lang="tr-TR" noProof="0" smtClean="0"/>
              <a:pPr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559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719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Çizgi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7112" name="Gr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7144" name="Çizgi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7107" name="Başlık Yer Tutucusu 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15913" y="466725"/>
            <a:ext cx="6781800" cy="2133600"/>
          </a:xfrm>
        </p:spPr>
        <p:txBody>
          <a:bodyPr rtlCol="0"/>
          <a:lstStyle>
            <a:lvl1pPr algn="r">
              <a:defRPr sz="44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7108" name="Metin Yer Tutucusu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49313" y="3049588"/>
            <a:ext cx="6248400" cy="2362200"/>
          </a:xfrm>
        </p:spPr>
        <p:txBody>
          <a:bodyPr rtlCol="0"/>
          <a:lstStyle>
            <a:lvl1pPr marL="0" indent="0" algn="r">
              <a:buFontTx/>
              <a:buNone/>
              <a:defRPr sz="29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alt başlık stilini düzenlemek için tıklatın</a:t>
            </a:r>
            <a:endParaRPr lang="tr-TR" noProof="0" dirty="0"/>
          </a:p>
        </p:txBody>
      </p:sp>
      <p:sp>
        <p:nvSpPr>
          <p:cNvPr id="47109" name="Tarih Yer Tutucusu 3"/>
          <p:cNvSpPr>
            <a:spLocks noGrp="1" noChangeArrowheads="1"/>
          </p:cNvSpPr>
          <p:nvPr>
            <p:ph type="dt" sz="half" idx="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6E4DA47A-E178-47C6-957C-5C8A574CF14A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47110" name="Alt Bilgi Yer Tutucusu 4"/>
          <p:cNvSpPr>
            <a:spLocks noGrp="1" noChangeArrowheads="1"/>
          </p:cNvSpPr>
          <p:nvPr>
            <p:ph type="ftr" sz="quarter" idx="3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7111" name="Slayt Numarası Yer Tutucusu 5"/>
          <p:cNvSpPr>
            <a:spLocks noGrp="1" noChangeArrowheads="1"/>
          </p:cNvSpPr>
          <p:nvPr>
            <p:ph type="sldNum" sz="quarter" idx="4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45280F-DE53-48B1-9FB9-96A39916642A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ABA82BB-27B0-4E74-BE3A-6182D4BDFFF8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C6F290-D301-4864-9490-340EF11588D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B25015F-A951-49B0-B508-28EBA635A12D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0208CE1-DD55-4A43-A479-EF83A2DC398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11430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9149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38651B3-C06A-4DB8-9B86-EE9A06EB1686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27AF89-6755-46F5-BBCF-E571D7F311A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8342BDE-81B1-4706-BA40-C213250F8A97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76BE3C0-1208-4260-82C3-0EB04002719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2BC3C9F-7E22-400E-8A2B-8FB0E30EB41F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5F02DF6-5EF1-449D-8E8F-F40E7D2FCBCB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EE45D13-EAC8-40B6-9D8A-717416E4E6C9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C3460AA-1533-4548-8781-A6D0EAE276D6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 marL="45720" indent="0">
              <a:buFontTx/>
              <a:buNone/>
              <a:defRPr sz="3200">
                <a:latin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2130E0B-9CBE-4DBD-9C9C-6411A8276026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6386842-FEC9-453F-B6F7-7C945F3A2D73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D45A49D-D59C-4043-BFE4-3F91EBD2EAE0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6DA581-ADE3-4A40-91CB-711A776CAC2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6C70543-142E-47BD-9F7A-114C2D10A1C1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72E90EB-6CA4-453F-8712-C339590DE034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6457950" y="228600"/>
            <a:ext cx="2076450" cy="5707063"/>
          </a:xfrm>
        </p:spPr>
        <p:txBody>
          <a:bodyPr vert="eaVert"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228600" y="228600"/>
            <a:ext cx="6076950" cy="5707063"/>
          </a:xfrm>
        </p:spPr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038A33F-6BB9-4C64-B05E-81B73C45F6B7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6D251BA-4196-46F7-BF5E-DE37F6712AD1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Çizgi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6088" name="Gr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6083" name="Başlık Yer Tutucusu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46084" name="Metin Yer Tutucusu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</a:p>
          <a:p>
            <a:pPr lvl="8" rtl="0"/>
            <a:endParaRPr lang="tr-TR" altLang="en-US"/>
          </a:p>
          <a:p>
            <a:pPr lvl="8" rtl="0"/>
            <a:endParaRPr lang="tr-TR" altLang="en-US" dirty="0"/>
          </a:p>
        </p:txBody>
      </p:sp>
      <p:sp>
        <p:nvSpPr>
          <p:cNvPr id="46085" name="Tarih Yer Tutucusu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322246E8-490E-476E-B1A5-1D98C583C7E1}" type="datetime1">
              <a:rPr lang="tr-TR" altLang="en-US" smtClean="0"/>
              <a:t>27.04.2021</a:t>
            </a:fld>
            <a:endParaRPr lang="tr-TR" altLang="en-US" dirty="0"/>
          </a:p>
        </p:txBody>
      </p:sp>
      <p:sp>
        <p:nvSpPr>
          <p:cNvPr id="46086" name="Alt Bilgi Yer Tutucusu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6087" name="Slayt Numarası Yer Tutucusu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D7E5119E-5338-4B55-81DC-57EAC9440FD0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Arial" panose="020B0604020202020204" pitchFamily="34" charset="0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Arial" panose="020B0604020202020204" pitchFamily="34" charset="0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BM201</a:t>
            </a:r>
            <a:r>
              <a:rPr lang="tr-TR" dirty="0" smtClean="0">
                <a:latin typeface="Arial" panose="020B0604020202020204" pitchFamily="34" charset="0"/>
              </a:rPr>
              <a:t/>
            </a:r>
            <a:br>
              <a:rPr lang="tr-TR" dirty="0" smtClean="0">
                <a:latin typeface="Arial" panose="020B0604020202020204" pitchFamily="34" charset="0"/>
              </a:rPr>
            </a:br>
            <a:r>
              <a:rPr lang="tr-TR" dirty="0" smtClean="0"/>
              <a:t>Görsel </a:t>
            </a:r>
            <a:br>
              <a:rPr lang="tr-TR" dirty="0" smtClean="0"/>
            </a:br>
            <a:r>
              <a:rPr lang="tr-TR" dirty="0" smtClean="0"/>
              <a:t>Programlamaya Giriş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3259732"/>
          </a:xfrm>
        </p:spPr>
        <p:txBody>
          <a:bodyPr rtlCol="0">
            <a:normAutofit fontScale="92500"/>
          </a:bodyPr>
          <a:lstStyle/>
          <a:p>
            <a:r>
              <a:rPr 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</a:t>
            </a:r>
            <a:r>
              <a:rPr 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r>
              <a:rPr lang="tr-TR" dirty="0" smtClean="0">
                <a:latin typeface="Arial" panose="020B0604020202020204" pitchFamily="34" charset="0"/>
              </a:rPr>
              <a:t>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Grafik </a:t>
            </a:r>
            <a:r>
              <a:rPr lang="tr-T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Arayüz</a:t>
            </a:r>
            <a:r>
              <a:rPr lang="tr-TR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Konseptleri I</a:t>
            </a:r>
            <a:endParaRPr lang="tr-T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tr-TR" dirty="0" smtClean="0">
              <a:latin typeface="Arial" panose="020B0604020202020204" pitchFamily="34" charset="0"/>
            </a:endParaRPr>
          </a:p>
          <a:p>
            <a:endParaRPr lang="tr-T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Dr</a:t>
            </a:r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. Öğr. Üyesi Ali Şenol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Bilgisayar Mühendisliği Bölümü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GİBTÜ</a:t>
            </a:r>
          </a:p>
        </p:txBody>
      </p:sp>
      <p:pic>
        <p:nvPicPr>
          <p:cNvPr id="6" name="Picture 2" descr="Gaziantep İslam Bilim ve Teknoloji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96752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 Form Projesi Oluşturma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504820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04248" y="6448359"/>
            <a:ext cx="2133600" cy="257241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17920"/>
            <a:ext cx="7200800" cy="442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8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Yeni Form Projesi Oluşturma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504820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04248" y="6448359"/>
            <a:ext cx="2133600" cy="257241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3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24000"/>
            <a:ext cx="7850832" cy="49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4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Geliştirme Ortamı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259632" y="6629400"/>
            <a:ext cx="5904656" cy="457200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4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8" y="1501136"/>
            <a:ext cx="9006768" cy="493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4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7817296" cy="1295400"/>
          </a:xfrm>
        </p:spPr>
        <p:txBody>
          <a:bodyPr/>
          <a:lstStyle/>
          <a:p>
            <a:r>
              <a:rPr lang="tr-TR" dirty="0" smtClean="0"/>
              <a:t>Solution Explorer (Çözüm Gezgini)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1520" y="1524001"/>
            <a:ext cx="8282880" cy="968896"/>
          </a:xfrm>
        </p:spPr>
        <p:txBody>
          <a:bodyPr/>
          <a:lstStyle/>
          <a:p>
            <a:r>
              <a:rPr lang="tr-TR" dirty="0" smtClean="0"/>
              <a:t>Çözüm be bağlı sınıf, kontrol, metot gibi bileşenlerini ulaşılabilir olduğu pencere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5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76" y="2636912"/>
            <a:ext cx="2956872" cy="35132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2695259"/>
            <a:ext cx="5282244" cy="29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2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Toolbox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128" y="1524000"/>
            <a:ext cx="2810272" cy="4411663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Form bileşenlerinin listelendiği ve kullanıma sunulduğu penceredir. Sürükle bırak ile forma eklenebilir. </a:t>
            </a:r>
          </a:p>
          <a:p>
            <a:r>
              <a:rPr lang="en-GB" b="1" dirty="0" smtClean="0"/>
              <a:t>Toolbox</a:t>
            </a:r>
            <a:r>
              <a:rPr lang="tr-TR" b="1" dirty="0" smtClean="0"/>
              <a:t> </a:t>
            </a:r>
            <a:r>
              <a:rPr lang="en-GB" dirty="0" err="1" smtClean="0"/>
              <a:t>kapalı</a:t>
            </a:r>
            <a:r>
              <a:rPr lang="tr-TR" dirty="0" smtClean="0"/>
              <a:t> </a:t>
            </a:r>
            <a:r>
              <a:rPr lang="en-GB" dirty="0" err="1" smtClean="0"/>
              <a:t>ise</a:t>
            </a:r>
            <a:r>
              <a:rPr lang="tr-TR" dirty="0" smtClean="0"/>
              <a:t> </a:t>
            </a:r>
            <a:r>
              <a:rPr lang="en-GB" b="1" dirty="0" smtClean="0"/>
              <a:t>Ctrl </a:t>
            </a:r>
            <a:r>
              <a:rPr lang="en-GB" b="1" dirty="0"/>
              <a:t>+ Alt + X </a:t>
            </a:r>
            <a:r>
              <a:rPr lang="en-GB" dirty="0" err="1" smtClean="0"/>
              <a:t>tuşlarına</a:t>
            </a:r>
            <a:r>
              <a:rPr lang="tr-TR" dirty="0" smtClean="0"/>
              <a:t> </a:t>
            </a:r>
            <a:r>
              <a:rPr lang="en-GB" dirty="0" err="1" smtClean="0"/>
              <a:t>birlikte</a:t>
            </a:r>
            <a:r>
              <a:rPr lang="tr-TR" dirty="0" smtClean="0"/>
              <a:t> </a:t>
            </a:r>
            <a:r>
              <a:rPr lang="en-GB" dirty="0" err="1" smtClean="0"/>
              <a:t>basarak</a:t>
            </a:r>
            <a:r>
              <a:rPr lang="tr-TR" dirty="0" smtClean="0"/>
              <a:t> </a:t>
            </a:r>
            <a:r>
              <a:rPr lang="en-GB" dirty="0" err="1" smtClean="0"/>
              <a:t>aktif</a:t>
            </a:r>
            <a:r>
              <a:rPr lang="tr-TR" dirty="0" smtClean="0"/>
              <a:t> </a:t>
            </a:r>
            <a:r>
              <a:rPr lang="en-GB" dirty="0" smtClean="0"/>
              <a:t>hale </a:t>
            </a:r>
            <a:r>
              <a:rPr lang="en-GB" dirty="0" err="1"/>
              <a:t>getirilebilir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6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6211"/>
            <a:ext cx="5269945" cy="387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4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Seçilen nesneye ait özelliklerin ve olayların düzenlenebildiği pencereler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7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92" y="2136146"/>
            <a:ext cx="3405600" cy="43197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48" y="2129679"/>
            <a:ext cx="3405600" cy="43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1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Seçilen nesneye ait özelliklerin ve olayların düzenlenebildiği pencereler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8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92" y="2136146"/>
            <a:ext cx="3405600" cy="43197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48" y="2129679"/>
            <a:ext cx="3405600" cy="43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Özellikler Penceresi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9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00808"/>
            <a:ext cx="6908740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Kodlarına Ulaşma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Form kodlarına «formda boş bir alana çift tıklayarak veya Solution </a:t>
            </a:r>
            <a:r>
              <a:rPr lang="tr-TR" sz="2000" dirty="0" err="1" smtClean="0"/>
              <a:t>Explorer’dan</a:t>
            </a:r>
            <a:r>
              <a:rPr lang="tr-TR" sz="2000" dirty="0" smtClean="0"/>
              <a:t> Form1 üzerine sağ tıklayıp </a:t>
            </a:r>
            <a:r>
              <a:rPr lang="tr-TR" sz="2000" dirty="0" err="1" smtClean="0"/>
              <a:t>view</a:t>
            </a:r>
            <a:r>
              <a:rPr lang="tr-TR" sz="2000" dirty="0" smtClean="0"/>
              <a:t> </a:t>
            </a:r>
            <a:r>
              <a:rPr lang="tr-TR" sz="2000" dirty="0" err="1" smtClean="0"/>
              <a:t>code</a:t>
            </a:r>
            <a:r>
              <a:rPr lang="tr-TR" sz="2000" dirty="0" smtClean="0"/>
              <a:t> diyerek ulaşılabilir»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10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3173400" cy="40675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67" y="2440015"/>
            <a:ext cx="4067833" cy="3058758"/>
          </a:xfrm>
          <a:prstGeom prst="rect">
            <a:avLst/>
          </a:prstGeom>
        </p:spPr>
      </p:pic>
      <p:sp>
        <p:nvSpPr>
          <p:cNvPr id="9" name="Metin kutusu 8"/>
          <p:cNvSpPr txBox="1"/>
          <p:nvPr/>
        </p:nvSpPr>
        <p:spPr>
          <a:xfrm>
            <a:off x="4076700" y="5539251"/>
            <a:ext cx="4506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tr-TR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ÖR: 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Uygula butonuna tıklayarak butonun </a:t>
            </a:r>
            <a:r>
              <a:rPr lang="tr-T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tr-T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olayına kod yazılabilir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7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Form Kodlarına Ulaşma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ÖR: Merhaba Dünya Örneği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11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80493"/>
            <a:ext cx="4067833" cy="305875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945" y="2397981"/>
            <a:ext cx="4677516" cy="31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9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Kodun Çalıştırılması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504" y="1628800"/>
            <a:ext cx="8426896" cy="4299631"/>
          </a:xfrm>
        </p:spPr>
        <p:txBody>
          <a:bodyPr>
            <a:normAutofit/>
          </a:bodyPr>
          <a:lstStyle/>
          <a:p>
            <a:r>
              <a:rPr lang="tr-TR" sz="2000" dirty="0" smtClean="0"/>
              <a:t>Kodu çalıştırmak için üst menüde bulunan </a:t>
            </a:r>
            <a:r>
              <a:rPr lang="tr-TR" sz="2000" b="1" dirty="0" smtClean="0"/>
              <a:t>Start</a:t>
            </a:r>
            <a:r>
              <a:rPr lang="tr-TR" sz="2000" dirty="0" smtClean="0"/>
              <a:t> bileşenine basılır.</a:t>
            </a:r>
            <a:endParaRPr lang="tr-TR" sz="2000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2123728" y="6540577"/>
            <a:ext cx="4752528" cy="292177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25024" y="6540577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12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13274"/>
            <a:ext cx="5207496" cy="4334259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546154"/>
            <a:ext cx="3225000" cy="26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6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Derleme ve Hata Bulma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1524000"/>
            <a:ext cx="8210872" cy="5007124"/>
          </a:xfrm>
        </p:spPr>
        <p:txBody>
          <a:bodyPr>
            <a:normAutofit/>
          </a:bodyPr>
          <a:lstStyle/>
          <a:p>
            <a:r>
              <a:rPr lang="tr-TR" sz="2000" dirty="0" smtClean="0"/>
              <a:t>Yazılan bir kodda hata olup olmadığını kontrol etmek için </a:t>
            </a:r>
            <a:r>
              <a:rPr lang="tr-TR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tr-TR" sz="2000" dirty="0" smtClean="0"/>
              <a:t> edilir. Bu sırada hata varsa açıklamaları ile listelenir.</a:t>
            </a:r>
            <a:endParaRPr lang="en-GB" sz="2000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355304" y="6603132"/>
            <a:ext cx="6264696" cy="204936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58000" y="6531124"/>
            <a:ext cx="2133600" cy="276944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13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3" y="2348880"/>
            <a:ext cx="8023801" cy="388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Görsel Bileşenler ve Özellikleri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1524000"/>
            <a:ext cx="8210872" cy="5007124"/>
          </a:xfrm>
        </p:spPr>
        <p:txBody>
          <a:bodyPr>
            <a:normAutofit/>
          </a:bodyPr>
          <a:lstStyle/>
          <a:p>
            <a:r>
              <a:rPr lang="tr-TR" sz="2000" dirty="0" smtClean="0"/>
              <a:t>C# Form </a:t>
            </a:r>
            <a:r>
              <a:rPr lang="tr-TR" sz="2000" dirty="0" err="1" smtClean="0"/>
              <a:t>uygulamalrında</a:t>
            </a:r>
            <a:r>
              <a:rPr lang="tr-TR" sz="2000" dirty="0" smtClean="0"/>
              <a:t> hazır sunulan çok sayıda nesne ve bunlara ait bileşenler (</a:t>
            </a:r>
            <a:r>
              <a:rPr lang="tr-TR" sz="2000" dirty="0" err="1" smtClean="0"/>
              <a:t>Properties</a:t>
            </a:r>
            <a:r>
              <a:rPr lang="tr-TR" sz="2000" dirty="0" smtClean="0"/>
              <a:t>, </a:t>
            </a:r>
            <a:r>
              <a:rPr lang="tr-TR" sz="2000" dirty="0" err="1" smtClean="0"/>
              <a:t>Events</a:t>
            </a:r>
            <a:r>
              <a:rPr lang="tr-TR" sz="2000" dirty="0" smtClean="0"/>
              <a:t> vs.) vardır. Bu bileşenlerin kullanım şekli ve özellikleri amacına uygun geliştirilmiştir. Belli başlı olanlar:</a:t>
            </a:r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smtClean="0"/>
              <a:t>Form</a:t>
            </a:r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MessageBox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Label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Button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RichTextBox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MaskedTextBox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CheckBox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RadioButton</a:t>
            </a:r>
            <a:endParaRPr lang="tr-TR" sz="2000" dirty="0" smtClean="0"/>
          </a:p>
          <a:p>
            <a:pPr marL="38862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ComboBox</a:t>
            </a:r>
            <a:endParaRPr lang="tr-TR" sz="2000" dirty="0" smtClean="0"/>
          </a:p>
          <a:p>
            <a:pPr marL="38862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1355304" y="6603132"/>
            <a:ext cx="6264696" cy="204936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858000" y="6531124"/>
            <a:ext cx="2133600" cy="276944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14</a:t>
            </a:fld>
            <a:endParaRPr lang="tr-TR" altLang="en-US" dirty="0"/>
          </a:p>
        </p:txBody>
      </p:sp>
      <p:sp>
        <p:nvSpPr>
          <p:cNvPr id="7" name="Metin kutusu 6"/>
          <p:cNvSpPr txBox="1"/>
          <p:nvPr/>
        </p:nvSpPr>
        <p:spPr>
          <a:xfrm>
            <a:off x="3481248" y="2492896"/>
            <a:ext cx="410445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GroupBox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smtClean="0"/>
              <a:t>Panel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ListBox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CheckedListBox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ListView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DataGridView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DataSet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ProgressBas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PictureBox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PrintDialog</a:t>
            </a:r>
            <a:endParaRPr lang="tr-TR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000" dirty="0" err="1" smtClean="0"/>
              <a:t>MonthCalender</a:t>
            </a:r>
            <a:r>
              <a:rPr lang="tr-TR" sz="2000" dirty="0" smtClean="0"/>
              <a:t> vs.</a:t>
            </a:r>
          </a:p>
          <a:p>
            <a:pPr marL="342900" indent="-342900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3213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 Özellikleri:</a:t>
            </a:r>
            <a:endParaRPr lang="en-GB" b="1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15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0" y="2093635"/>
            <a:ext cx="8576592" cy="42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9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 Olayları:</a:t>
            </a:r>
          </a:p>
          <a:p>
            <a:endParaRPr lang="tr-TR" b="1" dirty="0"/>
          </a:p>
          <a:p>
            <a:endParaRPr lang="tr-TR" b="1" dirty="0" smtClean="0"/>
          </a:p>
          <a:p>
            <a:endParaRPr lang="tr-TR" b="1" dirty="0"/>
          </a:p>
          <a:p>
            <a:endParaRPr lang="tr-TR" b="1" dirty="0" smtClean="0"/>
          </a:p>
          <a:p>
            <a:r>
              <a:rPr lang="tr-TR" b="1" dirty="0" smtClean="0"/>
              <a:t>Form Metotları</a:t>
            </a:r>
          </a:p>
          <a:p>
            <a:endParaRPr lang="en-GB" b="1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16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36" y="1988840"/>
            <a:ext cx="6346801" cy="20370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36" y="4528693"/>
            <a:ext cx="6553201" cy="146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8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Form1 _</a:t>
            </a:r>
            <a:r>
              <a:rPr lang="tr-TR" b="1" dirty="0" err="1" smtClean="0"/>
              <a:t>Load</a:t>
            </a:r>
            <a:r>
              <a:rPr lang="tr-TR" b="1" dirty="0" smtClean="0"/>
              <a:t> Olayı: </a:t>
            </a:r>
            <a:r>
              <a:rPr lang="tr-TR" dirty="0"/>
              <a:t>Program çalıştırılınca çalışır. Burada belirtilen görevler ilk çalıştırılır.</a:t>
            </a:r>
            <a:endParaRPr lang="en-GB" dirty="0"/>
          </a:p>
          <a:p>
            <a:endParaRPr lang="tr-TR" b="1" dirty="0" smtClean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17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44" y="2492896"/>
            <a:ext cx="4217390" cy="344276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834" y="2460888"/>
            <a:ext cx="3445524" cy="361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0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ControlBox</a:t>
            </a:r>
            <a:r>
              <a:rPr lang="tr-TR" dirty="0" smtClean="0"/>
              <a:t>, </a:t>
            </a:r>
            <a:r>
              <a:rPr lang="tr-TR" dirty="0" err="1" smtClean="0"/>
              <a:t>MinimizeBox</a:t>
            </a:r>
            <a:r>
              <a:rPr lang="tr-TR" dirty="0" smtClean="0"/>
              <a:t>, </a:t>
            </a:r>
            <a:r>
              <a:rPr lang="tr-TR" dirty="0" err="1" smtClean="0"/>
              <a:t>MaximizeBox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18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8" y="3658066"/>
            <a:ext cx="4604766" cy="280831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324" y="3810655"/>
            <a:ext cx="3962400" cy="24098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056383"/>
            <a:ext cx="6775475" cy="129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5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88024" y="1524000"/>
            <a:ext cx="4331920" cy="4411663"/>
          </a:xfrm>
        </p:spPr>
        <p:txBody>
          <a:bodyPr/>
          <a:lstStyle/>
          <a:p>
            <a:r>
              <a:rPr lang="tr-TR" dirty="0" err="1" smtClean="0"/>
              <a:t>Width</a:t>
            </a:r>
            <a:endParaRPr lang="tr-TR" dirty="0" smtClean="0"/>
          </a:p>
          <a:p>
            <a:r>
              <a:rPr lang="tr-TR" dirty="0" err="1" smtClean="0"/>
              <a:t>Height</a:t>
            </a:r>
            <a:endParaRPr lang="tr-TR" dirty="0" smtClean="0"/>
          </a:p>
          <a:p>
            <a:r>
              <a:rPr lang="tr-TR" dirty="0" err="1" smtClean="0"/>
              <a:t>Text</a:t>
            </a:r>
            <a:endParaRPr lang="tr-TR" dirty="0" smtClean="0"/>
          </a:p>
          <a:p>
            <a:r>
              <a:rPr lang="tr-TR" dirty="0" err="1" smtClean="0"/>
              <a:t>StartPosition</a:t>
            </a:r>
            <a:r>
              <a:rPr lang="tr-TR" dirty="0" smtClean="0"/>
              <a:t>: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Manuel, 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CenterScreen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	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CenterParent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smtClean="0"/>
              <a:t>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19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41296"/>
            <a:ext cx="41529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9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88024" y="1524000"/>
            <a:ext cx="4331920" cy="4411663"/>
          </a:xfrm>
        </p:spPr>
        <p:txBody>
          <a:bodyPr/>
          <a:lstStyle/>
          <a:p>
            <a:r>
              <a:rPr lang="tr-TR" dirty="0" smtClean="0"/>
              <a:t>Font: 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Name, Size,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Bold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Italic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smtClean="0"/>
              <a:t>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20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5" y="1607008"/>
            <a:ext cx="41814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771" y="4772592"/>
            <a:ext cx="4331920" cy="1968775"/>
          </a:xfrm>
        </p:spPr>
        <p:txBody>
          <a:bodyPr>
            <a:normAutofit fontScale="92500" lnSpcReduction="10000"/>
          </a:bodyPr>
          <a:lstStyle/>
          <a:p>
            <a:r>
              <a:rPr lang="tr-TR" dirty="0" err="1" smtClean="0"/>
              <a:t>BackgroundImage</a:t>
            </a:r>
            <a:r>
              <a:rPr lang="tr-TR" dirty="0" smtClean="0"/>
              <a:t>, </a:t>
            </a:r>
            <a:r>
              <a:rPr lang="tr-TR" dirty="0" err="1" smtClean="0"/>
              <a:t>BackColor</a:t>
            </a:r>
            <a:r>
              <a:rPr lang="tr-TR" dirty="0" smtClean="0"/>
              <a:t>,</a:t>
            </a:r>
            <a:endParaRPr lang="tr-TR" dirty="0"/>
          </a:p>
          <a:p>
            <a:r>
              <a:rPr lang="tr-TR" dirty="0" err="1" smtClean="0"/>
              <a:t>BackgroundImageLayout</a:t>
            </a:r>
            <a:r>
              <a:rPr lang="tr-TR" dirty="0" smtClean="0"/>
              <a:t>: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Tile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Center,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Zoom</a:t>
            </a:r>
            <a:r>
              <a:rPr lang="tr-T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Stretch</a:t>
            </a:r>
            <a:r>
              <a:rPr lang="tr-TR" dirty="0" smtClean="0"/>
              <a:t> vs.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21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" y="1700808"/>
            <a:ext cx="4815083" cy="292816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54" y="1700808"/>
            <a:ext cx="41243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Form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607009"/>
            <a:ext cx="7704856" cy="3910224"/>
          </a:xfrm>
        </p:spPr>
        <p:txBody>
          <a:bodyPr>
            <a:normAutofit/>
          </a:bodyPr>
          <a:lstStyle/>
          <a:p>
            <a:r>
              <a:rPr lang="tr-TR" b="1" dirty="0" smtClean="0"/>
              <a:t>Form</a:t>
            </a:r>
            <a:r>
              <a:rPr lang="tr-TR" dirty="0" smtClean="0"/>
              <a:t> nesnesinin </a:t>
            </a:r>
            <a:r>
              <a:rPr lang="tr-TR" dirty="0" err="1"/>
              <a:t>I</a:t>
            </a:r>
            <a:r>
              <a:rPr lang="tr-TR" dirty="0" err="1" smtClean="0"/>
              <a:t>con</a:t>
            </a:r>
            <a:r>
              <a:rPr lang="tr-TR" dirty="0" smtClean="0"/>
              <a:t>, </a:t>
            </a:r>
            <a:r>
              <a:rPr lang="tr-TR" dirty="0" err="1" smtClean="0"/>
              <a:t>Oppacity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</a:t>
            </a:r>
            <a:r>
              <a:rPr lang="tr-TR" dirty="0" err="1" smtClean="0"/>
              <a:t>property’leri</a:t>
            </a:r>
            <a:endParaRPr lang="tr-TR" dirty="0" smtClean="0"/>
          </a:p>
          <a:p>
            <a:r>
              <a:rPr lang="tr-TR" dirty="0"/>
              <a:t>v</a:t>
            </a:r>
            <a:r>
              <a:rPr lang="tr-TR" dirty="0" smtClean="0"/>
              <a:t>e </a:t>
            </a:r>
            <a:r>
              <a:rPr lang="tr-TR" dirty="0" err="1" smtClean="0"/>
              <a:t>Leave</a:t>
            </a:r>
            <a:r>
              <a:rPr lang="tr-TR" dirty="0" smtClean="0"/>
              <a:t>, </a:t>
            </a:r>
            <a:r>
              <a:rPr lang="tr-TR" dirty="0" err="1" smtClean="0"/>
              <a:t>Click</a:t>
            </a:r>
            <a:r>
              <a:rPr lang="tr-TR" dirty="0" smtClean="0"/>
              <a:t>, </a:t>
            </a:r>
            <a:r>
              <a:rPr lang="tr-TR" dirty="0" err="1" smtClean="0"/>
              <a:t>MouseClick</a:t>
            </a:r>
            <a:r>
              <a:rPr lang="tr-TR" dirty="0" smtClean="0"/>
              <a:t>, </a:t>
            </a:r>
            <a:r>
              <a:rPr lang="tr-TR" dirty="0" err="1" smtClean="0"/>
              <a:t>MouseDoubleClick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olayları vardır.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98574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Görsel </a:t>
            </a:r>
            <a:r>
              <a:rPr lang="tr-TR" dirty="0" smtClean="0"/>
              <a:t>Bileşenler: </a:t>
            </a:r>
            <a:r>
              <a:rPr lang="tr-TR" dirty="0" err="1" smtClean="0"/>
              <a:t>Label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7775" y="4081582"/>
            <a:ext cx="4172294" cy="2518198"/>
          </a:xfrm>
        </p:spPr>
        <p:txBody>
          <a:bodyPr>
            <a:normAutofit/>
          </a:bodyPr>
          <a:lstStyle/>
          <a:p>
            <a:r>
              <a:rPr lang="tr-TR" dirty="0" smtClean="0"/>
              <a:t>Name, </a:t>
            </a:r>
            <a:r>
              <a:rPr lang="tr-TR" dirty="0" err="1" smtClean="0"/>
              <a:t>Text</a:t>
            </a:r>
            <a:r>
              <a:rPr lang="tr-TR" dirty="0" smtClean="0"/>
              <a:t>, Font, </a:t>
            </a:r>
            <a:r>
              <a:rPr lang="tr-TR" dirty="0" err="1" smtClean="0"/>
              <a:t>ForeColor</a:t>
            </a:r>
            <a:r>
              <a:rPr lang="tr-TR" dirty="0" smtClean="0"/>
              <a:t>, Size, </a:t>
            </a:r>
            <a:r>
              <a:rPr lang="tr-TR" dirty="0" err="1" smtClean="0"/>
              <a:t>Bold</a:t>
            </a:r>
            <a:r>
              <a:rPr lang="tr-TR" dirty="0" smtClean="0"/>
              <a:t>, </a:t>
            </a:r>
            <a:r>
              <a:rPr lang="tr-TR" dirty="0" err="1" smtClean="0"/>
              <a:t>Italic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çok sayıda </a:t>
            </a:r>
            <a:r>
              <a:rPr lang="tr-TR" dirty="0" err="1" smtClean="0"/>
              <a:t>propoerty’si</a:t>
            </a:r>
            <a:r>
              <a:rPr lang="tr-TR" dirty="0" smtClean="0"/>
              <a:t> vardır.</a:t>
            </a:r>
            <a:endParaRPr lang="en-GB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>
          <a:xfrm>
            <a:off x="3995936" y="6588306"/>
            <a:ext cx="4688160" cy="252264"/>
          </a:xfrm>
        </p:spPr>
        <p:txBody>
          <a:bodyPr/>
          <a:lstStyle/>
          <a:p>
            <a:r>
              <a:rPr lang="tr-TR" dirty="0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6986344" y="650529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23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1607008"/>
            <a:ext cx="4230642" cy="247006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096" y="1607008"/>
            <a:ext cx="4191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Ödev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Bu ödevde sizden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ProgressBar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OpenFileDialog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ve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ListView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nesnelerini kullanarak bir C#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uygulaması geliştirmeniz istenmektedi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. Geliştireceğiniz uygulamanın amacı bir dosyayı bir dizinden bir diğerine kopyalamak olacaktır. Geliştireceğiniz uygulamada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gözat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butonuna tıklayarak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gözat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penceresi ile ilgili dosya seçildikten sonra, ikinci bir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gözat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ile kopyalanacak dizin seçilecektir. 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opyala butonuna basıldığında kopyalanacak dosya içerisindeki dosya/klasörlerin isimleri bir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ListBox’ta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listelenecek ve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ProgressBar’da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ilerleme durumu gösterilecektir.</a:t>
            </a:r>
          </a:p>
          <a:p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Son gönderim tarihi:02.05.2021 23:59:59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24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449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Proje Ödevi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Bu proje çalışmasında ekip çalışmasıyla bir proje gerçekleştirmeniz istenmektedir. Gruplar 5 kişilik olacak (Hocam ben tek başıma yapabilir miyim? YOK ve sonradan gruptan çıkmak veya başka gruba geçmek yok). Haftaya (04.05.2021 Salı) ders 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aatine kadar grubunuzu ve konunuzu belirlemeniz gerekmektedir. Hesap makinesi, Vücut Kitle Endeksi hesaplama gibi basit uygulamalar önermeyiniz. </a:t>
            </a:r>
            <a:r>
              <a:rPr lang="tr-TR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Güncel problemlere ve yenilikçi fikirlere ekstra puan verilecektir.</a:t>
            </a:r>
          </a:p>
          <a:p>
            <a:endParaRPr lang="tr-TR" u="sng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tr-TR" b="1" dirty="0">
                <a:latin typeface="Cambria" panose="02040503050406030204" pitchFamily="18" charset="0"/>
                <a:ea typeface="Cambria" panose="02040503050406030204" pitchFamily="18" charset="0"/>
              </a:rPr>
              <a:t>Amaç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: C# yetkinliğinizi ve ekip çalışma yeteneğinizi geliştirmek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tr-TR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tr-TR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Teslim Şekli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: Projenin amacını, hedefini, kodlarını içeren bir rapor (internetten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copy-paste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yapanlar 0 alacaktır) hazırlanacak ve son hafta gruplar projelerini sunacaktır (Sunum için kesin tarih sonra açıklanacaktır).  </a:t>
            </a:r>
          </a:p>
          <a:p>
            <a:endParaRPr lang="tr-TR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tr-TR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Teslim Tarihi: 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04.06.2021 23:59:59</a:t>
            </a:r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64342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BF7E1A-4726-4A4D-936E-1547410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Arial" panose="020B0604020202020204" pitchFamily="34" charset="0"/>
              </a:rPr>
              <a:t>Teşekkürler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8CE1-DD55-4A43-A479-EF83A2DC3985}" type="slidenum">
              <a:rPr lang="tr-TR" altLang="en-US" smtClean="0"/>
              <a:pPr/>
              <a:t>26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571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tış eğitimi sunusu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_26714067_TF02819076" id="{E31F1C6B-7E02-4139-9FF8-9E6BFA94BC44}" vid="{1FD1549A-4032-4B7C-9579-369478E37A3B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Satış eğitimi slaytları</Template>
  <TotalTime>10619</TotalTime>
  <Words>899</Words>
  <Application>Microsoft Office PowerPoint</Application>
  <PresentationFormat>Ekran Gösterisi (4:3)</PresentationFormat>
  <Paragraphs>189</Paragraphs>
  <Slides>26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2" baseType="lpstr">
      <vt:lpstr>Arial</vt:lpstr>
      <vt:lpstr>Cambria</vt:lpstr>
      <vt:lpstr>Courier New</vt:lpstr>
      <vt:lpstr>Haettenschweiler</vt:lpstr>
      <vt:lpstr>Wingdings</vt:lpstr>
      <vt:lpstr>Satış eğitimi sunusu</vt:lpstr>
      <vt:lpstr>BM201 Görsel  Programlamaya Giriş</vt:lpstr>
      <vt:lpstr>Yeni Form Projesi Oluşturma</vt:lpstr>
      <vt:lpstr>Yeni Form Projesi Oluşturma</vt:lpstr>
      <vt:lpstr>Form Geliştirme Ortamı</vt:lpstr>
      <vt:lpstr>Solution Explorer (Çözüm Gezgini)</vt:lpstr>
      <vt:lpstr>Toolbox</vt:lpstr>
      <vt:lpstr>Özellikler Penceresi</vt:lpstr>
      <vt:lpstr>Özellikler Penceresi</vt:lpstr>
      <vt:lpstr>Özellikler Penceresi</vt:lpstr>
      <vt:lpstr>Form Kodlarına Ulaşma</vt:lpstr>
      <vt:lpstr>Form Kodlarına Ulaşma</vt:lpstr>
      <vt:lpstr>Kodun Çalıştırılması</vt:lpstr>
      <vt:lpstr>Derleme ve Hata Bulma</vt:lpstr>
      <vt:lpstr>Görsel Bileşenler ve Özellikleri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Form</vt:lpstr>
      <vt:lpstr>Görsel Bileşenler: Label</vt:lpstr>
      <vt:lpstr>Ödev</vt:lpstr>
      <vt:lpstr>Proje Ödevi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BM108 Bilgisayar Mühendisliğine Giriş</dc:title>
  <dc:creator>user</dc:creator>
  <cp:lastModifiedBy>user</cp:lastModifiedBy>
  <cp:revision>727</cp:revision>
  <dcterms:created xsi:type="dcterms:W3CDTF">2020-10-09T08:01:48Z</dcterms:created>
  <dcterms:modified xsi:type="dcterms:W3CDTF">2021-04-27T09:35:15Z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