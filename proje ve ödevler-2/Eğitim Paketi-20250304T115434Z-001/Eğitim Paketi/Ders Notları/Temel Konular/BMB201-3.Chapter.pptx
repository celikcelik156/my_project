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2" r:id="rId1"/>
  </p:sldMasterIdLst>
  <p:notesMasterIdLst>
    <p:notesMasterId r:id="rId28"/>
  </p:notesMasterIdLst>
  <p:handoutMasterIdLst>
    <p:handoutMasterId r:id="rId29"/>
  </p:handoutMasterIdLst>
  <p:sldIdLst>
    <p:sldId id="269" r:id="rId2"/>
    <p:sldId id="271" r:id="rId3"/>
    <p:sldId id="282" r:id="rId4"/>
    <p:sldId id="286" r:id="rId5"/>
    <p:sldId id="287" r:id="rId6"/>
    <p:sldId id="339" r:id="rId7"/>
    <p:sldId id="341" r:id="rId8"/>
    <p:sldId id="342" r:id="rId9"/>
    <p:sldId id="340" r:id="rId10"/>
    <p:sldId id="337" r:id="rId11"/>
    <p:sldId id="350" r:id="rId12"/>
    <p:sldId id="351" r:id="rId13"/>
    <p:sldId id="288" r:id="rId14"/>
    <p:sldId id="353" r:id="rId15"/>
    <p:sldId id="356" r:id="rId16"/>
    <p:sldId id="352" r:id="rId17"/>
    <p:sldId id="345" r:id="rId18"/>
    <p:sldId id="346" r:id="rId19"/>
    <p:sldId id="343" r:id="rId20"/>
    <p:sldId id="344" r:id="rId21"/>
    <p:sldId id="347" r:id="rId22"/>
    <p:sldId id="349" r:id="rId23"/>
    <p:sldId id="354" r:id="rId24"/>
    <p:sldId id="355" r:id="rId25"/>
    <p:sldId id="348" r:id="rId26"/>
    <p:sldId id="281" r:id="rId27"/>
  </p:sldIdLst>
  <p:sldSz cx="9144000" cy="6858000" type="screen4x3"/>
  <p:notesSz cx="7010400" cy="9296400"/>
  <p:defaultTextStyle>
    <a:defPPr rtl="0">
      <a:defRPr lang="tr-tr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4" clrIdx="0">
    <p:extLst>
      <p:ext uri="{19B8F6BF-5375-455C-9EA6-DF929625EA0E}">
        <p15:presenceInfo xmlns:p15="http://schemas.microsoft.com/office/powerpoint/2012/main" userId="1fc7fc7521ad5d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3611"/>
    <a:srgbClr val="A44114"/>
    <a:srgbClr val="F3B99F"/>
    <a:srgbClr val="B94917"/>
    <a:srgbClr val="FF6600"/>
    <a:srgbClr val="000066"/>
    <a:srgbClr val="00002C"/>
    <a:srgbClr val="C4E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Açık Stil 1 - Vurgu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7292A2E-F333-43FB-9621-5CBBE7FDCDCB}" styleName="Açık Stil 2 - Vurgu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01" autoAdjust="0"/>
    <p:restoredTop sz="97155" autoAdjust="0"/>
  </p:normalViewPr>
  <p:slideViewPr>
    <p:cSldViewPr>
      <p:cViewPr>
        <p:scale>
          <a:sx n="125" d="100"/>
          <a:sy n="125" d="100"/>
        </p:scale>
        <p:origin x="264" y="-7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296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undo custSel modSld modNotesMaster">
      <pc:chgData name="Fake Test User" userId="SID-0" providerId="Test" clId="FakeClientId" dt="2018-12-04T05:43:13.074" v="7" actId="790"/>
      <pc:docMkLst>
        <pc:docMk/>
      </pc:docMkLst>
      <pc:sldChg chg="modSp">
        <pc:chgData name="Fake Test User" userId="SID-0" providerId="Test" clId="FakeClientId" dt="2018-12-04T05:39:21.983" v="1" actId="6549"/>
        <pc:sldMkLst>
          <pc:docMk/>
          <pc:sldMk cId="3733441278" sldId="271"/>
        </pc:sldMkLst>
        <pc:spChg chg="mod">
          <ac:chgData name="Fake Test User" userId="SID-0" providerId="Test" clId="FakeClientId" dt="2018-12-04T05:39:21.983" v="1" actId="6549"/>
          <ac:spMkLst>
            <pc:docMk/>
            <pc:sldMk cId="3733441278" sldId="271"/>
            <ac:spMk id="3" creationId="{138AFC74-2DAB-4FF2-A66B-288CACB8B844}"/>
          </ac:spMkLst>
        </pc:spChg>
      </pc:sldChg>
      <pc:sldChg chg="modSp">
        <pc:chgData name="Fake Test User" userId="SID-0" providerId="Test" clId="FakeClientId" dt="2018-12-04T05:41:53.817" v="6" actId="27636"/>
        <pc:sldMkLst>
          <pc:docMk/>
          <pc:sldMk cId="2525023481" sldId="277"/>
        </pc:sldMkLst>
        <pc:spChg chg="mod">
          <ac:chgData name="Fake Test User" userId="SID-0" providerId="Test" clId="FakeClientId" dt="2018-12-04T05:41:53.817" v="6" actId="27636"/>
          <ac:spMkLst>
            <pc:docMk/>
            <pc:sldMk cId="2525023481" sldId="277"/>
            <ac:spMk id="3" creationId="{CF66EF10-C287-4341-AD3D-9B48C2895A59}"/>
          </ac:spMkLst>
        </pc:spChg>
      </pc:sldChg>
      <pc:sldChg chg="modSp">
        <pc:chgData name="Fake Test User" userId="SID-0" providerId="Test" clId="FakeClientId" dt="2018-12-04T05:40:40.727" v="5" actId="20577"/>
        <pc:sldMkLst>
          <pc:docMk/>
          <pc:sldMk cId="2321117250" sldId="278"/>
        </pc:sldMkLst>
        <pc:spChg chg="mod">
          <ac:chgData name="Fake Test User" userId="SID-0" providerId="Test" clId="FakeClientId" dt="2018-12-04T05:40:40.727" v="5" actId="20577"/>
          <ac:spMkLst>
            <pc:docMk/>
            <pc:sldMk cId="2321117250" sldId="278"/>
            <ac:spMk id="3" creationId="{D1E1198F-DBE4-4470-AE42-7DC4BC96CAD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Dikdörtgen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19" name="Dikdörtgen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fld id="{8EB1AC0F-E286-44A1-8E5A-20BC1E627360}" type="datetime1">
              <a:rPr lang="tr-TR" smtClean="0">
                <a:latin typeface="Arial" panose="020B0604020202020204" pitchFamily="34" charset="0"/>
              </a:rPr>
              <a:t>04.03.2024</a:t>
            </a:fld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20" name="Dikdörtgen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21" name="Dikdörtgen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fld id="{F0B6EC5B-DE15-4B62-9DC0-DE1BD893DD16}" type="slidenum">
              <a:rPr lang="tr-TR" smtClean="0">
                <a:latin typeface="Arial" panose="020B0604020202020204" pitchFamily="34" charset="0"/>
              </a:rPr>
              <a:pPr/>
              <a:t>‹#›</a:t>
            </a:fld>
            <a:endParaRPr lang="tr-T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8682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ikdörtgen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tr-TR" noProof="0"/>
          </a:p>
        </p:txBody>
      </p:sp>
      <p:sp>
        <p:nvSpPr>
          <p:cNvPr id="26627" name="Dikdörtgen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8B2142ED-62CF-4BE7-A720-C948E8939493}" type="datetime1">
              <a:rPr lang="tr-TR" noProof="0" smtClean="0"/>
              <a:t>04.03.2024</a:t>
            </a:fld>
            <a:endParaRPr lang="tr-TR" noProof="0"/>
          </a:p>
        </p:txBody>
      </p:sp>
      <p:sp>
        <p:nvSpPr>
          <p:cNvPr id="26628" name="Dikdörtgen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Dikdörtgen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26630" name="Dikdörtgen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tr-TR" noProof="0"/>
          </a:p>
        </p:txBody>
      </p:sp>
      <p:sp>
        <p:nvSpPr>
          <p:cNvPr id="26631" name="Dikdörtgen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823FACB9-4E35-4CB3-835A-2EBF55FAEDE3}" type="slidenum">
              <a:rPr lang="tr-TR" noProof="0" smtClean="0"/>
              <a:pPr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9718694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FACB9-4E35-4CB3-835A-2EBF55FAEDE3}" type="slidenum">
              <a:rPr lang="tr-TR" smtClean="0"/>
              <a:pPr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05594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FACB9-4E35-4CB3-835A-2EBF55FAEDE3}" type="slidenum">
              <a:rPr lang="tr-TR" smtClean="0"/>
              <a:pPr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0608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FACB9-4E35-4CB3-835A-2EBF55FAEDE3}" type="slidenum">
              <a:rPr lang="tr-TR" smtClean="0"/>
              <a:pPr/>
              <a:t>26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5719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Çizgi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grpSp>
        <p:nvGrpSpPr>
          <p:cNvPr id="47112" name="Gr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7113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4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5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6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7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8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9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0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1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2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3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4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5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6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7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8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9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0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1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2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3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4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5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6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7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8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9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0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1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2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3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</p:grpSp>
      <p:sp>
        <p:nvSpPr>
          <p:cNvPr id="47144" name="Çizgi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47107" name="Başlık Yer Tutucusu 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15913" y="466725"/>
            <a:ext cx="6781800" cy="2133600"/>
          </a:xfrm>
        </p:spPr>
        <p:txBody>
          <a:bodyPr rtlCol="0"/>
          <a:lstStyle>
            <a:lvl1pPr algn="r">
              <a:defRPr sz="4400">
                <a:latin typeface="Arial" panose="020B0604020202020204" pitchFamily="34" charset="0"/>
              </a:defRPr>
            </a:lvl1pPr>
          </a:lstStyle>
          <a:p>
            <a:pPr lvl="0"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47108" name="Metin Yer Tutucusu 2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849313" y="3049588"/>
            <a:ext cx="6248400" cy="2362200"/>
          </a:xfrm>
        </p:spPr>
        <p:txBody>
          <a:bodyPr rtlCol="0"/>
          <a:lstStyle>
            <a:lvl1pPr marL="0" indent="0" algn="r">
              <a:buFontTx/>
              <a:buNone/>
              <a:defRPr sz="2900">
                <a:latin typeface="Arial" panose="020B0604020202020204" pitchFamily="34" charset="0"/>
              </a:defRPr>
            </a:lvl1pPr>
          </a:lstStyle>
          <a:p>
            <a:pPr lvl="0" rtl="0"/>
            <a:r>
              <a:rPr lang="tr-TR" noProof="0"/>
              <a:t>Asıl alt başlık stilini düzenlemek için tıklatın</a:t>
            </a:r>
            <a:endParaRPr lang="tr-TR" noProof="0" dirty="0"/>
          </a:p>
        </p:txBody>
      </p:sp>
      <p:sp>
        <p:nvSpPr>
          <p:cNvPr id="47109" name="Tarih Yer Tutucusu 3"/>
          <p:cNvSpPr>
            <a:spLocks noGrp="1" noChangeArrowheads="1"/>
          </p:cNvSpPr>
          <p:nvPr>
            <p:ph type="dt" sz="half" idx="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6E4DA47A-E178-47C6-957C-5C8A574CF14A}" type="datetime1">
              <a:rPr lang="tr-TR" altLang="en-US" smtClean="0"/>
              <a:t>04.03.2024</a:t>
            </a:fld>
            <a:endParaRPr lang="tr-TR" altLang="en-US" dirty="0"/>
          </a:p>
        </p:txBody>
      </p:sp>
      <p:sp>
        <p:nvSpPr>
          <p:cNvPr id="47110" name="Alt Bilgi Yer Tutucusu 4"/>
          <p:cNvSpPr>
            <a:spLocks noGrp="1" noChangeArrowheads="1"/>
          </p:cNvSpPr>
          <p:nvPr>
            <p:ph type="ftr" sz="quarter" idx="3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47111" name="Slayt Numarası Yer Tutucusu 5"/>
          <p:cNvSpPr>
            <a:spLocks noGrp="1" noChangeArrowheads="1"/>
          </p:cNvSpPr>
          <p:nvPr>
            <p:ph type="sldNum" sz="quarter" idx="4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945280F-DE53-48B1-9FB9-96A39916642A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ABA82BB-27B0-4E74-BE3A-6182D4BDFFF8}" type="datetime1">
              <a:rPr lang="tr-TR" altLang="en-US" smtClean="0"/>
              <a:t>04.03.2024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71C6F290-D301-4864-9490-340EF11588D9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03607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rtlCol="0" anchor="t"/>
          <a:lstStyle>
            <a:lvl1pPr algn="l">
              <a:defRPr sz="4000" b="1" cap="all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rtlCol="0" anchor="b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B25015F-A951-49B0-B508-28EBA635A12D}" type="datetime1">
              <a:rPr lang="tr-TR" altLang="en-US" smtClean="0"/>
              <a:t>04.03.2024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D0208CE1-DD55-4A43-A479-EF83A2DC398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62197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 hasCustomPrompt="1"/>
          </p:nvPr>
        </p:nvSpPr>
        <p:spPr>
          <a:xfrm>
            <a:off x="1143000" y="1524000"/>
            <a:ext cx="3619500" cy="4411663"/>
          </a:xfrm>
        </p:spPr>
        <p:txBody>
          <a:bodyPr rtlCol="0"/>
          <a:lstStyle>
            <a:lvl1pPr marL="45720" indent="0">
              <a:buFontTx/>
              <a:buNone/>
              <a:defRPr sz="2800">
                <a:latin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4914900" y="1524000"/>
            <a:ext cx="3619500" cy="4411663"/>
          </a:xfrm>
        </p:spPr>
        <p:txBody>
          <a:bodyPr rtlCol="0"/>
          <a:lstStyle>
            <a:lvl1pPr marL="45720" indent="0">
              <a:buFontTx/>
              <a:buNone/>
              <a:defRPr sz="2800">
                <a:latin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838651B3-C06A-4DB8-9B86-EE9A06EB1686}" type="datetime1">
              <a:rPr lang="tr-TR" altLang="en-US" smtClean="0"/>
              <a:t>04.03.2024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927AF89-6755-46F5-BBCF-E571D7F311A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03735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rtlCol="0" anchor="b"/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 rtlCol="0"/>
          <a:lstStyle>
            <a:lvl1pPr marL="45720" indent="0">
              <a:buFontTx/>
              <a:buNone/>
              <a:defRPr sz="2400">
                <a:latin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rtlCol="0" anchor="b"/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 rtlCol="0"/>
          <a:lstStyle>
            <a:lvl1pPr marL="45720" indent="0">
              <a:buFontTx/>
              <a:buNone/>
              <a:defRPr sz="2400">
                <a:latin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7" name="Tarih Yer Tutucusu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A8342BDE-81B1-4706-BA40-C213250F8A97}" type="datetime1">
              <a:rPr lang="tr-TR" altLang="en-US" smtClean="0"/>
              <a:t>04.03.2024</a:t>
            </a:fld>
            <a:endParaRPr lang="tr-TR" altLang="en-US" dirty="0"/>
          </a:p>
        </p:txBody>
      </p:sp>
      <p:sp>
        <p:nvSpPr>
          <p:cNvPr id="8" name="Alt Bilgi Yer Tutucusu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F76BE3C0-1208-4260-82C3-0EB04002719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39325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2BC3C9F-7E22-400E-8A2B-8FB0E30EB41F}" type="datetime1">
              <a:rPr lang="tr-TR" altLang="en-US" smtClean="0"/>
              <a:t>04.03.2024</a:t>
            </a:fld>
            <a:endParaRPr lang="tr-TR" altLang="en-US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D5F02DF6-5EF1-449D-8E8F-F40E7D2FCBCB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8673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EE45D13-EAC8-40B6-9D8A-717416E4E6C9}" type="datetime1">
              <a:rPr lang="tr-TR" altLang="en-US" smtClean="0"/>
              <a:t>04.03.2024</a:t>
            </a:fld>
            <a:endParaRPr lang="tr-TR" altLang="en-US" dirty="0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AC3460AA-1533-4548-8781-A6D0EAE276D6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25109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rtlCol="0"/>
          <a:lstStyle>
            <a:lvl1pPr algn="l">
              <a:defRPr sz="2000" b="1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 rtlCol="0"/>
          <a:lstStyle>
            <a:lvl1pPr marL="45720" indent="0">
              <a:buFontTx/>
              <a:buNone/>
              <a:defRPr sz="3200">
                <a:latin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 rtlCol="0"/>
          <a:lstStyle>
            <a:lvl1pPr marL="0" indent="0">
              <a:buNone/>
              <a:defRPr sz="1400">
                <a:latin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12130E0B-9CBE-4DBD-9C9C-6411A8276026}" type="datetime1">
              <a:rPr lang="tr-TR" altLang="en-US" smtClean="0"/>
              <a:t>04.03.2024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6386842-FEC9-453F-B6F7-7C945F3A2D73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53092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rtlCol="0"/>
          <a:lstStyle>
            <a:lvl1pPr algn="l">
              <a:defRPr sz="2000" b="1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 rtlCol="0"/>
          <a:lstStyle>
            <a:lvl1pPr marL="0" indent="0">
              <a:buNone/>
              <a:defRPr sz="3200">
                <a:latin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tr-TR"/>
              <a:t>Resim eklemek için simgeye tıklayın</a:t>
            </a:r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 rtlCol="0"/>
          <a:lstStyle>
            <a:lvl1pPr marL="0" indent="0">
              <a:buNone/>
              <a:defRPr sz="1400">
                <a:latin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FD45A49D-D59C-4043-BFE4-3F91EBD2EAE0}" type="datetime1">
              <a:rPr lang="tr-TR" altLang="en-US" smtClean="0"/>
              <a:t>04.03.2024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96DA581-ADE3-4A40-91CB-711A776CAC29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91156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6C70543-142E-47BD-9F7A-114C2D10A1C1}" type="datetime1">
              <a:rPr lang="tr-TR" altLang="en-US" smtClean="0"/>
              <a:t>04.03.2024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872E90EB-6CA4-453F-8712-C339590DE034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411312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6457950" y="228600"/>
            <a:ext cx="2076450" cy="5707063"/>
          </a:xfrm>
        </p:spPr>
        <p:txBody>
          <a:bodyPr vert="eaVert"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228600" y="228600"/>
            <a:ext cx="6076950" cy="5707063"/>
          </a:xfrm>
        </p:spPr>
        <p:txBody>
          <a:bodyPr vert="eaVert"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038A33F-6BB9-4C64-B05E-81B73C45F6B7}" type="datetime1">
              <a:rPr lang="tr-TR" altLang="en-US" smtClean="0"/>
              <a:t>04.03.2024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26D251BA-4196-46F7-BF5E-DE37F6712AD1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2517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Çizgi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grpSp>
        <p:nvGrpSpPr>
          <p:cNvPr id="46088" name="Gr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4608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</p:grpSp>
      <p:sp>
        <p:nvSpPr>
          <p:cNvPr id="46083" name="Başlık Yer Tutucusu 1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7696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lvl="0"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46084" name="Metin Yer Tutucusu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1524000"/>
            <a:ext cx="7391400" cy="441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</a:p>
          <a:p>
            <a:pPr lvl="8" rtl="0"/>
            <a:endParaRPr lang="tr-TR" altLang="en-US"/>
          </a:p>
          <a:p>
            <a:pPr lvl="8" rtl="0"/>
            <a:endParaRPr lang="tr-TR" altLang="en-US" dirty="0"/>
          </a:p>
        </p:txBody>
      </p:sp>
      <p:sp>
        <p:nvSpPr>
          <p:cNvPr id="46085" name="Tarih Yer Tutucusu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fld id="{322246E8-490E-476E-B1A5-1D98C583C7E1}" type="datetime1">
              <a:rPr lang="tr-TR" altLang="en-US" smtClean="0"/>
              <a:t>04.03.2024</a:t>
            </a:fld>
            <a:endParaRPr lang="tr-TR" altLang="en-US" dirty="0"/>
          </a:p>
        </p:txBody>
      </p:sp>
      <p:sp>
        <p:nvSpPr>
          <p:cNvPr id="46086" name="Alt Bilgi Yer Tutucusu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46087" name="Slayt Numarası Yer Tutucusu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fld id="{D7E5119E-5338-4B55-81DC-57EAC9440FD0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45720" indent="0" algn="l" rtl="0" eaLnBrk="1" fontAlgn="base" hangingPunct="1">
        <a:spcBef>
          <a:spcPct val="25000"/>
        </a:spcBef>
        <a:spcAft>
          <a:spcPct val="0"/>
        </a:spcAft>
        <a:buClr>
          <a:schemeClr val="tx2"/>
        </a:buClr>
        <a:buSzPct val="120000"/>
        <a:buFontTx/>
        <a:buNone/>
        <a:defRPr sz="27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92150" indent="-347663" algn="l" rtl="0" eaLnBrk="1" fontAlgn="base" hangingPunct="1">
        <a:spcBef>
          <a:spcPct val="0"/>
        </a:spcBef>
        <a:spcAft>
          <a:spcPct val="25000"/>
        </a:spcAft>
        <a:buClr>
          <a:schemeClr val="accent2">
            <a:lumMod val="75000"/>
          </a:schemeClr>
        </a:buClr>
        <a:buSzPct val="55000"/>
        <a:buFont typeface="Wingdings" pitchFamily="2" charset="2"/>
        <a:buChar char="l"/>
        <a:defRPr sz="2400">
          <a:solidFill>
            <a:schemeClr val="tx1"/>
          </a:solidFill>
          <a:latin typeface="Arial" panose="020B0604020202020204" pitchFamily="34" charset="0"/>
        </a:defRPr>
      </a:lvl2pPr>
      <a:lvl3pPr marL="987425" indent="-293688" algn="l" rtl="0" eaLnBrk="1" fontAlgn="base" hangingPunct="1">
        <a:spcBef>
          <a:spcPct val="0"/>
        </a:spcBef>
        <a:spcAft>
          <a:spcPct val="25000"/>
        </a:spcAft>
        <a:buClr>
          <a:schemeClr val="accent1">
            <a:lumMod val="50000"/>
          </a:schemeClr>
        </a:buClr>
        <a:buSzPct val="50000"/>
        <a:buFont typeface="Wingdings" pitchFamily="2" charset="2"/>
        <a:buChar char="l"/>
        <a:defRPr sz="2200">
          <a:solidFill>
            <a:schemeClr val="tx1"/>
          </a:solidFill>
          <a:latin typeface="Arial" panose="020B0604020202020204" pitchFamily="34" charset="0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>
            <a:lumMod val="75000"/>
          </a:schemeClr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5pPr>
      <a:lvl6pPr marL="1920240" indent="-315913" algn="l" rtl="0" eaLnBrk="1" fontAlgn="base" hangingPunct="1">
        <a:spcBef>
          <a:spcPct val="20000"/>
        </a:spcBef>
        <a:spcAft>
          <a:spcPct val="0"/>
        </a:spcAft>
        <a:buClr>
          <a:schemeClr val="accent6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240280" indent="-315913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651760" indent="-315913" algn="l" rtl="0" eaLnBrk="1" fontAlgn="base" hangingPunct="1">
        <a:spcBef>
          <a:spcPct val="20000"/>
        </a:spcBef>
        <a:spcAft>
          <a:spcPct val="0"/>
        </a:spcAft>
        <a:buClr>
          <a:schemeClr val="bg2">
            <a:lumMod val="75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108960" indent="-315913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70486D98-0B9B-4C4E-A25F-64BA4C5DB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BM201</a:t>
            </a:r>
            <a:r>
              <a:rPr lang="tr-TR" dirty="0" smtClean="0">
                <a:latin typeface="Arial" panose="020B0604020202020204" pitchFamily="34" charset="0"/>
              </a:rPr>
              <a:t/>
            </a:r>
            <a:br>
              <a:rPr lang="tr-TR" dirty="0" smtClean="0">
                <a:latin typeface="Arial" panose="020B0604020202020204" pitchFamily="34" charset="0"/>
              </a:rPr>
            </a:br>
            <a:r>
              <a:rPr lang="tr-TR" dirty="0" smtClean="0"/>
              <a:t>Görsel </a:t>
            </a:r>
            <a:br>
              <a:rPr lang="tr-TR" dirty="0" smtClean="0"/>
            </a:br>
            <a:r>
              <a:rPr lang="tr-TR" dirty="0" smtClean="0"/>
              <a:t>Programlamaya Giriş</a:t>
            </a:r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5" name="Alt Başlık 4">
            <a:extLst>
              <a:ext uri="{FF2B5EF4-FFF2-40B4-BE49-F238E27FC236}">
                <a16:creationId xmlns:a16="http://schemas.microsoft.com/office/drawing/2014/main" id="{D655BBED-E65C-4B70-99E3-9318D4F2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9313" y="3049588"/>
            <a:ext cx="6248400" cy="3259732"/>
          </a:xfrm>
        </p:spPr>
        <p:txBody>
          <a:bodyPr rtlCol="0"/>
          <a:lstStyle/>
          <a:p>
            <a:r>
              <a:rPr lang="tr-TR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</a:t>
            </a:r>
            <a:r>
              <a:rPr lang="tr-T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</a:t>
            </a:r>
            <a:r>
              <a:rPr lang="tr-TR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:</a:t>
            </a:r>
            <a:r>
              <a:rPr lang="tr-TR" dirty="0" smtClean="0">
                <a:latin typeface="Arial" panose="020B0604020202020204" pitchFamily="34" charset="0"/>
              </a:rPr>
              <a:t> </a:t>
            </a:r>
            <a:r>
              <a:rPr lang="tr-T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Kontrol Yapıları ve Döngüler</a:t>
            </a:r>
            <a:endParaRPr lang="tr-TR" dirty="0" smtClean="0">
              <a:latin typeface="Arial" panose="020B0604020202020204" pitchFamily="34" charset="0"/>
            </a:endParaRPr>
          </a:p>
          <a:p>
            <a:endParaRPr lang="tr-TR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ettenschweiler" panose="020B0706040902060204" pitchFamily="34" charset="0"/>
            </a:endParaRPr>
          </a:p>
          <a:p>
            <a:r>
              <a:rPr lang="tr-T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Doç. Dr. Cemal Aktürk</a:t>
            </a:r>
            <a:endParaRPr lang="tr-T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ettenschweiler" panose="020B0706040902060204" pitchFamily="34" charset="0"/>
            </a:endParaRPr>
          </a:p>
          <a:p>
            <a:r>
              <a:rPr lang="tr-T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Bilgisayar Mühendisliği Bölümü</a:t>
            </a:r>
          </a:p>
          <a:p>
            <a:r>
              <a:rPr lang="tr-T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GİBTÜ</a:t>
            </a:r>
          </a:p>
        </p:txBody>
      </p:sp>
      <p:pic>
        <p:nvPicPr>
          <p:cNvPr id="6" name="Picture 2" descr="Gaziantep İslam Bilim ve Teknoloji Üniversites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196752"/>
            <a:ext cx="1512168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48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E83800-1E6B-4A93-87D3-3D70E59B3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Amaç</a:t>
            </a:r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8AFC74-2DAB-4FF2-A66B-288CACB8B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5073352"/>
          </a:xfrm>
        </p:spPr>
        <p:txBody>
          <a:bodyPr rtlCol="0">
            <a:norm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Programlamada sıkça kullanılan kontrol ve döngü yapılarını öğrenmek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>
                <a:latin typeface="Arial" panose="020B0604020202020204" pitchFamily="34" charset="0"/>
              </a:rPr>
              <a:t>Yapılabilecek işlemlerden doğru olanı seçmek amacıyla </a:t>
            </a:r>
            <a:r>
              <a:rPr lang="tr-TR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if</a:t>
            </a: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tr-TR" dirty="0"/>
              <a:t>ve</a:t>
            </a: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tr-TR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if</a:t>
            </a: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-else </a:t>
            </a:r>
            <a:r>
              <a:rPr lang="tr-TR" dirty="0" smtClean="0">
                <a:latin typeface="Arial" panose="020B0604020202020204" pitchFamily="34" charset="0"/>
              </a:rPr>
              <a:t>yapısını anlamak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tr-T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tr-TR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foreach</a:t>
            </a: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tr-TR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tr-T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do-</a:t>
            </a:r>
            <a:r>
              <a:rPr lang="tr-T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tr-T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dirty="0" smtClean="0"/>
              <a:t>ve </a:t>
            </a:r>
            <a:r>
              <a:rPr lang="tr-T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tr-TR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witch-case</a:t>
            </a:r>
            <a:r>
              <a:rPr lang="tr-TR" dirty="0" smtClean="0"/>
              <a:t> yapılarını öğrenmek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>
                <a:latin typeface="Arial" panose="020B0604020202020204" pitchFamily="34" charset="0"/>
              </a:rPr>
              <a:t>Azaltma ve arttırma operatörlerini kullanmak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tr-TR" altLang="en-US" dirty="0" smtClean="0"/>
          </a:p>
          <a:p>
            <a:endParaRPr lang="tr-TR" altLang="en-US" dirty="0"/>
          </a:p>
          <a:p>
            <a:fld id="{71C6F290-D301-4864-9490-340EF11588D9}" type="slidenum">
              <a:rPr lang="tr-TR" altLang="en-US" smtClean="0"/>
              <a:pPr/>
              <a:t>2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733441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 Kontrol Yapısı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Programlama dilleri genellikle </a:t>
            </a:r>
            <a:r>
              <a:rPr lang="tr-TR" b="1" i="1" dirty="0" err="1" smtClean="0"/>
              <a:t>sequential</a:t>
            </a:r>
            <a:r>
              <a:rPr lang="tr-TR" dirty="0" err="1" smtClean="0"/>
              <a:t>’dır</a:t>
            </a:r>
            <a:r>
              <a:rPr lang="tr-TR" dirty="0" smtClean="0"/>
              <a:t>. Yani yapılacak işlemler sıralıdır.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Bazen duruma göre sıranın değişmesi veya yapılan işlemin değişmesi gerekebilir. 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1960larda </a:t>
            </a:r>
            <a:r>
              <a:rPr lang="en-GB" b="1" i="1" dirty="0" err="1"/>
              <a:t>goto</a:t>
            </a:r>
            <a:r>
              <a:rPr lang="en-GB" b="1" i="1" dirty="0"/>
              <a:t> </a:t>
            </a:r>
            <a:r>
              <a:rPr lang="en-GB" i="1" dirty="0" smtClean="0"/>
              <a:t>statement</a:t>
            </a:r>
            <a:r>
              <a:rPr lang="tr-TR" i="1" dirty="0" smtClean="0"/>
              <a:t> </a:t>
            </a:r>
            <a:r>
              <a:rPr lang="tr-TR" dirty="0" smtClean="0"/>
              <a:t>yapısı kullanılmaya başlanmış ama çok kullanışlı değildir.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Daha kullanışlı, basit ve esnek yapılara ihtiyaç vardı.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3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401480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tr-TR" dirty="0" smtClean="0"/>
              <a:t> Kontrol Yapısı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tr-TR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tr-TR" dirty="0" smtClean="0"/>
              <a:t> yapısı bir şarta bağlı olarak yapılacak iş/işlemler olması durumunda kullanılır. Yani koşul sağlanıyorsa (</a:t>
            </a:r>
            <a:r>
              <a:rPr lang="tr-TR" dirty="0" err="1" smtClean="0"/>
              <a:t>true</a:t>
            </a:r>
            <a:r>
              <a:rPr lang="tr-TR" dirty="0" smtClean="0"/>
              <a:t> ise) işlemi yapar.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Kullanım şekli </a:t>
            </a:r>
          </a:p>
          <a:p>
            <a:r>
              <a:rPr lang="tr-TR" dirty="0"/>
              <a:t>	</a:t>
            </a:r>
            <a:r>
              <a:rPr lang="tr-TR" dirty="0" smtClean="0"/>
              <a:t>		        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(&lt;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koşul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			……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 smtClean="0"/>
          </a:p>
          <a:p>
            <a:pPr marL="502920" indent="-457200">
              <a:buFont typeface="Arial" panose="020B0604020202020204" pitchFamily="34" charset="0"/>
              <a:buChar char="•"/>
            </a:pPr>
            <a:endParaRPr lang="tr-TR" dirty="0" smtClean="0"/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ÖR: Öğrencinin notu 60 ve büyükse 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dirty="0" smtClean="0"/>
              <a:t>geçti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dirty="0" smtClean="0"/>
              <a:t> yazsın</a:t>
            </a:r>
          </a:p>
          <a:p>
            <a:r>
              <a:rPr lang="tr-TR" dirty="0"/>
              <a:t>	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ogrNotu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&gt;= 60)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tr-TR" sz="1700" dirty="0" err="1" smtClean="0">
                <a:sym typeface="Wingdings" panose="05000000000000000000" pitchFamily="2" charset="2"/>
              </a:rPr>
              <a:t>OgrNotu</a:t>
            </a:r>
            <a:r>
              <a:rPr lang="tr-TR" sz="1700" dirty="0">
                <a:sym typeface="Wingdings" panose="05000000000000000000" pitchFamily="2" charset="2"/>
              </a:rPr>
              <a:t>&gt;=60 ise </a:t>
            </a:r>
            <a:r>
              <a:rPr lang="tr-TR" sz="17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true</a:t>
            </a:r>
            <a:r>
              <a:rPr lang="tr-TR" sz="1700" dirty="0" smtClean="0">
                <a:sym typeface="Wingdings" panose="05000000000000000000" pitchFamily="2" charset="2"/>
              </a:rPr>
              <a:t> </a:t>
            </a:r>
            <a:r>
              <a:rPr lang="tr-TR" sz="1700" dirty="0">
                <a:sym typeface="Wingdings" panose="05000000000000000000" pitchFamily="2" charset="2"/>
              </a:rPr>
              <a:t>olur</a:t>
            </a:r>
            <a:endParaRPr lang="tr-TR" sz="1700" dirty="0"/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geçti");</a:t>
            </a:r>
          </a:p>
          <a:p>
            <a:endParaRPr lang="tr-TR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4</a:t>
            </a:fld>
            <a:endParaRPr lang="tr-TR" altLang="en-US" dirty="0"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636912"/>
            <a:ext cx="2304256" cy="209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39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-else</a:t>
            </a:r>
            <a:r>
              <a:rPr lang="tr-TR" dirty="0" smtClean="0"/>
              <a:t> Yapısı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8352928" cy="4857328"/>
          </a:xfrm>
        </p:spPr>
        <p:txBody>
          <a:bodyPr>
            <a:norm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400" dirty="0" smtClean="0"/>
              <a:t>İki koşul olan durumlarda kullanılır.</a:t>
            </a:r>
          </a:p>
          <a:p>
            <a:endParaRPr lang="tr-TR" sz="2400" dirty="0" smtClean="0"/>
          </a:p>
          <a:p>
            <a:r>
              <a:rPr lang="tr-TR" sz="2400" dirty="0"/>
              <a:t>	</a:t>
            </a:r>
            <a:r>
              <a:rPr lang="tr-TR" sz="2400" dirty="0" smtClean="0"/>
              <a:t>	</a:t>
            </a:r>
            <a:r>
              <a:rPr lang="tr-TR" sz="2400" dirty="0"/>
              <a:t> </a:t>
            </a:r>
            <a:r>
              <a:rPr lang="tr-TR" sz="2400" dirty="0" smtClean="0"/>
              <a:t>         </a:t>
            </a:r>
            <a:r>
              <a:rPr lang="tr-T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(&lt;koşul&gt;)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koşul sağlanıyorsa </a:t>
            </a:r>
            <a:r>
              <a:rPr lang="tr-TR" sz="1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true</a:t>
            </a:r>
            <a:endParaRPr lang="tr-TR" sz="18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...</a:t>
            </a:r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koşul sağlanmıyorsa </a:t>
            </a:r>
            <a:r>
              <a:rPr lang="tr-TR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false</a:t>
            </a:r>
            <a:endParaRPr lang="tr-TR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400" dirty="0" smtClean="0"/>
              <a:t>Ör: </a:t>
            </a:r>
            <a:r>
              <a:rPr lang="tr-TR" sz="2400" dirty="0" err="1"/>
              <a:t>o</a:t>
            </a:r>
            <a:r>
              <a:rPr lang="tr-TR" sz="2400" dirty="0" err="1" smtClean="0"/>
              <a:t>grNo</a:t>
            </a:r>
            <a:r>
              <a:rPr lang="tr-TR" sz="2400" dirty="0" smtClean="0"/>
              <a:t>&gt;=60 ise «geçti» değilse «kaldı» yazan kod</a:t>
            </a:r>
          </a:p>
          <a:p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ogrNo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60)</a:t>
            </a: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tr-T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geçti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tr-T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kaldı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tr-TR" sz="2400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5</a:t>
            </a:fld>
            <a:endParaRPr lang="tr-TR" altLang="en-US" dirty="0"/>
          </a:p>
        </p:txBody>
      </p:sp>
      <p:pic>
        <p:nvPicPr>
          <p:cNvPr id="12" name="Resi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916831"/>
            <a:ext cx="2880320" cy="226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2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-else </a:t>
            </a:r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dirty="0" smtClean="0"/>
              <a:t> Yapısı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8352928" cy="4857328"/>
          </a:xfrm>
        </p:spPr>
        <p:txBody>
          <a:bodyPr>
            <a:normAutofit lnSpcReduction="10000"/>
          </a:bodyPr>
          <a:lstStyle/>
          <a:p>
            <a:r>
              <a:rPr lang="tr-TR" sz="2400" dirty="0" smtClean="0"/>
              <a:t>Harf notu örneği</a:t>
            </a:r>
          </a:p>
          <a:p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studentGrade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90 )</a:t>
            </a:r>
          </a:p>
          <a:p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Öğrencinin Harf Notu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 );</a:t>
            </a: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studentGrade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80 )</a:t>
            </a:r>
          </a:p>
          <a:p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Öğrencinin Harf Notu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 );</a:t>
            </a: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studentGrade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70 )</a:t>
            </a:r>
          </a:p>
          <a:p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Öğrencinin Harf Notu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 );</a:t>
            </a: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studentGrade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60 )</a:t>
            </a:r>
          </a:p>
          <a:p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Öğrencinin Harf Notu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 );</a:t>
            </a: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tr-T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Öğrencinin Harf Notu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 );</a:t>
            </a: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sz="2400" u="sng" dirty="0" smtClean="0"/>
              <a:t>NOT</a:t>
            </a:r>
            <a:r>
              <a:rPr lang="tr-T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tr-TR" sz="2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sz="2400" dirty="0"/>
              <a:t>ve</a:t>
            </a:r>
            <a:r>
              <a:rPr lang="tr-T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 </a:t>
            </a:r>
            <a:r>
              <a:rPr lang="tr-T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sz="2400" dirty="0" smtClean="0"/>
              <a:t>durumları dışında kalan her durumda en alttaki </a:t>
            </a:r>
            <a:r>
              <a:rPr lang="tr-T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</a:t>
            </a:r>
            <a:r>
              <a:rPr lang="tr-TR" sz="2400" dirty="0" smtClean="0"/>
              <a:t> işlemi yapılır.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6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42507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-else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8352928" cy="4857328"/>
          </a:xfrm>
        </p:spPr>
        <p:txBody>
          <a:bodyPr>
            <a:normAutofit/>
          </a:bodyPr>
          <a:lstStyle/>
          <a:p>
            <a:r>
              <a:rPr lang="tr-TR" sz="2400" dirty="0" smtClean="0"/>
              <a:t>Örnek</a:t>
            </a:r>
          </a:p>
          <a:p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 x = 5, y = 10;</a:t>
            </a:r>
          </a:p>
          <a:p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if (x &gt; y)</a:t>
            </a: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Console.WriteLine("y &gt; x");</a:t>
            </a:r>
          </a:p>
          <a:p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else if (y&gt;x)</a:t>
            </a: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Console.WriteLine("x &gt; y");</a:t>
            </a:r>
          </a:p>
          <a:p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Console.WriteLine("x = y");</a:t>
            </a:r>
          </a:p>
          <a:p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Console.WriteLine("x="+x+ " y="+y); </a:t>
            </a:r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7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895261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-else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8352928" cy="4857328"/>
          </a:xfrm>
        </p:spPr>
        <p:txBody>
          <a:bodyPr>
            <a:normAutofit/>
          </a:bodyPr>
          <a:lstStyle/>
          <a:p>
            <a:r>
              <a:rPr lang="tr-TR" sz="2400" dirty="0" smtClean="0"/>
              <a:t>Örnek</a:t>
            </a:r>
          </a:p>
          <a:p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 x = 5, y = 10;</a:t>
            </a:r>
          </a:p>
          <a:p>
            <a:r>
              <a:rPr lang="es-E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&gt; y)</a:t>
            </a:r>
          </a:p>
          <a:p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("y &gt; x");</a:t>
            </a:r>
          </a:p>
          <a:p>
            <a:r>
              <a:rPr lang="es-E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if (y&gt;x)</a:t>
            </a:r>
          </a:p>
          <a:p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("x &gt; y");</a:t>
            </a:r>
          </a:p>
          <a:p>
            <a:r>
              <a:rPr lang="es-E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s-E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("x = y");</a:t>
            </a:r>
          </a:p>
          <a:p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("x="+x+ " y="+y); </a:t>
            </a:r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8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4945342"/>
            <a:ext cx="241935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3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Koşul Yapılarında </a:t>
            </a:r>
            <a:r>
              <a:rPr lang="tr-TR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} </a:t>
            </a:r>
            <a:r>
              <a:rPr lang="tr-TR" dirty="0" smtClean="0"/>
              <a:t>Kullanımı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28600" y="1524000"/>
            <a:ext cx="8807896" cy="4857328"/>
          </a:xfrm>
        </p:spPr>
        <p:txBody>
          <a:bodyPr>
            <a:normAutofit/>
          </a:bodyPr>
          <a:lstStyle/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400" dirty="0" smtClean="0"/>
              <a:t>Eğer koşula bağlı yapılan işlem tek satır ise { } kullanmak zorunda değiliz. Ancak birden fazla işlem söz konusu ise { } kullanımı doğru işlem yapmak açısından zorunludur.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400" dirty="0" smtClean="0"/>
              <a:t>Bu durum döngü işlemleri ve diğer benzer işlem türleri için geçerlidir.</a:t>
            </a:r>
          </a:p>
          <a:p>
            <a:r>
              <a:rPr lang="tr-TR" sz="2400" dirty="0" smtClean="0"/>
              <a:t>ÖR: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 </a:t>
            </a:r>
            <a:r>
              <a:rPr lang="tr-T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ogrNo</a:t>
            </a:r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&gt;= 60 )</a:t>
            </a:r>
          </a:p>
          <a:p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Console.WriteLine("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Geçti</a:t>
            </a:r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 );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tr-TR" sz="2000" dirty="0">
                <a:sym typeface="Wingdings" panose="05000000000000000000" pitchFamily="2" charset="2"/>
              </a:rPr>
              <a:t>İstersek </a:t>
            </a:r>
            <a:r>
              <a:rPr lang="tr-TR" sz="2000" dirty="0" smtClean="0">
                <a:sym typeface="Wingdings" panose="05000000000000000000" pitchFamily="2" charset="2"/>
              </a:rPr>
              <a:t>burada { } kullanabiliriz</a:t>
            </a:r>
            <a:endParaRPr lang="en-GB" sz="2000" dirty="0"/>
          </a:p>
          <a:p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Console.WriteLine(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Kaldı</a:t>
            </a:r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Console.WriteLine(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Bu dersi tekrar almak zorundasın!</a:t>
            </a:r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r-T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9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67347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7504" y="228600"/>
            <a:ext cx="7817296" cy="1295400"/>
          </a:xfrm>
        </p:spPr>
        <p:txBody>
          <a:bodyPr/>
          <a:lstStyle/>
          <a:p>
            <a:r>
              <a:rPr lang="en-GB" b="0" i="1" dirty="0"/>
              <a:t>conditional </a:t>
            </a:r>
            <a:r>
              <a:rPr lang="en-GB" b="0" i="1" dirty="0" err="1" smtClean="0"/>
              <a:t>operatör</a:t>
            </a:r>
            <a:r>
              <a:rPr lang="tr-TR" b="0" i="1" dirty="0" smtClean="0"/>
              <a:t> (</a:t>
            </a:r>
            <a:r>
              <a:rPr lang="tr-TR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:?</a:t>
            </a:r>
            <a:r>
              <a:rPr lang="tr-TR" b="0" i="1" dirty="0" smtClean="0"/>
              <a:t>)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8352928" cy="4857328"/>
          </a:xfrm>
        </p:spPr>
        <p:txBody>
          <a:bodyPr>
            <a:norm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400" dirty="0" smtClean="0"/>
              <a:t>İki koşul olan durumlarda kullanılır. </a:t>
            </a:r>
            <a:r>
              <a:rPr lang="tr-TR" sz="2400" dirty="0" err="1" smtClean="0"/>
              <a:t>if</a:t>
            </a:r>
            <a:r>
              <a:rPr lang="tr-TR" sz="2400" dirty="0" smtClean="0"/>
              <a:t>-else durumlarında kullanılabilir. 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endParaRPr lang="tr-TR" sz="2400" dirty="0" smtClean="0"/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400" dirty="0" smtClean="0"/>
              <a:t>ÖR:</a:t>
            </a:r>
            <a:r>
              <a:rPr lang="tr-TR" sz="2400" dirty="0">
                <a:solidFill>
                  <a:srgbClr val="000000"/>
                </a:solidFill>
              </a:rPr>
              <a:t> </a:t>
            </a:r>
            <a:r>
              <a:rPr lang="tr-TR" sz="2400" dirty="0" err="1">
                <a:solidFill>
                  <a:srgbClr val="000000"/>
                </a:solidFill>
              </a:rPr>
              <a:t>ogrNo</a:t>
            </a:r>
            <a:r>
              <a:rPr lang="tr-TR" sz="2400" dirty="0">
                <a:solidFill>
                  <a:srgbClr val="000000"/>
                </a:solidFill>
              </a:rPr>
              <a:t>&gt;=60 ise «geçti» değilse «kaldı» yazan kod</a:t>
            </a:r>
            <a:endParaRPr lang="tr-T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tr-T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ogrNo</a:t>
            </a:r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&gt;= 60 </a:t>
            </a:r>
            <a:r>
              <a:rPr lang="en-GB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geçti</a:t>
            </a:r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GB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kaldı</a:t>
            </a:r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 );</a:t>
            </a:r>
            <a:endParaRPr lang="tr-T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sz="2400" dirty="0" smtClean="0"/>
              <a:t>veya</a:t>
            </a:r>
            <a:endParaRPr lang="tr-TR" sz="2400" dirty="0"/>
          </a:p>
          <a:p>
            <a:endParaRPr lang="tr-T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studentGrade</a:t>
            </a:r>
            <a:r>
              <a:rPr 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&gt;=90 ? "A" : </a:t>
            </a:r>
            <a:r>
              <a:rPr lang="tr-T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studentGrade</a:t>
            </a:r>
            <a:r>
              <a:rPr 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&gt;= 80 ? "B" : </a:t>
            </a:r>
            <a:r>
              <a:rPr lang="tr-T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studentGrade</a:t>
            </a:r>
            <a:r>
              <a:rPr 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&gt;= 70 ? "C" : </a:t>
            </a:r>
            <a:r>
              <a:rPr lang="tr-T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studentGrade</a:t>
            </a:r>
            <a:r>
              <a:rPr 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&gt;= 60 ? "D" : "F");</a:t>
            </a:r>
            <a:endParaRPr lang="tr-TR" sz="2400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10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66906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witch-case</a:t>
            </a:r>
            <a:r>
              <a:rPr lang="tr-TR" dirty="0" smtClean="0"/>
              <a:t> Yapısı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3200" b="1" dirty="0" err="1" smtClean="0"/>
              <a:t>switch-case</a:t>
            </a:r>
            <a:r>
              <a:rPr lang="tr-TR" sz="3200" dirty="0" smtClean="0"/>
              <a:t> yapısı çok seçenekli durumlarda kullanılır. </a:t>
            </a:r>
            <a:r>
              <a:rPr lang="tr-TR" sz="3200" dirty="0" err="1"/>
              <a:t>i</a:t>
            </a:r>
            <a:r>
              <a:rPr lang="tr-TR" sz="3200" dirty="0" err="1" smtClean="0"/>
              <a:t>f</a:t>
            </a:r>
            <a:r>
              <a:rPr lang="tr-TR" sz="3200" dirty="0" smtClean="0"/>
              <a:t> kontrol yapısının yaptığı işi yapar.</a:t>
            </a:r>
          </a:p>
          <a:p>
            <a:endParaRPr lang="tr-TR" dirty="0" smtClean="0"/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900" dirty="0" err="1" smtClean="0"/>
              <a:t>Syntax</a:t>
            </a:r>
            <a:r>
              <a:rPr lang="tr-TR" sz="2900" dirty="0" smtClean="0"/>
              <a:t>:</a:t>
            </a:r>
          </a:p>
          <a:p>
            <a:pPr>
              <a:spcBef>
                <a:spcPts val="0"/>
              </a:spcBef>
            </a:pPr>
            <a:r>
              <a:rPr lang="tr-TR" sz="29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tr-TR" sz="29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(&lt;Değişken&gt;)</a:t>
            </a:r>
          </a:p>
          <a:p>
            <a:pPr>
              <a:spcBef>
                <a:spcPts val="0"/>
              </a:spcBef>
            </a:pPr>
            <a:r>
              <a:rPr lang="tr-TR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tr-T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2900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tr-TR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&lt;Değer1&gt;:</a:t>
            </a:r>
          </a:p>
          <a:p>
            <a:pPr>
              <a:spcBef>
                <a:spcPts val="0"/>
              </a:spcBef>
            </a:pPr>
            <a:r>
              <a:rPr lang="tr-T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		…</a:t>
            </a:r>
          </a:p>
          <a:p>
            <a:pPr>
              <a:spcBef>
                <a:spcPts val="0"/>
              </a:spcBef>
            </a:pPr>
            <a:r>
              <a:rPr lang="tr-T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29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tr-TR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</a:pPr>
            <a:endParaRPr lang="tr-TR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tr-TR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29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tr-T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tr-TR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Değer2&gt;:</a:t>
            </a:r>
            <a:endParaRPr lang="tr-TR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tr-T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   		…</a:t>
            </a:r>
          </a:p>
          <a:p>
            <a:pPr>
              <a:spcBef>
                <a:spcPts val="0"/>
              </a:spcBef>
            </a:pPr>
            <a:r>
              <a:rPr lang="tr-T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29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tr-TR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</a:pPr>
            <a:r>
              <a:rPr lang="tr-T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spcBef>
                <a:spcPts val="0"/>
              </a:spcBef>
            </a:pPr>
            <a:r>
              <a:rPr lang="tr-T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tr-TR" sz="29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tr-T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spcBef>
                <a:spcPts val="0"/>
              </a:spcBef>
            </a:pPr>
            <a:r>
              <a:rPr lang="tr-T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2900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tr-TR" sz="29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tr-TR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tr-T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   		…</a:t>
            </a:r>
          </a:p>
          <a:p>
            <a:pPr>
              <a:spcBef>
                <a:spcPts val="0"/>
              </a:spcBef>
            </a:pPr>
            <a:r>
              <a:rPr lang="tr-TR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29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tr-TR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</a:pPr>
            <a:r>
              <a:rPr lang="tr-TR" sz="2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r-TR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5" y="1770431"/>
            <a:ext cx="3443513" cy="475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807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witch-case</a:t>
            </a:r>
            <a:r>
              <a:rPr lang="tr-TR" dirty="0" smtClean="0"/>
              <a:t> Örnek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>
              <a:spcBef>
                <a:spcPts val="0"/>
              </a:spcBef>
            </a:pP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</a:t>
            </a: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4;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</a:t>
            </a: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1: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 Pazartesi");</a:t>
            </a:r>
            <a:endParaRPr lang="tr-TR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break;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2: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 Salı");</a:t>
            </a:r>
            <a:endParaRPr lang="tr-TR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break;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3: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 Çarşamba");</a:t>
            </a:r>
            <a:endParaRPr lang="tr-TR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break;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4: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 Perşembe");</a:t>
            </a:r>
            <a:endParaRPr lang="tr-TR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break;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5: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 Cuma");</a:t>
            </a:r>
            <a:endParaRPr lang="tr-TR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break;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6: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 Cumartesi");</a:t>
            </a:r>
            <a:endParaRPr lang="tr-TR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break;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7: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 Pazar");</a:t>
            </a:r>
            <a:endParaRPr lang="tr-TR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break</a:t>
            </a:r>
            <a:r>
              <a:rPr lang="tr-TR" sz="1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tr-TR" sz="11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tr-TR" sz="1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tr-TR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tr-TR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 </a:t>
            </a:r>
            <a:r>
              <a:rPr lang="tr-TR" sz="1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Böyle bir gün yok!");</a:t>
            </a:r>
            <a:endParaRPr lang="tr-TR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break</a:t>
            </a:r>
            <a:r>
              <a:rPr lang="tr-TR" sz="1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tr-TR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} </a:t>
            </a:r>
            <a:endParaRPr lang="tr-TR" sz="11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12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821306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tr-TR" dirty="0" smtClean="0"/>
              <a:t> Döngüsü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605464" cy="5073352"/>
          </a:xfrm>
        </p:spPr>
        <p:txBody>
          <a:bodyPr/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Bir koşul sağlandığı sürece aynı işlemin tekrar tekrar yapılmasının istendiği durumlarda kullanılır.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GB" dirty="0" smtClean="0"/>
              <a:t>Syntax</a:t>
            </a:r>
            <a:r>
              <a:rPr lang="tr-TR" dirty="0" smtClean="0"/>
              <a:t>: </a:t>
            </a:r>
          </a:p>
          <a:p>
            <a:pPr>
              <a:spcBef>
                <a:spcPts val="0"/>
              </a:spcBef>
            </a:pPr>
            <a:r>
              <a:rPr lang="tr-T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tr-T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(&lt;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İ</a:t>
            </a:r>
            <a:r>
              <a:rPr lang="tr-T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lkleme</a:t>
            </a:r>
            <a:r>
              <a:rPr lang="tr-T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&gt;; &lt;Koşul&gt;; &lt;Artış/Azalış&gt;)</a:t>
            </a:r>
          </a:p>
          <a:p>
            <a:pPr>
              <a:spcBef>
                <a:spcPts val="0"/>
              </a:spcBef>
            </a:pPr>
            <a:r>
              <a:rPr lang="tr-T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  <a:p>
            <a:pPr>
              <a:spcBef>
                <a:spcPts val="0"/>
              </a:spcBef>
            </a:pPr>
            <a:r>
              <a:rPr lang="tr-T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13</a:t>
            </a:fld>
            <a:endParaRPr lang="tr-TR" altLang="en-US" dirty="0"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181" y="3851544"/>
            <a:ext cx="3772709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7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tr-TR" dirty="0" smtClean="0"/>
              <a:t> Döngüsü Örneği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99592" y="1524000"/>
            <a:ext cx="7848872" cy="5073352"/>
          </a:xfrm>
        </p:spPr>
        <p:txBody>
          <a:bodyPr>
            <a:normAutofit fontScale="92500" lnSpcReduction="10000"/>
          </a:bodyPr>
          <a:lstStyle/>
          <a:p>
            <a:pPr marL="0">
              <a:spcBef>
                <a:spcPts val="0"/>
              </a:spcBef>
            </a:pPr>
            <a:r>
              <a:rPr lang="nn-N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(int i = 0; i &lt; 5; i++) </a:t>
            </a:r>
          </a:p>
          <a:p>
            <a:pPr marL="0">
              <a:spcBef>
                <a:spcPts val="0"/>
              </a:spcBef>
            </a:pPr>
            <a:r>
              <a:rPr lang="nn-N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>
              <a:spcBef>
                <a:spcPts val="0"/>
              </a:spcBef>
            </a:pPr>
            <a:r>
              <a:rPr lang="nn-N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Console.WriteLine(i);</a:t>
            </a:r>
          </a:p>
          <a:p>
            <a:pPr marL="0">
              <a:spcBef>
                <a:spcPts val="0"/>
              </a:spcBef>
            </a:pPr>
            <a:r>
              <a:rPr lang="nn-NO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800" dirty="0" smtClean="0">
                <a:latin typeface="+mn-lt"/>
                <a:cs typeface="Courier New" panose="02070309020205020404" pitchFamily="49" charset="0"/>
              </a:rPr>
              <a:t>veya</a:t>
            </a:r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nn-N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(int i = 0; i &lt;= 10; i = i + 2) </a:t>
            </a:r>
          </a:p>
          <a:p>
            <a:pPr marL="0">
              <a:spcBef>
                <a:spcPts val="0"/>
              </a:spcBef>
            </a:pPr>
            <a:r>
              <a:rPr lang="nn-N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>
              <a:spcBef>
                <a:spcPts val="0"/>
              </a:spcBef>
            </a:pPr>
            <a:r>
              <a:rPr lang="nn-N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Console.WriteLine(i);</a:t>
            </a:r>
          </a:p>
          <a:p>
            <a:pPr marL="0">
              <a:spcBef>
                <a:spcPts val="0"/>
              </a:spcBef>
            </a:pPr>
            <a:r>
              <a:rPr lang="nn-NO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r-T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800" dirty="0" smtClean="0">
                <a:cs typeface="Courier New" panose="02070309020205020404" pitchFamily="49" charset="0"/>
              </a:rPr>
              <a:t>veya</a:t>
            </a:r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(int i=0, j=0;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i+j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&lt;=5; i++,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GB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tr-T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en-GB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GB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("i = {0} and j = {1}",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>
              <a:spcBef>
                <a:spcPts val="0"/>
              </a:spcBef>
            </a:pP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r-T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800" dirty="0" smtClean="0">
                <a:cs typeface="Courier New" panose="02070309020205020404" pitchFamily="49" charset="0"/>
              </a:rPr>
              <a:t>veya</a:t>
            </a:r>
            <a:endParaRPr lang="tr-TR" sz="1800" dirty="0"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 i = 1;</a:t>
            </a:r>
          </a:p>
          <a:p>
            <a:pPr marL="0">
              <a:spcBef>
                <a:spcPts val="0"/>
              </a:spcBef>
            </a:pP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 ; i&lt;=5; )</a:t>
            </a:r>
          </a:p>
          <a:p>
            <a:pPr marL="0">
              <a:spcBef>
                <a:spcPts val="0"/>
              </a:spcBef>
            </a:pP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("C# For Loop: Iteration {0}", i);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>
              <a:spcBef>
                <a:spcPts val="0"/>
              </a:spcBef>
            </a:pP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14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388144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foreach</a:t>
            </a:r>
            <a:r>
              <a:rPr lang="tr-TR" dirty="0" smtClean="0"/>
              <a:t> Döngüsü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605464" cy="5073352"/>
          </a:xfrm>
        </p:spPr>
        <p:txBody>
          <a:bodyPr/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/>
              <a:t>B</a:t>
            </a:r>
            <a:r>
              <a:rPr lang="tr-TR" dirty="0" smtClean="0"/>
              <a:t>ir </a:t>
            </a:r>
            <a:r>
              <a:rPr lang="tr-TR" dirty="0"/>
              <a:t>dizideki öğeler arasında döngü yapmak için özel olarak kullanılan bir </a:t>
            </a:r>
            <a:r>
              <a:rPr lang="tr-TR" dirty="0" smtClean="0"/>
              <a:t>döngü türüdür.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GB" dirty="0" smtClean="0"/>
              <a:t>Syntax</a:t>
            </a:r>
            <a:r>
              <a:rPr lang="tr-TR" dirty="0" smtClean="0"/>
              <a:t>: </a:t>
            </a:r>
          </a:p>
          <a:p>
            <a:pPr>
              <a:spcBef>
                <a:spcPts val="0"/>
              </a:spcBef>
            </a:pPr>
            <a:r>
              <a:rPr lang="tr-T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(&lt;Değişken tipi&gt; &lt;Değişken adı&gt; in &lt;Dizi adı&gt; )</a:t>
            </a:r>
          </a:p>
          <a:p>
            <a:pPr>
              <a:spcBef>
                <a:spcPts val="0"/>
              </a:spcBef>
            </a:pP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  <a:p>
            <a:pPr>
              <a:spcBef>
                <a:spcPts val="0"/>
              </a:spcBef>
            </a:pP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Bef>
                <a:spcPts val="0"/>
              </a:spcBef>
            </a:pPr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tr-TR" dirty="0"/>
              <a:t>ÖR:</a:t>
            </a:r>
          </a:p>
          <a:p>
            <a:pPr>
              <a:spcBef>
                <a:spcPts val="0"/>
              </a:spcBef>
            </a:pP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cars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{"Volvo", "BMW", "Ford", "Mazda"};</a:t>
            </a:r>
          </a:p>
          <a:p>
            <a:pPr>
              <a:spcBef>
                <a:spcPts val="0"/>
              </a:spcBef>
            </a:pP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in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cars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spcBef>
                <a:spcPts val="0"/>
              </a:spcBef>
            </a:pP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Console.WriteLine(i);</a:t>
            </a:r>
          </a:p>
          <a:p>
            <a:pPr>
              <a:spcBef>
                <a:spcPts val="0"/>
              </a:spcBef>
            </a:pP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r-T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02920" indent="-4572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15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422551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tr-TR" dirty="0" smtClean="0"/>
              <a:t> Döngüsü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605464" cy="4411663"/>
          </a:xfrm>
        </p:spPr>
        <p:txBody>
          <a:bodyPr/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Bir koşul sağlandığı sürece aynı işlemin tekrar tekrar yapılmasının istendiği durumlarda kullanılır.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GB" dirty="0" smtClean="0"/>
              <a:t>Syntax</a:t>
            </a:r>
            <a:r>
              <a:rPr lang="tr-TR" dirty="0" smtClean="0"/>
              <a:t>: </a:t>
            </a:r>
          </a:p>
          <a:p>
            <a:pPr>
              <a:spcBef>
                <a:spcPts val="0"/>
              </a:spcBef>
            </a:pPr>
            <a:r>
              <a:rPr lang="tr-TR" dirty="0"/>
              <a:t>	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(&lt;koşul&gt;)</a:t>
            </a:r>
          </a:p>
          <a:p>
            <a:pPr>
              <a:spcBef>
                <a:spcPts val="0"/>
              </a:spcBef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>
              <a:spcBef>
                <a:spcPts val="0"/>
              </a:spcBef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16</a:t>
            </a:fld>
            <a:endParaRPr lang="tr-TR" altLang="en-US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2854840"/>
            <a:ext cx="3443335" cy="280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98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tr-TR" dirty="0" smtClean="0"/>
              <a:t> Döngüsü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605464" cy="4411663"/>
          </a:xfrm>
        </p:spPr>
        <p:txBody>
          <a:bodyPr/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ÖR: </a:t>
            </a:r>
          </a:p>
          <a:p>
            <a:pPr>
              <a:spcBef>
                <a:spcPts val="0"/>
              </a:spcBef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product = </a:t>
            </a:r>
            <a:r>
              <a:rPr lang="en-GB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10;</a:t>
            </a:r>
            <a:endParaRPr lang="tr-TR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en-GB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(product &lt;= 100000</a:t>
            </a:r>
            <a:r>
              <a:rPr lang="en-GB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tr-TR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en-GB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              </a:t>
            </a:r>
            <a:endParaRPr lang="tr-TR" sz="2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spcBef>
                <a:spcPts val="0"/>
              </a:spcBef>
              <a:buNone/>
            </a:pPr>
            <a:r>
              <a:rPr lang="en-GB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GB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GB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Ürün</a:t>
            </a:r>
            <a:r>
              <a:rPr lang="en-GB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=" + product);</a:t>
            </a:r>
          </a:p>
          <a:p>
            <a:pPr marL="344487" lvl="1" indent="0">
              <a:spcBef>
                <a:spcPts val="0"/>
              </a:spcBef>
              <a:buNone/>
            </a:pPr>
            <a:r>
              <a:rPr lang="en-GB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GB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= 10 * product</a:t>
            </a:r>
            <a:r>
              <a:rPr lang="en-GB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             </a:t>
            </a:r>
            <a:endParaRPr lang="en-GB" sz="2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en-GB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2400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17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4020061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tr-TR" dirty="0" smtClean="0"/>
              <a:t> Döngüsü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605464" cy="4411663"/>
          </a:xfrm>
        </p:spPr>
        <p:txBody>
          <a:bodyPr/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ÖR: </a:t>
            </a:r>
          </a:p>
          <a:p>
            <a:pPr>
              <a:spcBef>
                <a:spcPts val="0"/>
              </a:spcBef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product = </a:t>
            </a:r>
            <a:r>
              <a:rPr lang="en-GB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10;</a:t>
            </a:r>
            <a:endParaRPr lang="tr-TR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en-GB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(product &lt;= 100000</a:t>
            </a:r>
            <a:r>
              <a:rPr lang="en-GB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tr-TR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en-GB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              </a:t>
            </a:r>
            <a:endParaRPr lang="tr-TR" sz="2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spcBef>
                <a:spcPts val="0"/>
              </a:spcBef>
              <a:buNone/>
            </a:pPr>
            <a:r>
              <a:rPr lang="en-GB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GB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GB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Ürün</a:t>
            </a:r>
            <a:r>
              <a:rPr lang="en-GB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=" + product);</a:t>
            </a:r>
          </a:p>
          <a:p>
            <a:pPr marL="344487" lvl="1" indent="0">
              <a:spcBef>
                <a:spcPts val="0"/>
              </a:spcBef>
              <a:buNone/>
            </a:pPr>
            <a:r>
              <a:rPr lang="en-GB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GB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= 10 * product</a:t>
            </a:r>
            <a:r>
              <a:rPr lang="en-GB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             </a:t>
            </a:r>
            <a:endParaRPr lang="en-GB" sz="2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en-GB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2400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18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4293096"/>
            <a:ext cx="2407146" cy="209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48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tr-TR" dirty="0" smtClean="0"/>
              <a:t> Döngüsü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28600" y="1524000"/>
            <a:ext cx="8519864" cy="4411663"/>
          </a:xfrm>
        </p:spPr>
        <p:txBody>
          <a:bodyPr>
            <a:norm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Örnek: </a:t>
            </a:r>
          </a:p>
          <a:p>
            <a:pPr>
              <a:spcBef>
                <a:spcPts val="0"/>
              </a:spcBef>
            </a:pP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("Merhaba, hoş geldiniz!");</a:t>
            </a:r>
          </a:p>
          <a:p>
            <a:pPr>
              <a:spcBef>
                <a:spcPts val="0"/>
              </a:spcBef>
            </a:pP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</a:pP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((</a:t>
            </a: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()) != "konuşmayı bitir")</a:t>
            </a:r>
          </a:p>
          <a:p>
            <a:pPr>
              <a:spcBef>
                <a:spcPts val="0"/>
              </a:spcBef>
            </a:pP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("Üzgünüm, yazdığınız «{0}» ifadesini anlamadım", </a:t>
            </a: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ts val="0"/>
              </a:spcBef>
            </a:pP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Bef>
                <a:spcPts val="0"/>
              </a:spcBef>
            </a:pP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("Seninle konuşmak güzeldi. </a:t>
            </a: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Hoşçakal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!");</a:t>
            </a:r>
            <a:endParaRPr lang="en-GB" sz="1600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19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71059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tr-TR" dirty="0" smtClean="0"/>
              <a:t> Döngüsü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28600" y="1524000"/>
            <a:ext cx="8519864" cy="4411663"/>
          </a:xfrm>
        </p:spPr>
        <p:txBody>
          <a:bodyPr>
            <a:norm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ÖR: </a:t>
            </a:r>
          </a:p>
          <a:p>
            <a:pPr>
              <a:spcBef>
                <a:spcPts val="0"/>
              </a:spcBef>
            </a:pPr>
            <a:r>
              <a:rPr lang="tr-T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Merhaba, hoş geldiniz!");</a:t>
            </a:r>
            <a:endParaRPr lang="tr-T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</a:pPr>
            <a:r>
              <a:rPr lang="tr-T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()) != "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konuşmayı bitir")</a:t>
            </a:r>
            <a:endParaRPr lang="tr-T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("Üzgünüm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yazdığınız «{0}» ifadesini anlamadım", </a:t>
            </a:r>
            <a:r>
              <a:rPr lang="tr-T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ts val="0"/>
              </a:spcBef>
            </a:pP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r-T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tr-T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Seninle konuşmak güzeldi. </a:t>
            </a:r>
            <a:r>
              <a:rPr lang="tr-T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Hoşçakal</a:t>
            </a:r>
            <a:r>
              <a:rPr 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!");</a:t>
            </a:r>
            <a:endParaRPr lang="en-GB" sz="1600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20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3759159"/>
            <a:ext cx="6901217" cy="267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03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</a:t>
            </a:r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tr-TR" dirty="0" smtClean="0"/>
              <a:t> Döngüsü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605464" cy="4411663"/>
          </a:xfrm>
        </p:spPr>
        <p:txBody>
          <a:bodyPr/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err="1" smtClean="0"/>
              <a:t>While</a:t>
            </a:r>
            <a:r>
              <a:rPr lang="tr-TR" dirty="0" smtClean="0"/>
              <a:t> döngüsüne çok benzer aradaki fark işlem(ler) en az bir kere yapılır.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GB" dirty="0" smtClean="0"/>
              <a:t>Syntax</a:t>
            </a:r>
            <a:r>
              <a:rPr lang="tr-TR" dirty="0" smtClean="0"/>
              <a:t>: </a:t>
            </a:r>
          </a:p>
          <a:p>
            <a:pPr>
              <a:spcBef>
                <a:spcPts val="0"/>
              </a:spcBef>
            </a:pPr>
            <a:r>
              <a:rPr lang="tr-TR" dirty="0"/>
              <a:t>	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</a:p>
          <a:p>
            <a:pPr>
              <a:spcBef>
                <a:spcPts val="0"/>
              </a:spcBef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>
              <a:spcBef>
                <a:spcPts val="0"/>
              </a:spcBef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(&lt;koşul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  <a:r>
              <a:rPr lang="tr-TR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tr-TR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endParaRPr lang="tr-TR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02920" indent="-4572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21</a:t>
            </a:fld>
            <a:endParaRPr lang="tr-TR" altLang="en-US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857" y="2708920"/>
            <a:ext cx="2511943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5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</a:t>
            </a:r>
            <a:r>
              <a:rPr lang="tr-TR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tr-TR" dirty="0" smtClean="0"/>
              <a:t> Döngüsü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605464" cy="4411663"/>
          </a:xfrm>
        </p:spPr>
        <p:txBody>
          <a:bodyPr/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ÖR: </a:t>
            </a:r>
          </a:p>
          <a:p>
            <a:pPr>
              <a:spcBef>
                <a:spcPts val="0"/>
              </a:spcBef>
            </a:pPr>
            <a:r>
              <a:rPr lang="en-GB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tr-T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i=11</a:t>
            </a:r>
            <a:r>
              <a:rPr lang="en-GB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tr-TR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tr-TR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</a:p>
          <a:p>
            <a:pPr>
              <a:spcBef>
                <a:spcPts val="0"/>
              </a:spcBef>
            </a:pPr>
            <a:r>
              <a:rPr lang="en-GB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              </a:t>
            </a:r>
            <a:endParaRPr lang="tr-TR" sz="2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spcBef>
                <a:spcPts val="0"/>
              </a:spcBef>
              <a:buNone/>
            </a:pPr>
            <a:r>
              <a:rPr lang="en-GB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Console.WriteLine(</a:t>
            </a:r>
            <a:r>
              <a:rPr lang="en-GB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 </a:t>
            </a:r>
            <a:r>
              <a:rPr lang="en-GB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tr-TR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GB" sz="2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spcBef>
                <a:spcPts val="0"/>
              </a:spcBef>
              <a:buNone/>
            </a:pPr>
            <a:r>
              <a:rPr lang="tr-TR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i++</a:t>
            </a:r>
            <a:r>
              <a:rPr lang="en-GB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             </a:t>
            </a:r>
            <a:endParaRPr lang="en-GB" sz="2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en-GB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while </a:t>
            </a:r>
            <a:r>
              <a:rPr lang="en-GB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&lt;= </a:t>
            </a:r>
            <a:r>
              <a:rPr lang="en-GB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10)</a:t>
            </a:r>
            <a:r>
              <a:rPr lang="tr-T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tr-TR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endParaRPr lang="tr-TR" sz="2400" dirty="0" smtClean="0"/>
          </a:p>
          <a:p>
            <a:pPr>
              <a:spcBef>
                <a:spcPts val="0"/>
              </a:spcBef>
            </a:pPr>
            <a:r>
              <a:rPr lang="tr-TR" sz="2400" dirty="0" smtClean="0"/>
              <a:t>Not: Koşul sağlanmasa da en az bir kere işlem yapar.</a:t>
            </a:r>
            <a:endParaRPr lang="en-GB" sz="2400" dirty="0"/>
          </a:p>
          <a:p>
            <a:pPr>
              <a:spcBef>
                <a:spcPts val="0"/>
              </a:spcBef>
            </a:pPr>
            <a:endParaRPr lang="tr-TR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02920" indent="-4572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22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17317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İç İçe</a:t>
            </a:r>
            <a:r>
              <a:rPr lang="tr-TR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dirty="0" smtClean="0"/>
              <a:t>Döngüler (</a:t>
            </a:r>
            <a:r>
              <a:rPr lang="tr-TR" dirty="0" err="1" smtClean="0"/>
              <a:t>Nested</a:t>
            </a:r>
            <a:r>
              <a:rPr lang="tr-TR" dirty="0" smtClean="0"/>
              <a:t> </a:t>
            </a:r>
            <a:r>
              <a:rPr lang="tr-TR" dirty="0" err="1" smtClean="0"/>
              <a:t>Loops</a:t>
            </a:r>
            <a:r>
              <a:rPr lang="tr-TR" dirty="0" smtClean="0"/>
              <a:t>)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99592" y="1524000"/>
            <a:ext cx="7848872" cy="5073352"/>
          </a:xfrm>
        </p:spPr>
        <p:txBody>
          <a:bodyPr>
            <a:normAutofit fontScale="85000" lnSpcReduction="20000"/>
          </a:bodyPr>
          <a:lstStyle/>
          <a:p>
            <a:pPr marL="0">
              <a:spcBef>
                <a:spcPts val="0"/>
              </a:spcBef>
            </a:pPr>
            <a:r>
              <a:rPr lang="tr-TR" sz="1800" b="1" dirty="0" smtClean="0">
                <a:latin typeface="+mj-lt"/>
                <a:cs typeface="Courier New" panose="02070309020205020404" pitchFamily="49" charset="0"/>
              </a:rPr>
              <a:t>İç İçe </a:t>
            </a:r>
            <a:r>
              <a:rPr lang="tr-TR" sz="1800" b="1" dirty="0" err="1" smtClean="0">
                <a:latin typeface="+mj-lt"/>
                <a:cs typeface="Courier New" panose="02070309020205020404" pitchFamily="49" charset="0"/>
              </a:rPr>
              <a:t>for</a:t>
            </a:r>
            <a:r>
              <a:rPr lang="tr-TR" sz="1800" b="1" dirty="0" smtClean="0">
                <a:latin typeface="+mj-lt"/>
                <a:cs typeface="Courier New" panose="02070309020205020404" pitchFamily="49" charset="0"/>
              </a:rPr>
              <a:t> döngüleri</a:t>
            </a:r>
          </a:p>
          <a:p>
            <a:pPr marL="0">
              <a:spcBef>
                <a:spcPts val="0"/>
              </a:spcBef>
            </a:pP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condition; increment ) {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for (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condition; increment ) {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statement(s);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statement(s);</a:t>
            </a:r>
          </a:p>
          <a:p>
            <a:pPr marL="0">
              <a:spcBef>
                <a:spcPts val="0"/>
              </a:spcBef>
            </a:pP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r-T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>
              <a:spcBef>
                <a:spcPts val="0"/>
              </a:spcBef>
            </a:pPr>
            <a:r>
              <a:rPr lang="tr-TR" sz="1800" b="1" dirty="0" smtClean="0">
                <a:cs typeface="Courier New" panose="02070309020205020404" pitchFamily="49" charset="0"/>
              </a:rPr>
              <a:t>İç İçe </a:t>
            </a:r>
            <a:r>
              <a:rPr lang="tr-TR" sz="1800" b="1" dirty="0" err="1" smtClean="0">
                <a:cs typeface="Courier New" panose="02070309020205020404" pitchFamily="49" charset="0"/>
              </a:rPr>
              <a:t>while</a:t>
            </a:r>
            <a:r>
              <a:rPr lang="tr-TR" sz="1800" b="1" dirty="0" smtClean="0">
                <a:cs typeface="Courier New" panose="02070309020205020404" pitchFamily="49" charset="0"/>
              </a:rPr>
              <a:t> döngüleri</a:t>
            </a:r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while(condition) {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while(condition) {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statement(s);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statement(s);</a:t>
            </a:r>
          </a:p>
          <a:p>
            <a:pPr marL="0">
              <a:spcBef>
                <a:spcPts val="0"/>
              </a:spcBef>
            </a:pP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r-T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endParaRPr lang="tr-T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tr-TR" sz="1800" b="1" dirty="0" smtClean="0">
                <a:cs typeface="Courier New" panose="02070309020205020404" pitchFamily="49" charset="0"/>
              </a:rPr>
              <a:t>İç İçe do-</a:t>
            </a:r>
            <a:r>
              <a:rPr lang="tr-TR" sz="1800" b="1" dirty="0" err="1" smtClean="0">
                <a:cs typeface="Courier New" panose="02070309020205020404" pitchFamily="49" charset="0"/>
              </a:rPr>
              <a:t>while</a:t>
            </a:r>
            <a:r>
              <a:rPr lang="tr-TR" sz="1800" b="1" dirty="0" smtClean="0">
                <a:cs typeface="Courier New" panose="02070309020205020404" pitchFamily="49" charset="0"/>
              </a:rPr>
              <a:t> döngüleri</a:t>
            </a:r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do {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statement(s);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do {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statement(s);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while( condition );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while( condition );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23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61263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İç İçe</a:t>
            </a:r>
            <a:r>
              <a:rPr lang="tr-TR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dirty="0" smtClean="0"/>
              <a:t>Döngüler Örneği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8064896" cy="5073352"/>
          </a:xfrm>
        </p:spPr>
        <p:txBody>
          <a:bodyPr>
            <a:normAutofit/>
          </a:bodyPr>
          <a:lstStyle/>
          <a:p>
            <a:pPr marL="0">
              <a:spcBef>
                <a:spcPts val="0"/>
              </a:spcBef>
            </a:pPr>
            <a:endParaRPr lang="tr-TR" sz="1800" b="1" dirty="0" smtClean="0">
              <a:latin typeface="+mj-lt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dısDongu</a:t>
            </a: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0,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icDongu</a:t>
            </a: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0;</a:t>
            </a:r>
          </a:p>
          <a:p>
            <a:pPr marL="0">
              <a:spcBef>
                <a:spcPts val="0"/>
              </a:spcBef>
            </a:pP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(int i=1; i&lt;=5; i++)</a:t>
            </a:r>
          </a:p>
          <a:p>
            <a:pPr marL="0">
              <a:spcBef>
                <a:spcPts val="0"/>
              </a:spcBef>
            </a:pP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disDongu</a:t>
            </a: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(int j=1; j&lt;=5; j++)</a:t>
            </a: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icDongu</a:t>
            </a: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("Outer Loop runs {0} times",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disDongu</a:t>
            </a: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</a:pP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("Inner Loop runs {0} times", 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icDongu</a:t>
            </a:r>
            <a:r>
              <a:rPr lang="en-GB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24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874450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ÖDEV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605464" cy="4411663"/>
          </a:xfrm>
        </p:spPr>
        <p:txBody>
          <a:bodyPr>
            <a:normAutofit/>
          </a:bodyPr>
          <a:lstStyle/>
          <a:p>
            <a:pPr marL="560070" indent="-514350">
              <a:buFont typeface="+mj-lt"/>
              <a:buAutoNum type="arabicPeriod"/>
            </a:pPr>
            <a:r>
              <a:rPr lang="tr-TR" b="1" dirty="0" err="1" smtClean="0"/>
              <a:t>while</a:t>
            </a:r>
            <a:r>
              <a:rPr lang="tr-TR" dirty="0" smtClean="0"/>
              <a:t> döngüsü kullanarak kullanıcıdan aldığı 10 sayının ortalamasını, en büyüğünü ve en küçüğünü bulan C# konsol uygulamasını yazınız.</a:t>
            </a:r>
          </a:p>
          <a:p>
            <a:pPr marL="560070" indent="-514350">
              <a:buFont typeface="+mj-lt"/>
              <a:buAutoNum type="arabicPeriod"/>
            </a:pPr>
            <a:r>
              <a:rPr lang="tr-TR" dirty="0"/>
              <a:t>Kullanıcıdan aldığı bir sayının mükemmel sayı olup olmadığını </a:t>
            </a:r>
            <a:r>
              <a:rPr lang="tr-T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tr-TR" dirty="0"/>
              <a:t> döngüsü kullanarak bulan bir C# konsol </a:t>
            </a:r>
            <a:r>
              <a:rPr lang="tr-TR"/>
              <a:t>uygulaması </a:t>
            </a:r>
            <a:r>
              <a:rPr lang="tr-TR" smtClean="0"/>
              <a:t>yazınız</a:t>
            </a:r>
            <a:r>
              <a:rPr lang="tr-TR"/>
              <a:t>.</a:t>
            </a:r>
            <a:endParaRPr lang="tr-TR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25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48754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BF7E1A-4726-4A4D-936E-1547410B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>
                <a:latin typeface="Arial" panose="020B0604020202020204" pitchFamily="34" charset="0"/>
              </a:rPr>
              <a:t>Teşekkürler</a:t>
            </a:r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4" name="Metin Yer Tutucusu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8CE1-DD55-4A43-A479-EF83A2DC3985}" type="slidenum">
              <a:rPr lang="tr-TR" altLang="en-US" smtClean="0"/>
              <a:pPr/>
              <a:t>26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85717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tış eğitimi sunusu">
  <a:themeElements>
    <a:clrScheme name="Sales Training_final2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Sales Training_final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les Training_final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les Training_final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_26714067_TF02819076" id="{E31F1C6B-7E02-4139-9FF8-9E6BFA94BC44}" vid="{1FD1549A-4032-4B7C-9579-369478E37A3B}"/>
    </a:ext>
  </a:ext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Satış eğitimi slaytları</Template>
  <TotalTime>9322</TotalTime>
  <Words>1062</Words>
  <Application>Microsoft Office PowerPoint</Application>
  <PresentationFormat>Ekran Gösterisi (4:3)</PresentationFormat>
  <Paragraphs>321</Paragraphs>
  <Slides>26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26</vt:i4>
      </vt:variant>
    </vt:vector>
  </HeadingPairs>
  <TitlesOfParts>
    <vt:vector size="31" baseType="lpstr">
      <vt:lpstr>Arial</vt:lpstr>
      <vt:lpstr>Courier New</vt:lpstr>
      <vt:lpstr>Haettenschweiler</vt:lpstr>
      <vt:lpstr>Wingdings</vt:lpstr>
      <vt:lpstr>Satış eğitimi sunusu</vt:lpstr>
      <vt:lpstr>BM201 Görsel  Programlamaya Giriş</vt:lpstr>
      <vt:lpstr>Amaç</vt:lpstr>
      <vt:lpstr>C# Kontrol Yapısı</vt:lpstr>
      <vt:lpstr>if Kontrol Yapısı</vt:lpstr>
      <vt:lpstr>if-else Yapısı</vt:lpstr>
      <vt:lpstr>if-else if Yapısı</vt:lpstr>
      <vt:lpstr>if-else</vt:lpstr>
      <vt:lpstr>if-else</vt:lpstr>
      <vt:lpstr>Koşul Yapılarında { } Kullanımı</vt:lpstr>
      <vt:lpstr>conditional operatör (:?)</vt:lpstr>
      <vt:lpstr>switch-case Yapısı</vt:lpstr>
      <vt:lpstr>switch-case Örnek</vt:lpstr>
      <vt:lpstr>for Döngüsü</vt:lpstr>
      <vt:lpstr>for Döngüsü Örneği</vt:lpstr>
      <vt:lpstr>foreach Döngüsü</vt:lpstr>
      <vt:lpstr>while Döngüsü</vt:lpstr>
      <vt:lpstr>while Döngüsü</vt:lpstr>
      <vt:lpstr>while Döngüsü</vt:lpstr>
      <vt:lpstr>while Döngüsü</vt:lpstr>
      <vt:lpstr>while Döngüsü</vt:lpstr>
      <vt:lpstr>do-while Döngüsü</vt:lpstr>
      <vt:lpstr>do-while Döngüsü</vt:lpstr>
      <vt:lpstr>İç İçe Döngüler (Nested Loops)</vt:lpstr>
      <vt:lpstr>İç İçe Döngüler Örneği</vt:lpstr>
      <vt:lpstr>ÖDEV</vt:lpstr>
      <vt:lpstr>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BM108 Bilgisayar Mühendisliğine Giriş</dc:title>
  <dc:creator>user</dc:creator>
  <cp:lastModifiedBy>user</cp:lastModifiedBy>
  <cp:revision>390</cp:revision>
  <dcterms:created xsi:type="dcterms:W3CDTF">2020-10-09T08:01:48Z</dcterms:created>
  <dcterms:modified xsi:type="dcterms:W3CDTF">2024-03-04T11:47:52Z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