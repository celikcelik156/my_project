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44"/>
  </p:notesMasterIdLst>
  <p:handoutMasterIdLst>
    <p:handoutMasterId r:id="rId45"/>
  </p:handoutMasterIdLst>
  <p:sldIdLst>
    <p:sldId id="269" r:id="rId2"/>
    <p:sldId id="271" r:id="rId3"/>
    <p:sldId id="282" r:id="rId4"/>
    <p:sldId id="286" r:id="rId5"/>
    <p:sldId id="287" r:id="rId6"/>
    <p:sldId id="288" r:id="rId7"/>
    <p:sldId id="283" r:id="rId8"/>
    <p:sldId id="333" r:id="rId9"/>
    <p:sldId id="334" r:id="rId10"/>
    <p:sldId id="335" r:id="rId11"/>
    <p:sldId id="336" r:id="rId12"/>
    <p:sldId id="292" r:id="rId13"/>
    <p:sldId id="332" r:id="rId14"/>
    <p:sldId id="331" r:id="rId15"/>
    <p:sldId id="293" r:id="rId16"/>
    <p:sldId id="296" r:id="rId17"/>
    <p:sldId id="304" r:id="rId18"/>
    <p:sldId id="305" r:id="rId19"/>
    <p:sldId id="309" r:id="rId20"/>
    <p:sldId id="310" r:id="rId21"/>
    <p:sldId id="311" r:id="rId22"/>
    <p:sldId id="314" r:id="rId23"/>
    <p:sldId id="315" r:id="rId24"/>
    <p:sldId id="316" r:id="rId25"/>
    <p:sldId id="317" r:id="rId26"/>
    <p:sldId id="318" r:id="rId27"/>
    <p:sldId id="319" r:id="rId28"/>
    <p:sldId id="321" r:id="rId29"/>
    <p:sldId id="320" r:id="rId30"/>
    <p:sldId id="322" r:id="rId31"/>
    <p:sldId id="323" r:id="rId32"/>
    <p:sldId id="324" r:id="rId33"/>
    <p:sldId id="328" r:id="rId34"/>
    <p:sldId id="329" r:id="rId35"/>
    <p:sldId id="295" r:id="rId36"/>
    <p:sldId id="291" r:id="rId37"/>
    <p:sldId id="302" r:id="rId38"/>
    <p:sldId id="298" r:id="rId39"/>
    <p:sldId id="301" r:id="rId40"/>
    <p:sldId id="303" r:id="rId41"/>
    <p:sldId id="330" r:id="rId42"/>
    <p:sldId id="281" r:id="rId43"/>
  </p:sldIdLst>
  <p:sldSz cx="9144000" cy="6858000" type="screen4x3"/>
  <p:notesSz cx="7010400" cy="9296400"/>
  <p:defaultTextStyle>
    <a:defPPr rtl="0">
      <a:defRPr lang="tr-tr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accent2"/>
      </a:buClr>
      <a:buSzPct val="70000"/>
      <a:buFont typeface="Wingdings" pitchFamily="2" charset="2"/>
      <a:buChar char="l"/>
      <a:defRPr sz="2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4" clrIdx="0">
    <p:extLst>
      <p:ext uri="{19B8F6BF-5375-455C-9EA6-DF929625EA0E}">
        <p15:presenceInfo xmlns:p15="http://schemas.microsoft.com/office/powerpoint/2012/main" userId="1fc7fc7521ad5d0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3611"/>
    <a:srgbClr val="A44114"/>
    <a:srgbClr val="F3B99F"/>
    <a:srgbClr val="B94917"/>
    <a:srgbClr val="FF6600"/>
    <a:srgbClr val="000066"/>
    <a:srgbClr val="00002C"/>
    <a:srgbClr val="C4E7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Açık Stil 1 - Vurgu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Açık Sti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7292A2E-F333-43FB-9621-5CBBE7FDCDCB}" styleName="Açık Stil 2 - Vurgu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01" autoAdjust="0"/>
    <p:restoredTop sz="97155" autoAdjust="0"/>
  </p:normalViewPr>
  <p:slideViewPr>
    <p:cSldViewPr>
      <p:cViewPr varScale="1">
        <p:scale>
          <a:sx n="115" d="100"/>
          <a:sy n="115" d="100"/>
        </p:scale>
        <p:origin x="1542" y="11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296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ke Test User" userId="SID-0" providerId="Test" clId="FakeClientId"/>
    <pc:docChg chg="undo custSel modSld modNotesMaster">
      <pc:chgData name="Fake Test User" userId="SID-0" providerId="Test" clId="FakeClientId" dt="2018-12-04T05:43:13.074" v="7" actId="790"/>
      <pc:docMkLst>
        <pc:docMk/>
      </pc:docMkLst>
      <pc:sldChg chg="modSp">
        <pc:chgData name="Fake Test User" userId="SID-0" providerId="Test" clId="FakeClientId" dt="2018-12-04T05:39:21.983" v="1" actId="6549"/>
        <pc:sldMkLst>
          <pc:docMk/>
          <pc:sldMk cId="3733441278" sldId="271"/>
        </pc:sldMkLst>
        <pc:spChg chg="mod">
          <ac:chgData name="Fake Test User" userId="SID-0" providerId="Test" clId="FakeClientId" dt="2018-12-04T05:39:21.983" v="1" actId="6549"/>
          <ac:spMkLst>
            <pc:docMk/>
            <pc:sldMk cId="3733441278" sldId="271"/>
            <ac:spMk id="3" creationId="{138AFC74-2DAB-4FF2-A66B-288CACB8B844}"/>
          </ac:spMkLst>
        </pc:spChg>
      </pc:sldChg>
      <pc:sldChg chg="modSp">
        <pc:chgData name="Fake Test User" userId="SID-0" providerId="Test" clId="FakeClientId" dt="2018-12-04T05:41:53.817" v="6" actId="27636"/>
        <pc:sldMkLst>
          <pc:docMk/>
          <pc:sldMk cId="2525023481" sldId="277"/>
        </pc:sldMkLst>
        <pc:spChg chg="mod">
          <ac:chgData name="Fake Test User" userId="SID-0" providerId="Test" clId="FakeClientId" dt="2018-12-04T05:41:53.817" v="6" actId="27636"/>
          <ac:spMkLst>
            <pc:docMk/>
            <pc:sldMk cId="2525023481" sldId="277"/>
            <ac:spMk id="3" creationId="{CF66EF10-C287-4341-AD3D-9B48C2895A59}"/>
          </ac:spMkLst>
        </pc:spChg>
      </pc:sldChg>
      <pc:sldChg chg="modSp">
        <pc:chgData name="Fake Test User" userId="SID-0" providerId="Test" clId="FakeClientId" dt="2018-12-04T05:40:40.727" v="5" actId="20577"/>
        <pc:sldMkLst>
          <pc:docMk/>
          <pc:sldMk cId="2321117250" sldId="278"/>
        </pc:sldMkLst>
        <pc:spChg chg="mod">
          <ac:chgData name="Fake Test User" userId="SID-0" providerId="Test" clId="FakeClientId" dt="2018-12-04T05:40:40.727" v="5" actId="20577"/>
          <ac:spMkLst>
            <pc:docMk/>
            <pc:sldMk cId="2321117250" sldId="278"/>
            <ac:spMk id="3" creationId="{D1E1198F-DBE4-4470-AE42-7DC4BC96CAD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Dikdörtgen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34819" name="Dikdörtgen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fld id="{8EB1AC0F-E286-44A1-8E5A-20BC1E627360}" type="datetime1">
              <a:rPr lang="tr-TR" smtClean="0">
                <a:latin typeface="Arial" panose="020B0604020202020204" pitchFamily="34" charset="0"/>
              </a:rPr>
              <a:t>24.09.2024</a:t>
            </a:fld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34820" name="Dikdörtgen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34821" name="Dikdörtgen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 rtl="0"/>
            <a:fld id="{F0B6EC5B-DE15-4B62-9DC0-DE1BD893DD16}" type="slidenum">
              <a:rPr lang="tr-TR" smtClean="0">
                <a:latin typeface="Arial" panose="020B0604020202020204" pitchFamily="34" charset="0"/>
              </a:rPr>
              <a:pPr/>
              <a:t>‹#›</a:t>
            </a:fld>
            <a:endParaRPr lang="tr-T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8682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ikdörtgen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endParaRPr lang="tr-TR" noProof="0"/>
          </a:p>
        </p:txBody>
      </p:sp>
      <p:sp>
        <p:nvSpPr>
          <p:cNvPr id="26627" name="Dikdörtgen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fld id="{8B2142ED-62CF-4BE7-A720-C948E8939493}" type="datetime1">
              <a:rPr lang="tr-TR" noProof="0" smtClean="0"/>
              <a:t>24.09.2024</a:t>
            </a:fld>
            <a:endParaRPr lang="tr-TR" noProof="0"/>
          </a:p>
        </p:txBody>
      </p:sp>
      <p:sp>
        <p:nvSpPr>
          <p:cNvPr id="26628" name="Dikdörtgen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9" name="Dikdörtgen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t" anchorCtr="0" compatLnSpc="1">
            <a:prstTxWarp prst="textNoShape">
              <a:avLst/>
            </a:prstTxWarp>
          </a:bodyPr>
          <a:lstStyle/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</a:p>
        </p:txBody>
      </p:sp>
      <p:sp>
        <p:nvSpPr>
          <p:cNvPr id="26630" name="Dikdörtgen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endParaRPr lang="tr-TR" noProof="0"/>
          </a:p>
        </p:txBody>
      </p:sp>
      <p:sp>
        <p:nvSpPr>
          <p:cNvPr id="26631" name="Dikdörtgen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rtlCol="0" anchor="b" anchorCtr="0" compatLnSpc="1">
            <a:prstTxWarp prst="textNoShape">
              <a:avLst/>
            </a:prstTxWarp>
          </a:bodyPr>
          <a:lstStyle>
            <a:lvl1pPr algn="r" defTabSz="931863">
              <a:spcBef>
                <a:spcPct val="0"/>
              </a:spcBef>
              <a:buClrTx/>
              <a:buSzTx/>
              <a:buFontTx/>
              <a:buNone/>
              <a:defRPr sz="1200">
                <a:latin typeface="Arial" panose="020B0604020202020204" pitchFamily="34" charset="0"/>
              </a:defRPr>
            </a:lvl1pPr>
          </a:lstStyle>
          <a:p>
            <a:fld id="{823FACB9-4E35-4CB3-835A-2EBF55FAEDE3}" type="slidenum">
              <a:rPr lang="tr-TR" noProof="0" smtClean="0"/>
              <a:pPr/>
              <a:t>‹#›</a:t>
            </a:fld>
            <a:endParaRPr lang="tr-TR" noProof="0"/>
          </a:p>
        </p:txBody>
      </p:sp>
    </p:spTree>
    <p:extLst>
      <p:ext uri="{BB962C8B-B14F-4D97-AF65-F5344CB8AC3E}">
        <p14:creationId xmlns:p14="http://schemas.microsoft.com/office/powerpoint/2010/main" val="9718694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FACB9-4E35-4CB3-835A-2EBF55FAEDE3}" type="slidenum">
              <a:rPr lang="tr-TR" smtClean="0"/>
              <a:pPr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05594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FACB9-4E35-4CB3-835A-2EBF55FAEDE3}" type="slidenum">
              <a:rPr lang="tr-TR" smtClean="0"/>
              <a:pPr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80608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3FACB9-4E35-4CB3-835A-2EBF55FAEDE3}" type="slidenum">
              <a:rPr lang="tr-TR" smtClean="0"/>
              <a:pPr/>
              <a:t>42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57196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Çizgi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/>
          <a:lstStyle/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grpSp>
        <p:nvGrpSpPr>
          <p:cNvPr id="47112" name="Gr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7113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4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5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6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7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8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19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0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1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2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3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4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5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6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7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8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29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0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1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2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3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4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5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6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7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8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39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0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1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2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7143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</p:grpSp>
      <p:sp>
        <p:nvSpPr>
          <p:cNvPr id="47144" name="Çizgi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/>
          <a:lstStyle/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47107" name="Başlık Yer Tutucusu 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15913" y="466725"/>
            <a:ext cx="6781800" cy="2133600"/>
          </a:xfrm>
        </p:spPr>
        <p:txBody>
          <a:bodyPr rtlCol="0"/>
          <a:lstStyle>
            <a:lvl1pPr algn="r">
              <a:defRPr sz="4400">
                <a:latin typeface="Arial" panose="020B0604020202020204" pitchFamily="34" charset="0"/>
              </a:defRPr>
            </a:lvl1pPr>
          </a:lstStyle>
          <a:p>
            <a:pPr lvl="0"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47108" name="Metin Yer Tutucusu 2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849313" y="3049588"/>
            <a:ext cx="6248400" cy="2362200"/>
          </a:xfrm>
        </p:spPr>
        <p:txBody>
          <a:bodyPr rtlCol="0"/>
          <a:lstStyle>
            <a:lvl1pPr marL="0" indent="0" algn="r">
              <a:buFontTx/>
              <a:buNone/>
              <a:defRPr sz="2900">
                <a:latin typeface="Arial" panose="020B0604020202020204" pitchFamily="34" charset="0"/>
              </a:defRPr>
            </a:lvl1pPr>
          </a:lstStyle>
          <a:p>
            <a:pPr lvl="0" rtl="0"/>
            <a:r>
              <a:rPr lang="tr-TR" noProof="0"/>
              <a:t>Asıl alt başlık stilini düzenlemek için tıklatın</a:t>
            </a:r>
            <a:endParaRPr lang="tr-TR" noProof="0" dirty="0"/>
          </a:p>
        </p:txBody>
      </p:sp>
      <p:sp>
        <p:nvSpPr>
          <p:cNvPr id="47109" name="Tarih Yer Tutucusu 3"/>
          <p:cNvSpPr>
            <a:spLocks noGrp="1" noChangeArrowheads="1"/>
          </p:cNvSpPr>
          <p:nvPr>
            <p:ph type="dt" sz="half" idx="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E06B36F6-45CF-44EC-92EC-747323348449}" type="datetime1">
              <a:rPr lang="tr-TR" altLang="en-US" smtClean="0"/>
              <a:t>24.09.2024</a:t>
            </a:fld>
            <a:endParaRPr lang="tr-TR" altLang="en-US" dirty="0"/>
          </a:p>
        </p:txBody>
      </p:sp>
      <p:sp>
        <p:nvSpPr>
          <p:cNvPr id="47110" name="Alt Bilgi Yer Tutucusu 4"/>
          <p:cNvSpPr>
            <a:spLocks noGrp="1" noChangeArrowheads="1"/>
          </p:cNvSpPr>
          <p:nvPr>
            <p:ph type="ftr" sz="quarter" idx="3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/>
              <a:t>Alt bilgi ekleme</a:t>
            </a:r>
            <a:endParaRPr lang="tr-TR" dirty="0"/>
          </a:p>
        </p:txBody>
      </p:sp>
      <p:sp>
        <p:nvSpPr>
          <p:cNvPr id="47111" name="Slayt Numarası Yer Tutucusu 5"/>
          <p:cNvSpPr>
            <a:spLocks noGrp="1" noChangeArrowheads="1"/>
          </p:cNvSpPr>
          <p:nvPr>
            <p:ph type="sldNum" sz="quarter" idx="4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E945280F-DE53-48B1-9FB9-96A39916642A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 marL="45720" indent="0">
              <a:buFontTx/>
              <a:buNone/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AF121EA4-7451-46EF-AC9C-BE38A0CA0DC9}" type="datetime1">
              <a:rPr lang="tr-TR" altLang="en-US" smtClean="0"/>
              <a:t>24.09.2024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/>
              <a:t>Alt bilgi ekleme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71C6F290-D301-4864-9490-340EF11588D9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036072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rtlCol="0" anchor="t"/>
          <a:lstStyle>
            <a:lvl1pPr algn="l">
              <a:defRPr sz="4000" b="1" cap="all"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rtlCol="0" anchor="b"/>
          <a:lstStyle>
            <a:lvl1pPr marL="0" indent="0">
              <a:buNone/>
              <a:defRPr sz="2000">
                <a:latin typeface="Arial" panose="020B060402020202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2477DF7E-E0B3-4182-8D13-C2DDF93AB6B5}" type="datetime1">
              <a:rPr lang="tr-TR" altLang="en-US" smtClean="0"/>
              <a:t>24.09.2024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/>
              <a:t>Alt bilgi ekleme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D0208CE1-DD55-4A43-A479-EF83A2DC3985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62197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 hasCustomPrompt="1"/>
          </p:nvPr>
        </p:nvSpPr>
        <p:spPr>
          <a:xfrm>
            <a:off x="1143000" y="1524000"/>
            <a:ext cx="3619500" cy="4411663"/>
          </a:xfrm>
        </p:spPr>
        <p:txBody>
          <a:bodyPr rtlCol="0"/>
          <a:lstStyle>
            <a:lvl1pPr marL="45720" indent="0">
              <a:buFontTx/>
              <a:buNone/>
              <a:defRPr sz="2800">
                <a:latin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4914900" y="1524000"/>
            <a:ext cx="3619500" cy="4411663"/>
          </a:xfrm>
        </p:spPr>
        <p:txBody>
          <a:bodyPr rtlCol="0"/>
          <a:lstStyle>
            <a:lvl1pPr marL="45720" indent="0">
              <a:buFontTx/>
              <a:buNone/>
              <a:defRPr sz="2800">
                <a:latin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E83E61A1-2D1E-4E9B-9B82-8D3E08C5898F}" type="datetime1">
              <a:rPr lang="tr-TR" altLang="en-US" smtClean="0"/>
              <a:t>24.09.2024</a:t>
            </a:fld>
            <a:endParaRPr lang="tr-TR" altLang="en-US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/>
              <a:t>Alt bilgi ekleme</a:t>
            </a:r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0927AF89-6755-46F5-BBCF-E571D7F311A5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03735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0"/>
          </a:xfrm>
        </p:spPr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rtlCol="0" anchor="b"/>
          <a:lstStyle>
            <a:lvl1pPr marL="0" indent="0">
              <a:buNone/>
              <a:defRPr sz="2400" b="1"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 rtlCol="0"/>
          <a:lstStyle>
            <a:lvl1pPr marL="45720" indent="0">
              <a:buFontTx/>
              <a:buNone/>
              <a:defRPr sz="2400">
                <a:latin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rtlCol="0" anchor="b"/>
          <a:lstStyle>
            <a:lvl1pPr marL="0" indent="0">
              <a:buNone/>
              <a:defRPr sz="2400" b="1"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 rtlCol="0"/>
          <a:lstStyle>
            <a:lvl1pPr marL="45720" indent="0">
              <a:buFontTx/>
              <a:buNone/>
              <a:defRPr sz="2400">
                <a:latin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7" name="Tarih Yer Tutucusu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34FB15FF-4579-4682-8FD7-06AFF4EE0B6F}" type="datetime1">
              <a:rPr lang="tr-TR" altLang="en-US" smtClean="0"/>
              <a:t>24.09.2024</a:t>
            </a:fld>
            <a:endParaRPr lang="tr-TR" altLang="en-US" dirty="0"/>
          </a:p>
        </p:txBody>
      </p:sp>
      <p:sp>
        <p:nvSpPr>
          <p:cNvPr id="8" name="Alt Bilgi Yer Tutucusu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/>
              <a:t>Alt bilgi ekleme</a:t>
            </a:r>
            <a:endParaRPr lang="tr-TR" dirty="0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F76BE3C0-1208-4260-82C3-0EB040027195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393253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D18031B7-64B7-4EF9-8B21-78A5D432910C}" type="datetime1">
              <a:rPr lang="tr-TR" altLang="en-US" smtClean="0"/>
              <a:t>24.09.2024</a:t>
            </a:fld>
            <a:endParaRPr lang="tr-TR" altLang="en-US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/>
              <a:t>Alt bilgi ekleme</a:t>
            </a:r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D5F02DF6-5EF1-449D-8E8F-F40E7D2FCBCB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86736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2DEEDB3C-10B7-4BB8-B7E6-EC2F3E485486}" type="datetime1">
              <a:rPr lang="tr-TR" altLang="en-US" smtClean="0"/>
              <a:t>24.09.2024</a:t>
            </a:fld>
            <a:endParaRPr lang="tr-TR" altLang="en-US" dirty="0"/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/>
              <a:t>Alt bilgi ekleme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AC3460AA-1533-4548-8781-A6D0EAE276D6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251094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rtlCol="0"/>
          <a:lstStyle>
            <a:lvl1pPr algn="l">
              <a:defRPr sz="2000" b="1"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 rtlCol="0"/>
          <a:lstStyle>
            <a:lvl1pPr marL="45720" indent="0">
              <a:buFontTx/>
              <a:buNone/>
              <a:defRPr sz="3200">
                <a:latin typeface="Arial" panose="020B0604020202020204" pitchFamily="34" charset="0"/>
              </a:defRPr>
            </a:lvl1pPr>
            <a:lvl2pPr>
              <a:defRPr sz="2800">
                <a:latin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 rtlCol="0"/>
          <a:lstStyle>
            <a:lvl1pPr marL="0" indent="0">
              <a:buNone/>
              <a:defRPr sz="1400">
                <a:latin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71B37F5D-2295-4F5A-B3AD-8B2D37B3CEE7}" type="datetime1">
              <a:rPr lang="tr-TR" altLang="en-US" smtClean="0"/>
              <a:t>24.09.2024</a:t>
            </a:fld>
            <a:endParaRPr lang="tr-TR" altLang="en-US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/>
              <a:t>Alt bilgi ekleme</a:t>
            </a:r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C6386842-FEC9-453F-B6F7-7C945F3A2D73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1530924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rtlCol="0"/>
          <a:lstStyle>
            <a:lvl1pPr algn="l">
              <a:defRPr sz="2000" b="1"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</p:spPr>
        <p:txBody>
          <a:bodyPr rtlCol="0"/>
          <a:lstStyle>
            <a:lvl1pPr marL="0" indent="0">
              <a:buNone/>
              <a:defRPr sz="3200">
                <a:latin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tr-TR"/>
              <a:t>Resim eklemek için simgeye tıklayın</a:t>
            </a:r>
            <a:endParaRPr lang="tr-TR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 rtlCol="0"/>
          <a:lstStyle>
            <a:lvl1pPr marL="0" indent="0">
              <a:buNone/>
              <a:defRPr sz="1400">
                <a:latin typeface="Arial" panose="020B06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tr-TR"/>
              <a:t>Asıl metin stillerini düzenlemek için tıklayın</a:t>
            </a:r>
            <a:endParaRPr lang="tr-TR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76DFA50F-395F-4FDE-A6E8-9E1EBA17A309}" type="datetime1">
              <a:rPr lang="tr-TR" altLang="en-US" smtClean="0"/>
              <a:t>24.09.2024</a:t>
            </a:fld>
            <a:endParaRPr lang="tr-TR" altLang="en-US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/>
              <a:t>Alt bilgi ekleme</a:t>
            </a:r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E96DA581-ADE3-4A40-91CB-711A776CAC29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291156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1pPr marL="45720" indent="0">
              <a:buFontTx/>
              <a:buNone/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01AD666B-80F8-4322-9C36-13ED0A30C122}" type="datetime1">
              <a:rPr lang="tr-TR" altLang="en-US" smtClean="0"/>
              <a:t>24.09.2024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/>
              <a:t>Alt bilgi ekleme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872E90EB-6CA4-453F-8712-C339590DE034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411312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6457950" y="228600"/>
            <a:ext cx="2076450" cy="5707063"/>
          </a:xfrm>
        </p:spPr>
        <p:txBody>
          <a:bodyPr vert="eaVert"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228600" y="228600"/>
            <a:ext cx="6076950" cy="5707063"/>
          </a:xfrm>
        </p:spPr>
        <p:txBody>
          <a:bodyPr vert="eaVert" rtlCol="0"/>
          <a:lstStyle>
            <a:lvl1pPr marL="45720" indent="0">
              <a:buFontTx/>
              <a:buNone/>
              <a:defRPr>
                <a:latin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 lang="tr-TR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BE6A5FAC-E593-49AE-AED3-51E74CBDF44F}" type="datetime1">
              <a:rPr lang="tr-TR" altLang="en-US" smtClean="0"/>
              <a:t>24.09.2024</a:t>
            </a:fld>
            <a:endParaRPr lang="tr-TR" altLang="en-US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tr-TR"/>
              <a:t>Alt bilgi ekleme</a:t>
            </a:r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26D251BA-4196-46F7-BF5E-DE37F6712AD1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  <p:extLst>
      <p:ext uri="{BB962C8B-B14F-4D97-AF65-F5344CB8AC3E}">
        <p14:creationId xmlns:p14="http://schemas.microsoft.com/office/powerpoint/2010/main" val="32517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Çizgi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/>
          <a:lstStyle/>
          <a:p>
            <a:pPr rtl="0"/>
            <a:endParaRPr lang="tr-TR" dirty="0">
              <a:latin typeface="Arial" panose="020B0604020202020204" pitchFamily="34" charset="0"/>
            </a:endParaRPr>
          </a:p>
        </p:txBody>
      </p:sp>
      <p:grpSp>
        <p:nvGrpSpPr>
          <p:cNvPr id="46088" name="Gr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46089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0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1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2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3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4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5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6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7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8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099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0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1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2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3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4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5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6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7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8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09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0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1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2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3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4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5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6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7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8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  <p:sp>
          <p:nvSpPr>
            <p:cNvPr id="46119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rtl="0"/>
              <a:endParaRPr lang="tr-TR" dirty="0">
                <a:latin typeface="Arial" panose="020B0604020202020204" pitchFamily="34" charset="0"/>
              </a:endParaRPr>
            </a:p>
          </p:txBody>
        </p:sp>
      </p:grpSp>
      <p:sp>
        <p:nvSpPr>
          <p:cNvPr id="46083" name="Başlık Yer Tutucusu 1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76962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lvl="0" rtl="0"/>
            <a:r>
              <a:rPr lang="tr-TR"/>
              <a:t>Asıl başlık stilini düzenlemek için tıklayın</a:t>
            </a:r>
            <a:endParaRPr lang="tr-TR" dirty="0"/>
          </a:p>
        </p:txBody>
      </p:sp>
      <p:sp>
        <p:nvSpPr>
          <p:cNvPr id="46084" name="Metin Yer Tutucusu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1524000"/>
            <a:ext cx="7391400" cy="441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</a:p>
          <a:p>
            <a:pPr lvl="8" rtl="0"/>
            <a:endParaRPr lang="tr-TR" altLang="en-US"/>
          </a:p>
          <a:p>
            <a:pPr lvl="8" rtl="0"/>
            <a:endParaRPr lang="tr-TR" altLang="en-US" dirty="0"/>
          </a:p>
        </p:txBody>
      </p:sp>
      <p:sp>
        <p:nvSpPr>
          <p:cNvPr id="46085" name="Tarih Yer Tutucusu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000">
                <a:latin typeface="Arial" panose="020B0604020202020204" pitchFamily="34" charset="0"/>
              </a:defRPr>
            </a:lvl1pPr>
          </a:lstStyle>
          <a:p>
            <a:fld id="{B9EB1398-D18F-4241-92D7-094D1F5D15C5}" type="datetime1">
              <a:rPr lang="tr-TR" altLang="en-US" smtClean="0"/>
              <a:t>24.09.2024</a:t>
            </a:fld>
            <a:endParaRPr lang="tr-TR" altLang="en-US" dirty="0"/>
          </a:p>
        </p:txBody>
      </p:sp>
      <p:sp>
        <p:nvSpPr>
          <p:cNvPr id="46086" name="Alt Bilgi Yer Tutucusu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SzTx/>
              <a:buFontTx/>
              <a:buNone/>
              <a:defRPr sz="1000">
                <a:latin typeface="Arial" panose="020B0604020202020204" pitchFamily="34" charset="0"/>
              </a:defRPr>
            </a:lvl1pPr>
          </a:lstStyle>
          <a:p>
            <a:r>
              <a:rPr lang="tr-TR"/>
              <a:t>Alt bilgi ekleme</a:t>
            </a:r>
            <a:endParaRPr lang="tr-TR" dirty="0"/>
          </a:p>
        </p:txBody>
      </p:sp>
      <p:sp>
        <p:nvSpPr>
          <p:cNvPr id="46087" name="Slayt Numarası Yer Tutucusu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000">
                <a:latin typeface="Arial" panose="020B0604020202020204" pitchFamily="34" charset="0"/>
              </a:defRPr>
            </a:lvl1pPr>
          </a:lstStyle>
          <a:p>
            <a:fld id="{D7E5119E-5338-4B55-81DC-57EAC9440FD0}" type="slidenum">
              <a:rPr lang="tr-TR" altLang="en-US" smtClean="0"/>
              <a:pPr/>
              <a:t>‹#›</a:t>
            </a:fld>
            <a:endParaRPr lang="tr-T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45720" indent="0" algn="l" rtl="0" eaLnBrk="1" fontAlgn="base" hangingPunct="1">
        <a:spcBef>
          <a:spcPct val="25000"/>
        </a:spcBef>
        <a:spcAft>
          <a:spcPct val="0"/>
        </a:spcAft>
        <a:buClr>
          <a:schemeClr val="tx2"/>
        </a:buClr>
        <a:buSzPct val="120000"/>
        <a:buFontTx/>
        <a:buNone/>
        <a:defRPr sz="27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92150" indent="-347663" algn="l" rtl="0" eaLnBrk="1" fontAlgn="base" hangingPunct="1">
        <a:spcBef>
          <a:spcPct val="0"/>
        </a:spcBef>
        <a:spcAft>
          <a:spcPct val="25000"/>
        </a:spcAft>
        <a:buClr>
          <a:schemeClr val="accent2">
            <a:lumMod val="75000"/>
          </a:schemeClr>
        </a:buClr>
        <a:buSzPct val="55000"/>
        <a:buFont typeface="Wingdings" pitchFamily="2" charset="2"/>
        <a:buChar char="l"/>
        <a:defRPr sz="2400">
          <a:solidFill>
            <a:schemeClr val="tx1"/>
          </a:solidFill>
          <a:latin typeface="Arial" panose="020B0604020202020204" pitchFamily="34" charset="0"/>
        </a:defRPr>
      </a:lvl2pPr>
      <a:lvl3pPr marL="987425" indent="-293688" algn="l" rtl="0" eaLnBrk="1" fontAlgn="base" hangingPunct="1">
        <a:spcBef>
          <a:spcPct val="0"/>
        </a:spcBef>
        <a:spcAft>
          <a:spcPct val="25000"/>
        </a:spcAft>
        <a:buClr>
          <a:schemeClr val="accent1">
            <a:lumMod val="50000"/>
          </a:schemeClr>
        </a:buClr>
        <a:buSzPct val="50000"/>
        <a:buFont typeface="Wingdings" pitchFamily="2" charset="2"/>
        <a:buChar char="l"/>
        <a:defRPr sz="2200">
          <a:solidFill>
            <a:schemeClr val="tx1"/>
          </a:solidFill>
          <a:latin typeface="Arial" panose="020B0604020202020204" pitchFamily="34" charset="0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>
            <a:lumMod val="75000"/>
          </a:schemeClr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Arial" panose="020B0604020202020204" pitchFamily="34" charset="0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accent3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Arial" panose="020B0604020202020204" pitchFamily="34" charset="0"/>
        </a:defRPr>
      </a:lvl5pPr>
      <a:lvl6pPr marL="1920240" indent="-315913" algn="l" rtl="0" eaLnBrk="1" fontAlgn="base" hangingPunct="1">
        <a:spcBef>
          <a:spcPct val="20000"/>
        </a:spcBef>
        <a:spcAft>
          <a:spcPct val="0"/>
        </a:spcAft>
        <a:buClr>
          <a:schemeClr val="accent6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240280" indent="-315913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651760" indent="-315913" algn="l" rtl="0" eaLnBrk="1" fontAlgn="base" hangingPunct="1">
        <a:spcBef>
          <a:spcPct val="20000"/>
        </a:spcBef>
        <a:spcAft>
          <a:spcPct val="0"/>
        </a:spcAft>
        <a:buClr>
          <a:schemeClr val="bg2">
            <a:lumMod val="75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108960" indent="-315913" algn="l" rtl="0" eaLnBrk="1" fontAlgn="base" hangingPunct="1"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70486D98-0B9B-4C4E-A25F-64BA4C5DB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BM201</a:t>
            </a:r>
            <a:r>
              <a:rPr lang="tr-TR" dirty="0" smtClean="0">
                <a:latin typeface="Arial" panose="020B0604020202020204" pitchFamily="34" charset="0"/>
              </a:rPr>
              <a:t/>
            </a:r>
            <a:br>
              <a:rPr lang="tr-TR" dirty="0" smtClean="0">
                <a:latin typeface="Arial" panose="020B0604020202020204" pitchFamily="34" charset="0"/>
              </a:rPr>
            </a:br>
            <a:r>
              <a:rPr lang="tr-TR" dirty="0" smtClean="0"/>
              <a:t>Görsel </a:t>
            </a:r>
            <a:br>
              <a:rPr lang="tr-TR" dirty="0" smtClean="0"/>
            </a:br>
            <a:r>
              <a:rPr lang="tr-TR" dirty="0" smtClean="0"/>
              <a:t>Programlamaya Giriş</a:t>
            </a:r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5" name="Alt Başlık 4">
            <a:extLst>
              <a:ext uri="{FF2B5EF4-FFF2-40B4-BE49-F238E27FC236}">
                <a16:creationId xmlns:a16="http://schemas.microsoft.com/office/drawing/2014/main" id="{D655BBED-E65C-4B70-99E3-9318D4F2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9313" y="3049588"/>
            <a:ext cx="6248400" cy="3259732"/>
          </a:xfrm>
        </p:spPr>
        <p:txBody>
          <a:bodyPr rtlCol="0"/>
          <a:lstStyle/>
          <a:p>
            <a:r>
              <a:rPr lang="tr-TR" b="1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</a:t>
            </a:r>
            <a:r>
              <a:rPr lang="tr-TR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</a:t>
            </a:r>
            <a:r>
              <a:rPr lang="tr-TR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:</a:t>
            </a:r>
            <a:r>
              <a:rPr lang="tr-TR" dirty="0" smtClean="0">
                <a:latin typeface="Arial" panose="020B0604020202020204" pitchFamily="34" charset="0"/>
              </a:rPr>
              <a:t> </a:t>
            </a:r>
            <a:r>
              <a:rPr lang="tr-T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C# ile Görsel Programlamaya Giriş</a:t>
            </a:r>
            <a:endParaRPr lang="tr-TR" dirty="0" smtClean="0">
              <a:latin typeface="Arial" panose="020B0604020202020204" pitchFamily="34" charset="0"/>
            </a:endParaRPr>
          </a:p>
          <a:p>
            <a:endParaRPr lang="tr-TR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ettenschweiler" panose="020B0706040902060204" pitchFamily="34" charset="0"/>
            </a:endParaRPr>
          </a:p>
          <a:p>
            <a:r>
              <a:rPr lang="tr-TR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ettenschweiler" panose="020B0706040902060204" pitchFamily="34" charset="0"/>
              </a:rPr>
              <a:t>Doç. Dr. Cemal AKTÜRK</a:t>
            </a:r>
            <a:endParaRPr lang="tr-T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aettenschweiler" panose="020B0706040902060204" pitchFamily="34" charset="0"/>
            </a:endParaRPr>
          </a:p>
          <a:p>
            <a:r>
              <a:rPr lang="tr-T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ettenschweiler" panose="020B0706040902060204" pitchFamily="34" charset="0"/>
              </a:rPr>
              <a:t>Bilgisayar Mühendisliği Bölümü</a:t>
            </a:r>
          </a:p>
          <a:p>
            <a:r>
              <a:rPr lang="tr-T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aettenschweiler" panose="020B0706040902060204" pitchFamily="34" charset="0"/>
              </a:rPr>
              <a:t>GİBTÜ</a:t>
            </a:r>
          </a:p>
        </p:txBody>
      </p:sp>
      <p:pic>
        <p:nvPicPr>
          <p:cNvPr id="6" name="Picture 2" descr="Gaziantep İslam Bilim ve Teknoloji Üniversites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196752"/>
            <a:ext cx="1512168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48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E83800-1E6B-4A93-87D3-3D70E59B3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Amaç</a:t>
            </a:r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38AFC74-2DAB-4FF2-A66B-288CACB8B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24000"/>
            <a:ext cx="7391400" cy="5073352"/>
          </a:xfrm>
        </p:spPr>
        <p:txBody>
          <a:bodyPr rtlCol="0">
            <a:normAutofit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Basit C# programı yazabilmek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>
                <a:latin typeface="Arial" panose="020B0604020202020204" pitchFamily="34" charset="0"/>
              </a:rPr>
              <a:t>Giriş-Çıkış işlemlerini gerçekleştirebilmek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Temel veri türlerine aşinalık kazanmak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>
                <a:latin typeface="Arial" panose="020B0604020202020204" pitchFamily="34" charset="0"/>
              </a:rPr>
              <a:t>Aritmetik operatörleri kullanabilmek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Aritmetik operatörlerin öncelik sırasını öğrenmek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>
                <a:latin typeface="Arial" panose="020B0604020202020204" pitchFamily="34" charset="0"/>
              </a:rPr>
              <a:t>Karşılaştırma ve eşitlik operatörlerini öğrenmek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endParaRPr lang="tr-T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441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C# (Si-</a:t>
            </a:r>
            <a:r>
              <a:rPr lang="tr-TR" dirty="0" err="1" smtClean="0"/>
              <a:t>Şarp</a:t>
            </a:r>
            <a:r>
              <a:rPr lang="tr-TR" dirty="0" smtClean="0"/>
              <a:t>) nedir?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Microsoft tarafından geliştirilmiş bir dildir.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C# nesne tabanlı programlamayı destekleyen, basit, kullanışlı ve C ile C++ dillerinden türetilen bir dildir.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Programlama mantığı ve temeli Java diline çok benzer.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Öne çıkan özellikleri:</a:t>
            </a:r>
          </a:p>
          <a:p>
            <a:pPr marL="1149350" lvl="1" indent="-457200">
              <a:buFont typeface="Arial" panose="020B0604020202020204" pitchFamily="34" charset="0"/>
              <a:buChar char="•"/>
            </a:pPr>
            <a:r>
              <a:rPr lang="tr-TR" dirty="0" smtClean="0"/>
              <a:t>Windows ve web programlama için görsel tasarım sağlar.</a:t>
            </a:r>
          </a:p>
          <a:p>
            <a:pPr marL="1149350" lvl="1" indent="-457200">
              <a:buFont typeface="Arial" panose="020B0604020202020204" pitchFamily="34" charset="0"/>
              <a:buChar char="•"/>
            </a:pPr>
            <a:r>
              <a:rPr lang="tr-TR" dirty="0" smtClean="0"/>
              <a:t>Derlenen bir programlama dilidir. </a:t>
            </a:r>
          </a:p>
        </p:txBody>
      </p:sp>
    </p:spTree>
    <p:extLst>
      <p:ext uri="{BB962C8B-B14F-4D97-AF65-F5344CB8AC3E}">
        <p14:creationId xmlns:p14="http://schemas.microsoft.com/office/powerpoint/2010/main" val="401480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C# Nitelikleri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Basit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Esnek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Nesne tabanlı programlamanın tüm özelliklerini taşır.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Otomatik çöp toplayıcı (</a:t>
            </a:r>
            <a:r>
              <a:rPr lang="en-GB" dirty="0" smtClean="0"/>
              <a:t>Garbage collector</a:t>
            </a:r>
            <a:r>
              <a:rPr lang="tr-TR" dirty="0" smtClean="0"/>
              <a:t>)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3442939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C#’</a:t>
            </a:r>
            <a:r>
              <a:rPr lang="tr-TR" dirty="0" err="1" smtClean="0"/>
              <a:t>ın</a:t>
            </a:r>
            <a:r>
              <a:rPr lang="tr-TR" dirty="0" smtClean="0"/>
              <a:t> Başlıca Uygulamaları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sz="2400" i="1" dirty="0" smtClean="0">
                <a:solidFill>
                  <a:srgbClr val="FF0000"/>
                </a:solidFill>
              </a:rPr>
              <a:t>Masaüstü Uygulamaları</a:t>
            </a:r>
            <a:r>
              <a:rPr lang="tr-TR" sz="2400" i="1" dirty="0" smtClean="0"/>
              <a:t>: </a:t>
            </a:r>
            <a:r>
              <a:rPr lang="tr-TR" sz="2400" dirty="0" smtClean="0"/>
              <a:t>Görsel veya ihtiyaç duyulan diğer masaüstü yazılımları geliştirme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sz="2400" i="1" dirty="0" smtClean="0">
                <a:solidFill>
                  <a:srgbClr val="FF0000"/>
                </a:solidFill>
              </a:rPr>
              <a:t>Class Library</a:t>
            </a:r>
            <a:r>
              <a:rPr lang="tr-TR" sz="2400" dirty="0" smtClean="0"/>
              <a:t>: Başka uygulamalarda kullanılacak sınıf kütüphaneleri </a:t>
            </a:r>
            <a:r>
              <a:rPr lang="tr-TR" sz="2400" dirty="0" smtClean="0"/>
              <a:t>oluşturma</a:t>
            </a:r>
            <a:endParaRPr lang="tr-TR" sz="2400" dirty="0" smtClean="0"/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sz="2400" i="1" dirty="0" smtClean="0">
                <a:solidFill>
                  <a:srgbClr val="FF0000"/>
                </a:solidFill>
              </a:rPr>
              <a:t>Console Applications</a:t>
            </a:r>
            <a:r>
              <a:rPr lang="tr-TR" sz="2400" dirty="0" smtClean="0"/>
              <a:t>: </a:t>
            </a:r>
            <a:r>
              <a:rPr lang="tr-TR" sz="2400" dirty="0" err="1" smtClean="0"/>
              <a:t>Text</a:t>
            </a:r>
            <a:r>
              <a:rPr lang="tr-TR" sz="2400" dirty="0" smtClean="0"/>
              <a:t> tabanlı uygulamalar (Siyah ekran uygulamaları)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sz="2400" i="1" dirty="0" err="1" smtClean="0">
                <a:solidFill>
                  <a:srgbClr val="FF0000"/>
                </a:solidFill>
              </a:rPr>
              <a:t>Asp.Net</a:t>
            </a:r>
            <a:r>
              <a:rPr lang="tr-TR" sz="2400" i="1" dirty="0" smtClean="0">
                <a:solidFill>
                  <a:srgbClr val="FF0000"/>
                </a:solidFill>
              </a:rPr>
              <a:t> Web Applications</a:t>
            </a:r>
            <a:r>
              <a:rPr lang="tr-TR" sz="2400" dirty="0" smtClean="0"/>
              <a:t>: Görsel web </a:t>
            </a:r>
            <a:r>
              <a:rPr lang="tr-TR" sz="2400" dirty="0" err="1"/>
              <a:t>u</a:t>
            </a:r>
            <a:r>
              <a:rPr lang="tr-TR" sz="2400" dirty="0" err="1" smtClean="0"/>
              <a:t>yg</a:t>
            </a:r>
            <a:r>
              <a:rPr lang="tr-TR" sz="2400" dirty="0" smtClean="0"/>
              <a:t>.</a:t>
            </a:r>
            <a:endParaRPr lang="en-GB" sz="2400" dirty="0" smtClean="0"/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en-GB" sz="2400" i="1" dirty="0" smtClean="0">
                <a:solidFill>
                  <a:srgbClr val="FF0000"/>
                </a:solidFill>
              </a:rPr>
              <a:t>Asp</a:t>
            </a:r>
            <a:r>
              <a:rPr lang="tr-TR" sz="2400" i="1" dirty="0" smtClean="0">
                <a:solidFill>
                  <a:srgbClr val="FF0000"/>
                </a:solidFill>
              </a:rPr>
              <a:t>.</a:t>
            </a:r>
            <a:r>
              <a:rPr lang="en-GB" sz="2400" i="1" dirty="0" smtClean="0">
                <a:solidFill>
                  <a:srgbClr val="FF0000"/>
                </a:solidFill>
              </a:rPr>
              <a:t>Net Web </a:t>
            </a:r>
            <a:r>
              <a:rPr lang="en-GB" sz="2400" i="1" dirty="0" err="1" smtClean="0">
                <a:solidFill>
                  <a:srgbClr val="FF0000"/>
                </a:solidFill>
              </a:rPr>
              <a:t>Serv</a:t>
            </a:r>
            <a:r>
              <a:rPr lang="tr-TR" sz="2400" i="1" dirty="0" smtClean="0">
                <a:solidFill>
                  <a:srgbClr val="FF0000"/>
                </a:solidFill>
              </a:rPr>
              <a:t>i</a:t>
            </a:r>
            <a:r>
              <a:rPr lang="en-GB" sz="2400" i="1" dirty="0" err="1" smtClean="0">
                <a:solidFill>
                  <a:srgbClr val="FF0000"/>
                </a:solidFill>
              </a:rPr>
              <a:t>ces</a:t>
            </a:r>
            <a:r>
              <a:rPr lang="tr-TR" sz="2400" dirty="0" smtClean="0"/>
              <a:t>: XML web uygulamaları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sz="2400" i="1" dirty="0" err="1" smtClean="0">
                <a:solidFill>
                  <a:srgbClr val="FF0000"/>
                </a:solidFill>
              </a:rPr>
              <a:t>Asp.Net</a:t>
            </a:r>
            <a:r>
              <a:rPr lang="tr-TR" sz="2400" i="1" dirty="0" smtClean="0">
                <a:solidFill>
                  <a:srgbClr val="FF0000"/>
                </a:solidFill>
              </a:rPr>
              <a:t> Mobile Web Applications</a:t>
            </a:r>
            <a:r>
              <a:rPr lang="tr-TR" sz="2400" dirty="0" smtClean="0"/>
              <a:t>: Cep telefonları gibi taşınabilir cihazlar için uygulama geliştirme</a:t>
            </a:r>
          </a:p>
        </p:txBody>
      </p:sp>
    </p:spTree>
    <p:extLst>
      <p:ext uri="{BB962C8B-B14F-4D97-AF65-F5344CB8AC3E}">
        <p14:creationId xmlns:p14="http://schemas.microsoft.com/office/powerpoint/2010/main" val="300132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Çalıştırılabilir Kod Oluşturma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605464" cy="4411663"/>
          </a:xfrm>
        </p:spPr>
        <p:txBody>
          <a:bodyPr/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Yazılan programların çalışması için makine diline dönüştürülmesi gerekir.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Windows </a:t>
            </a:r>
            <a:r>
              <a:rPr lang="tr-TR" dirty="0" err="1" smtClean="0"/>
              <a:t>İS’de</a:t>
            </a:r>
            <a:r>
              <a:rPr lang="tr-TR" dirty="0" smtClean="0"/>
              <a:t> makine dili dosyaları «</a:t>
            </a:r>
            <a:r>
              <a:rPr lang="tr-TR" i="1" dirty="0" err="1" smtClean="0"/>
              <a:t>exe</a:t>
            </a:r>
            <a:r>
              <a:rPr lang="tr-TR" dirty="0" smtClean="0"/>
              <a:t>» uzantılıdır.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Ör: </a:t>
            </a:r>
            <a:r>
              <a:rPr lang="tr-TR" dirty="0" err="1" smtClean="0"/>
              <a:t>MerhabaDunya.cs</a:t>
            </a:r>
            <a:r>
              <a:rPr lang="tr-TR" dirty="0" smtClean="0"/>
              <a:t> </a:t>
            </a:r>
            <a:r>
              <a:rPr lang="tr-TR" dirty="0" smtClean="0">
                <a:sym typeface="Wingdings" panose="05000000000000000000" pitchFamily="2" charset="2"/>
              </a:rPr>
              <a:t> MerhabaDunya.exe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27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«Merhaba Dünya» Console Uygulaması</a:t>
            </a:r>
            <a:endParaRPr lang="en-GB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700808"/>
            <a:ext cx="8440241" cy="4408442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6165304"/>
            <a:ext cx="4968552" cy="65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111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«Merhaba Dünya» Form Uygulaması</a:t>
            </a:r>
            <a:endParaRPr lang="en-GB" dirty="0"/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628800"/>
            <a:ext cx="4581525" cy="2457450"/>
          </a:xfrm>
          <a:prstGeom prst="rect">
            <a:avLst/>
          </a:prstGeom>
        </p:spPr>
      </p:pic>
      <p:sp>
        <p:nvSpPr>
          <p:cNvPr id="4" name="Metin kutusu 3"/>
          <p:cNvSpPr txBox="1"/>
          <p:nvPr/>
        </p:nvSpPr>
        <p:spPr>
          <a:xfrm>
            <a:off x="5220072" y="1524000"/>
            <a:ext cx="3744416" cy="5336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200" dirty="0"/>
              <a:t>using System;</a:t>
            </a:r>
          </a:p>
          <a:p>
            <a:pPr>
              <a:buNone/>
            </a:pPr>
            <a:r>
              <a:rPr lang="en-GB" sz="1200" dirty="0"/>
              <a:t>using </a:t>
            </a:r>
            <a:r>
              <a:rPr lang="en-GB" sz="1200" dirty="0" err="1"/>
              <a:t>System.Collections.Generic</a:t>
            </a:r>
            <a:r>
              <a:rPr lang="en-GB" sz="1200" dirty="0"/>
              <a:t>;</a:t>
            </a:r>
          </a:p>
          <a:p>
            <a:pPr>
              <a:buNone/>
            </a:pPr>
            <a:r>
              <a:rPr lang="en-GB" sz="1200" dirty="0"/>
              <a:t>using </a:t>
            </a:r>
            <a:r>
              <a:rPr lang="en-GB" sz="1200" dirty="0" err="1"/>
              <a:t>System.ComponentModel</a:t>
            </a:r>
            <a:r>
              <a:rPr lang="en-GB" sz="1200" dirty="0"/>
              <a:t>;</a:t>
            </a:r>
          </a:p>
          <a:p>
            <a:pPr>
              <a:buNone/>
            </a:pPr>
            <a:r>
              <a:rPr lang="en-GB" sz="1200" dirty="0"/>
              <a:t>using </a:t>
            </a:r>
            <a:r>
              <a:rPr lang="en-GB" sz="1200" dirty="0" err="1"/>
              <a:t>System.Data</a:t>
            </a:r>
            <a:r>
              <a:rPr lang="en-GB" sz="1200" dirty="0"/>
              <a:t>;</a:t>
            </a:r>
          </a:p>
          <a:p>
            <a:pPr>
              <a:buNone/>
            </a:pPr>
            <a:r>
              <a:rPr lang="en-GB" sz="1200" dirty="0"/>
              <a:t>using </a:t>
            </a:r>
            <a:r>
              <a:rPr lang="en-GB" sz="1200" dirty="0" err="1"/>
              <a:t>System.Drawing</a:t>
            </a:r>
            <a:r>
              <a:rPr lang="en-GB" sz="1200" dirty="0"/>
              <a:t>;</a:t>
            </a:r>
          </a:p>
          <a:p>
            <a:pPr>
              <a:buNone/>
            </a:pPr>
            <a:r>
              <a:rPr lang="en-GB" sz="1200" dirty="0"/>
              <a:t>using </a:t>
            </a:r>
            <a:r>
              <a:rPr lang="en-GB" sz="1200" dirty="0" err="1"/>
              <a:t>System.Linq</a:t>
            </a:r>
            <a:r>
              <a:rPr lang="en-GB" sz="1200" dirty="0"/>
              <a:t>;</a:t>
            </a:r>
          </a:p>
          <a:p>
            <a:pPr>
              <a:buNone/>
            </a:pPr>
            <a:r>
              <a:rPr lang="en-GB" sz="1200" dirty="0"/>
              <a:t>using </a:t>
            </a:r>
            <a:r>
              <a:rPr lang="en-GB" sz="1200" dirty="0" err="1"/>
              <a:t>System.Text</a:t>
            </a:r>
            <a:r>
              <a:rPr lang="en-GB" sz="1200" dirty="0"/>
              <a:t>;</a:t>
            </a:r>
          </a:p>
          <a:p>
            <a:pPr>
              <a:buNone/>
            </a:pPr>
            <a:r>
              <a:rPr lang="en-GB" sz="1200" dirty="0"/>
              <a:t>using </a:t>
            </a:r>
            <a:r>
              <a:rPr lang="en-GB" sz="1200" dirty="0" err="1"/>
              <a:t>System.Threading.Tasks</a:t>
            </a:r>
            <a:r>
              <a:rPr lang="en-GB" sz="1200" dirty="0"/>
              <a:t>;</a:t>
            </a:r>
          </a:p>
          <a:p>
            <a:pPr>
              <a:buNone/>
            </a:pPr>
            <a:r>
              <a:rPr lang="en-GB" sz="1200" dirty="0"/>
              <a:t>using </a:t>
            </a:r>
            <a:r>
              <a:rPr lang="en-GB" sz="1200" dirty="0" err="1"/>
              <a:t>System.Windows.Forms</a:t>
            </a:r>
            <a:r>
              <a:rPr lang="en-GB" sz="1200" dirty="0"/>
              <a:t>;</a:t>
            </a:r>
          </a:p>
          <a:p>
            <a:pPr>
              <a:buNone/>
            </a:pPr>
            <a:r>
              <a:rPr lang="en-GB" sz="1200" dirty="0"/>
              <a:t>namespace </a:t>
            </a:r>
            <a:r>
              <a:rPr lang="en-GB" sz="1200" dirty="0" err="1"/>
              <a:t>MerhanaDunyaForm</a:t>
            </a:r>
            <a:endParaRPr lang="en-GB" sz="1200" dirty="0"/>
          </a:p>
          <a:p>
            <a:pPr>
              <a:buNone/>
            </a:pPr>
            <a:r>
              <a:rPr lang="en-GB" sz="1200" dirty="0"/>
              <a:t>{</a:t>
            </a:r>
          </a:p>
          <a:p>
            <a:pPr>
              <a:buNone/>
            </a:pPr>
            <a:r>
              <a:rPr lang="en-GB" sz="1200" dirty="0"/>
              <a:t>    public partial class Form1 : Form</a:t>
            </a:r>
          </a:p>
          <a:p>
            <a:pPr>
              <a:buNone/>
            </a:pPr>
            <a:r>
              <a:rPr lang="en-GB" sz="1200" dirty="0"/>
              <a:t>    {</a:t>
            </a:r>
          </a:p>
          <a:p>
            <a:pPr>
              <a:buNone/>
            </a:pPr>
            <a:r>
              <a:rPr lang="en-GB" sz="1200" dirty="0"/>
              <a:t>        public Form1()</a:t>
            </a:r>
          </a:p>
          <a:p>
            <a:pPr>
              <a:buNone/>
            </a:pPr>
            <a:r>
              <a:rPr lang="en-GB" sz="1200" dirty="0"/>
              <a:t>        {</a:t>
            </a:r>
          </a:p>
          <a:p>
            <a:pPr>
              <a:buNone/>
            </a:pPr>
            <a:r>
              <a:rPr lang="en-GB" sz="1200" dirty="0"/>
              <a:t>            </a:t>
            </a:r>
            <a:r>
              <a:rPr lang="en-GB" sz="1200" dirty="0" err="1"/>
              <a:t>InitializeComponent</a:t>
            </a:r>
            <a:r>
              <a:rPr lang="en-GB" sz="1200" dirty="0"/>
              <a:t>();</a:t>
            </a:r>
          </a:p>
          <a:p>
            <a:pPr>
              <a:buNone/>
            </a:pPr>
            <a:r>
              <a:rPr lang="en-GB" sz="1200" dirty="0"/>
              <a:t>        }</a:t>
            </a:r>
          </a:p>
          <a:p>
            <a:pPr>
              <a:buNone/>
            </a:pPr>
            <a:r>
              <a:rPr lang="en-GB" sz="1200" dirty="0"/>
              <a:t>        private void Form1_Load(object sender, </a:t>
            </a:r>
            <a:r>
              <a:rPr lang="en-GB" sz="1200" dirty="0" err="1"/>
              <a:t>EventArgs</a:t>
            </a:r>
            <a:r>
              <a:rPr lang="en-GB" sz="1200" dirty="0"/>
              <a:t> e)</a:t>
            </a:r>
          </a:p>
          <a:p>
            <a:pPr>
              <a:buNone/>
            </a:pPr>
            <a:r>
              <a:rPr lang="en-GB" sz="1200" dirty="0"/>
              <a:t>        {</a:t>
            </a:r>
          </a:p>
          <a:p>
            <a:pPr>
              <a:buNone/>
            </a:pPr>
            <a:r>
              <a:rPr lang="en-GB" sz="1200" b="1" dirty="0"/>
              <a:t>            label1.Text = "</a:t>
            </a:r>
            <a:r>
              <a:rPr lang="en-GB" sz="1200" b="1" dirty="0" err="1"/>
              <a:t>Merhaba</a:t>
            </a:r>
            <a:r>
              <a:rPr lang="en-GB" sz="1200" b="1" dirty="0"/>
              <a:t> </a:t>
            </a:r>
            <a:r>
              <a:rPr lang="en-GB" sz="1200" b="1" dirty="0" err="1"/>
              <a:t>Dünya</a:t>
            </a:r>
            <a:r>
              <a:rPr lang="en-GB" sz="1200" b="1" dirty="0"/>
              <a:t>!";</a:t>
            </a:r>
          </a:p>
          <a:p>
            <a:pPr>
              <a:buNone/>
            </a:pPr>
            <a:r>
              <a:rPr lang="en-GB" sz="1200" dirty="0"/>
              <a:t>        }</a:t>
            </a:r>
          </a:p>
          <a:p>
            <a:pPr>
              <a:buNone/>
            </a:pPr>
            <a:r>
              <a:rPr lang="en-GB" sz="1200" dirty="0"/>
              <a:t>    }</a:t>
            </a:r>
          </a:p>
          <a:p>
            <a:pPr>
              <a:buNone/>
            </a:pPr>
            <a:r>
              <a:rPr lang="en-GB" sz="1200" dirty="0"/>
              <a:t>}</a:t>
            </a: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5" y="4176434"/>
            <a:ext cx="4509517" cy="247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C# Veri Türleri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</a:t>
            </a:r>
            <a:r>
              <a:rPr lang="tr-T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(değişken) tanımlama</a:t>
            </a:r>
          </a:p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dirty="0" smtClean="0"/>
              <a:t>Değişken tanımlama, hafızada belirtilen veri türü için bir kayıt alanı oluşturmaktır. Bu şekilde kullanıcı verileri kaydedilip ihtiyaç duyulduğunda kullanılabilir</a:t>
            </a:r>
          </a:p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dirty="0" smtClean="0"/>
              <a:t>&lt;data </a:t>
            </a:r>
            <a:r>
              <a:rPr lang="tr-TR" dirty="0" err="1" smtClean="0"/>
              <a:t>type</a:t>
            </a:r>
            <a:r>
              <a:rPr lang="tr-TR" dirty="0" smtClean="0"/>
              <a:t>&gt; &lt;</a:t>
            </a:r>
            <a:r>
              <a:rPr lang="tr-TR" dirty="0" err="1" smtClean="0"/>
              <a:t>variable</a:t>
            </a:r>
            <a:r>
              <a:rPr lang="tr-TR" dirty="0" smtClean="0"/>
              <a:t> name&gt; = &lt;</a:t>
            </a:r>
            <a:r>
              <a:rPr lang="tr-TR" dirty="0" err="1" smtClean="0"/>
              <a:t>value</a:t>
            </a:r>
            <a:r>
              <a:rPr lang="tr-TR" dirty="0" smtClean="0"/>
              <a:t>&gt;;</a:t>
            </a:r>
          </a:p>
          <a:p>
            <a:pPr marL="1149350" lvl="1" indent="-457200">
              <a:buFont typeface="Wingdings" panose="05000000000000000000" pitchFamily="2" charset="2"/>
              <a:buChar char="Ø"/>
            </a:pPr>
            <a:r>
              <a:rPr lang="tr-TR" dirty="0" err="1">
                <a:latin typeface="Barlow Condensed ExtraLight" panose="00000306000000000000" pitchFamily="2" charset="-94"/>
              </a:rPr>
              <a:t>i</a:t>
            </a:r>
            <a:r>
              <a:rPr lang="tr-TR" dirty="0" err="1" smtClean="0">
                <a:latin typeface="Barlow Condensed ExtraLight" panose="00000306000000000000" pitchFamily="2" charset="-94"/>
              </a:rPr>
              <a:t>nt</a:t>
            </a:r>
            <a:r>
              <a:rPr lang="tr-TR" dirty="0" smtClean="0">
                <a:latin typeface="Barlow Condensed ExtraLight" panose="00000306000000000000" pitchFamily="2" charset="-94"/>
              </a:rPr>
              <a:t> a=25, b; </a:t>
            </a:r>
            <a:r>
              <a:rPr lang="tr-TR" dirty="0" err="1" smtClean="0">
                <a:latin typeface="Barlow Condensed ExtraLight" panose="00000306000000000000" pitchFamily="2" charset="-94"/>
              </a:rPr>
              <a:t>double</a:t>
            </a:r>
            <a:r>
              <a:rPr lang="tr-TR" dirty="0" smtClean="0">
                <a:latin typeface="Barlow Condensed ExtraLight" panose="00000306000000000000" pitchFamily="2" charset="-94"/>
              </a:rPr>
              <a:t> </a:t>
            </a:r>
            <a:r>
              <a:rPr lang="tr-TR" dirty="0" smtClean="0">
                <a:latin typeface="Barlow Condensed ExtraLight" panose="00000306000000000000" pitchFamily="2" charset="-94"/>
              </a:rPr>
              <a:t>d=10.5; </a:t>
            </a:r>
            <a:r>
              <a:rPr lang="tr-TR" dirty="0" smtClean="0"/>
              <a:t>gibi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0197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C# Veri Türleri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391400" cy="4929336"/>
          </a:xfrm>
        </p:spPr>
        <p:txBody>
          <a:bodyPr>
            <a:normAutofit fontScale="92500" lnSpcReduction="10000"/>
          </a:bodyPr>
          <a:lstStyle/>
          <a:p>
            <a:r>
              <a:rPr lang="tr-TR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</a:t>
            </a:r>
            <a:r>
              <a:rPr lang="tr-T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(değişken) tanımlamada dikkat edilmesi gereken kurallar</a:t>
            </a:r>
          </a:p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dirty="0" smtClean="0"/>
              <a:t>Değişken adı </a:t>
            </a:r>
            <a:r>
              <a:rPr lang="tr-TR" dirty="0" err="1" smtClean="0"/>
              <a:t>unique</a:t>
            </a:r>
            <a:r>
              <a:rPr lang="tr-TR" dirty="0" smtClean="0"/>
              <a:t> (benzersiz) olmalı</a:t>
            </a:r>
          </a:p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dirty="0" smtClean="0"/>
              <a:t>Değişken isimleri sadece harf rakam ve _ (altçizgi) içerebilir.</a:t>
            </a:r>
          </a:p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dirty="0" smtClean="0"/>
              <a:t>Değişken isimleri mutlaka harf ile başlamalı</a:t>
            </a:r>
          </a:p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dirty="0" smtClean="0"/>
              <a:t>Değişken isimleri büyük küçük harf duyarlıdır (</a:t>
            </a:r>
            <a:r>
              <a:rPr lang="tr-TR" dirty="0" err="1" smtClean="0"/>
              <a:t>num</a:t>
            </a:r>
            <a:r>
              <a:rPr lang="tr-TR" dirty="0" smtClean="0"/>
              <a:t> ve </a:t>
            </a:r>
            <a:r>
              <a:rPr lang="tr-TR" dirty="0" err="1" smtClean="0"/>
              <a:t>Num</a:t>
            </a:r>
            <a:r>
              <a:rPr lang="tr-TR" dirty="0" smtClean="0"/>
              <a:t> farklı iki değişken)</a:t>
            </a:r>
          </a:p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dirty="0" smtClean="0"/>
              <a:t>Değişken isimleri rezerv kelimeleri 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class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bool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tr-TR" dirty="0" smtClean="0"/>
              <a:t>vs. gibi içeremez. Eğer kullanılacaksa önüne @ konulmalı. Ör: @</a:t>
            </a:r>
            <a:r>
              <a:rPr lang="tr-TR" dirty="0" err="1" smtClean="0"/>
              <a:t>int</a:t>
            </a:r>
            <a:r>
              <a:rPr lang="tr-TR" dirty="0" smtClean="0"/>
              <a:t> gibi</a:t>
            </a:r>
          </a:p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dirty="0" smtClean="0"/>
              <a:t>Bir tür diğer türün içine atanamaz</a:t>
            </a:r>
          </a:p>
          <a:p>
            <a:pPr marL="502920" indent="-457200">
              <a:buFont typeface="Wingdings" panose="05000000000000000000" pitchFamily="2" charset="2"/>
              <a:buChar char="Ø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653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C# Veri Türleri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391400" cy="4929336"/>
          </a:xfrm>
        </p:spPr>
        <p:txBody>
          <a:bodyPr>
            <a:normAutofit fontScale="85000" lnSpcReduction="20000"/>
          </a:bodyPr>
          <a:lstStyle/>
          <a:p>
            <a:r>
              <a:rPr lang="tr-TR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</a:t>
            </a:r>
            <a:r>
              <a:rPr lang="tr-T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tr-TR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tanımlamlarken</a:t>
            </a:r>
            <a:r>
              <a:rPr lang="tr-T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dikkat;</a:t>
            </a:r>
          </a:p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dirty="0" smtClean="0"/>
              <a:t>Bir tür diğer türün içine atanamaz.</a:t>
            </a:r>
          </a:p>
          <a:p>
            <a:pPr marL="1149350" lvl="1" indent="-457200">
              <a:buFont typeface="Wingdings" panose="05000000000000000000" pitchFamily="2" charset="2"/>
              <a:buChar char="Ø"/>
            </a:pP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nt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=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"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ali«; </a:t>
            </a:r>
            <a:r>
              <a:rPr lang="tr-TR" sz="2700" dirty="0">
                <a:ea typeface="+mn-ea"/>
                <a:cs typeface="+mn-cs"/>
              </a:rPr>
              <a:t>veya</a:t>
            </a:r>
            <a:r>
              <a:rPr lang="tr-TR" dirty="0" smtClean="0"/>
              <a:t> </a:t>
            </a: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</a:rPr>
              <a:t>string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s=25; </a:t>
            </a:r>
            <a:r>
              <a:rPr lang="tr-TR" sz="2700" dirty="0">
                <a:ea typeface="+mn-ea"/>
                <a:cs typeface="+mn-cs"/>
              </a:rPr>
              <a:t>gibi</a:t>
            </a:r>
          </a:p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dirty="0" smtClean="0"/>
              <a:t>Bir değişken kullanılmadan önce tanımlanmış olmalı</a:t>
            </a:r>
          </a:p>
          <a:p>
            <a:pPr marL="1149350" lvl="1" indent="-457200">
              <a:buFont typeface="Wingdings" panose="05000000000000000000" pitchFamily="2" charset="2"/>
              <a:buChar char="Ø"/>
            </a:pP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; </a:t>
            </a: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=100; </a:t>
            </a:r>
            <a:r>
              <a:rPr lang="tr-TR" dirty="0" smtClean="0"/>
              <a:t>ve </a:t>
            </a: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=100;</a:t>
            </a:r>
          </a:p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dirty="0" smtClean="0"/>
              <a:t>Bir </a:t>
            </a:r>
            <a:r>
              <a:rPr lang="tr-TR" dirty="0" smtClean="0"/>
              <a:t>değişkene </a:t>
            </a:r>
            <a:r>
              <a:rPr lang="tr-TR" dirty="0" smtClean="0"/>
              <a:t>değeri tanımlandıktan sonra </a:t>
            </a:r>
            <a:r>
              <a:rPr lang="tr-TR" dirty="0" smtClean="0"/>
              <a:t>istenildiği </a:t>
            </a:r>
            <a:r>
              <a:rPr lang="tr-TR" dirty="0" smtClean="0"/>
              <a:t>zaman değiştirilebilir.</a:t>
            </a:r>
          </a:p>
          <a:p>
            <a:pPr marL="1149350" lvl="1" indent="-457200">
              <a:buFont typeface="Wingdings" panose="05000000000000000000" pitchFamily="2" charset="2"/>
              <a:buChar char="Ø"/>
            </a:pP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=100; </a:t>
            </a: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</a:rPr>
              <a:t>num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=200; </a:t>
            </a:r>
            <a:r>
              <a:rPr lang="tr-TR" dirty="0" smtClean="0"/>
              <a:t>gibi</a:t>
            </a:r>
          </a:p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dirty="0" smtClean="0"/>
              <a:t>Tek satırda birden çok tanımlama yapılabilir</a:t>
            </a:r>
          </a:p>
          <a:p>
            <a:pPr marL="1149350" lvl="1" indent="-457200">
              <a:buFont typeface="Wingdings" panose="05000000000000000000" pitchFamily="2" charset="2"/>
              <a:buChar char="Ø"/>
            </a:pP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i, j, sayi1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dirty="0"/>
              <a:t>Bir değişkenin içeriği aynı türden başka değişkene </a:t>
            </a:r>
            <a:r>
              <a:rPr lang="tr-TR" dirty="0" smtClean="0"/>
              <a:t>kopyalanabilir.</a:t>
            </a:r>
          </a:p>
          <a:p>
            <a:pPr marL="1149350" lvl="1" indent="-457200">
              <a:buFont typeface="Wingdings" panose="05000000000000000000" pitchFamily="2" charset="2"/>
              <a:buChar char="Ø"/>
            </a:pP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 i=100;  </a:t>
            </a: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 j=i;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812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C# Veri Türleri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391400" cy="4641304"/>
          </a:xfrm>
        </p:spPr>
        <p:txBody>
          <a:bodyPr>
            <a:normAutofit lnSpcReduction="10000"/>
          </a:bodyPr>
          <a:lstStyle/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dirty="0" err="1" smtClean="0"/>
              <a:t>Boolean</a:t>
            </a:r>
            <a:r>
              <a:rPr lang="tr-TR" dirty="0" smtClean="0"/>
              <a:t>: mantıksal evet-hayır içerebilir</a:t>
            </a:r>
          </a:p>
          <a:p>
            <a:pPr marL="1149350" lvl="1" indent="-457200">
              <a:buFont typeface="Wingdings" panose="05000000000000000000" pitchFamily="2" charset="2"/>
              <a:buChar char="Ø"/>
            </a:pP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</a:rPr>
              <a:t>b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ool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=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true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bool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noCon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=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false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dirty="0" smtClean="0"/>
              <a:t>Sayısal veri türleri</a:t>
            </a:r>
          </a:p>
          <a:p>
            <a:pPr marL="1149350" lvl="1" indent="-457200">
              <a:buFont typeface="Wingdings" panose="05000000000000000000" pitchFamily="2" charset="2"/>
              <a:buChar char="Ø"/>
            </a:pPr>
            <a:r>
              <a:rPr lang="tr-TR" dirty="0" err="1" smtClean="0"/>
              <a:t>int</a:t>
            </a:r>
            <a:r>
              <a:rPr lang="tr-TR" dirty="0" smtClean="0"/>
              <a:t> </a:t>
            </a:r>
            <a:r>
              <a:rPr lang="tr-TR" dirty="0" smtClean="0">
                <a:sym typeface="Wingdings" panose="05000000000000000000" pitchFamily="2" charset="2"/>
              </a:rPr>
              <a:t> </a:t>
            </a: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int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i=35;</a:t>
            </a:r>
            <a:endParaRPr lang="tr-T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149350" lvl="1" indent="-457200">
              <a:buFont typeface="Wingdings" panose="05000000000000000000" pitchFamily="2" charset="2"/>
              <a:buChar char="Ø"/>
            </a:pPr>
            <a:r>
              <a:rPr lang="tr-TR" dirty="0" err="1" smtClean="0"/>
              <a:t>Long</a:t>
            </a:r>
            <a:r>
              <a:rPr lang="tr-TR" dirty="0" smtClean="0"/>
              <a:t>  </a:t>
            </a:r>
            <a:r>
              <a:rPr lang="tr-TR" dirty="0" smtClean="0">
                <a:sym typeface="Wingdings" panose="05000000000000000000" pitchFamily="2" charset="2"/>
              </a:rPr>
              <a:t> </a:t>
            </a: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long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y=656454;</a:t>
            </a:r>
            <a:endParaRPr lang="tr-T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149350" lvl="1" indent="-457200">
              <a:buFont typeface="Wingdings" panose="05000000000000000000" pitchFamily="2" charset="2"/>
              <a:buChar char="Ø"/>
            </a:pPr>
            <a:r>
              <a:rPr lang="tr-TR" dirty="0" err="1" smtClean="0"/>
              <a:t>Float</a:t>
            </a:r>
            <a:r>
              <a:rPr lang="tr-TR" dirty="0" smtClean="0"/>
              <a:t>  </a:t>
            </a:r>
            <a:r>
              <a:rPr lang="tr-TR" dirty="0" smtClean="0">
                <a:sym typeface="Wingdings" panose="05000000000000000000" pitchFamily="2" charset="2"/>
              </a:rPr>
              <a:t> </a:t>
            </a: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float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x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; veya 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float</a:t>
            </a:r>
            <a:r>
              <a:rPr lang="tr-TR" dirty="0" smtClean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x=12.34f; </a:t>
            </a:r>
            <a:r>
              <a:rPr lang="tr-TR" sz="2700" dirty="0">
                <a:ea typeface="+mn-ea"/>
                <a:cs typeface="+mn-cs"/>
                <a:sym typeface="Wingdings" panose="05000000000000000000" pitchFamily="2" charset="2"/>
              </a:rPr>
              <a:t>(virgüllü olacaksa sonuna f ekliyoruz.)</a:t>
            </a:r>
            <a:endParaRPr lang="tr-TR" sz="2700" dirty="0">
              <a:ea typeface="+mn-ea"/>
              <a:cs typeface="+mn-cs"/>
            </a:endParaRPr>
          </a:p>
          <a:p>
            <a:pPr marL="1149350" lvl="1" indent="-457200">
              <a:buFont typeface="Wingdings" panose="05000000000000000000" pitchFamily="2" charset="2"/>
              <a:buChar char="Ø"/>
            </a:pPr>
            <a:r>
              <a:rPr lang="tr-TR" dirty="0" err="1" smtClean="0"/>
              <a:t>Double</a:t>
            </a:r>
            <a:r>
              <a:rPr lang="tr-TR" dirty="0" smtClean="0"/>
              <a:t> </a:t>
            </a:r>
            <a:r>
              <a:rPr lang="tr-TR" dirty="0" smtClean="0">
                <a:sym typeface="Wingdings" panose="05000000000000000000" pitchFamily="2" charset="2"/>
              </a:rPr>
              <a:t> </a:t>
            </a: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double</a:t>
            </a:r>
            <a:r>
              <a:rPr lang="tr-TR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y;</a:t>
            </a:r>
            <a:endParaRPr lang="tr-T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dirty="0" err="1" smtClean="0"/>
              <a:t>String</a:t>
            </a:r>
            <a:r>
              <a:rPr lang="tr-TR" dirty="0" smtClean="0"/>
              <a:t> (Söz dizisi): </a:t>
            </a:r>
            <a:r>
              <a:rPr lang="tr-TR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string</a:t>
            </a:r>
            <a:r>
              <a:rPr lang="tr-TR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tr-TR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s="cemal </a:t>
            </a:r>
            <a:r>
              <a:rPr lang="tr-TR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aktürk</a:t>
            </a:r>
            <a:r>
              <a:rPr lang="tr-TR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";</a:t>
            </a:r>
            <a:endParaRPr lang="tr-T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dirty="0" err="1" smtClean="0"/>
              <a:t>Arrays</a:t>
            </a:r>
            <a:r>
              <a:rPr lang="tr-TR" dirty="0" smtClean="0"/>
              <a:t> (Diziler): </a:t>
            </a:r>
            <a:r>
              <a:rPr lang="tr-TR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tr-TR" sz="2400" dirty="0">
                <a:latin typeface="Cambria" panose="02040503050406030204" pitchFamily="18" charset="0"/>
                <a:ea typeface="Cambria" panose="02040503050406030204" pitchFamily="18" charset="0"/>
              </a:rPr>
              <a:t> dizi={5,10,15,20</a:t>
            </a:r>
            <a:r>
              <a:rPr lang="tr-TR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};</a:t>
            </a:r>
            <a:endParaRPr lang="en-GB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49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C# Veri Türleri</a:t>
            </a:r>
            <a:endParaRPr lang="en-GB" dirty="0"/>
          </a:p>
        </p:txBody>
      </p:sp>
      <p:pic>
        <p:nvPicPr>
          <p:cNvPr id="4098" name="Picture 2" descr="introduction to data types in C#, intro to data types in C#, basics of data types in C#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700808"/>
            <a:ext cx="6619875" cy="451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107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C# Operatörleri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Operatör Nedir</a:t>
            </a:r>
            <a:r>
              <a:rPr lang="tr-T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  <a:p>
            <a:r>
              <a:rPr lang="en-GB" sz="2400" spc="-130" dirty="0" err="1">
                <a:latin typeface="Trebuchet MS"/>
                <a:cs typeface="Trebuchet MS"/>
              </a:rPr>
              <a:t>Operatörler</a:t>
            </a:r>
            <a:r>
              <a:rPr lang="en-GB" sz="2400" spc="-130" dirty="0">
                <a:latin typeface="Trebuchet MS"/>
                <a:cs typeface="Trebuchet MS"/>
              </a:rPr>
              <a:t> </a:t>
            </a:r>
            <a:r>
              <a:rPr lang="en-GB" sz="2400" spc="-105" dirty="0" err="1">
                <a:latin typeface="Trebuchet MS"/>
                <a:cs typeface="Trebuchet MS"/>
              </a:rPr>
              <a:t>önceden</a:t>
            </a:r>
            <a:r>
              <a:rPr lang="en-GB" sz="2400" spc="-105" dirty="0">
                <a:latin typeface="Trebuchet MS"/>
                <a:cs typeface="Trebuchet MS"/>
              </a:rPr>
              <a:t> </a:t>
            </a:r>
            <a:r>
              <a:rPr lang="en-GB" sz="2400" spc="-120" dirty="0" err="1">
                <a:latin typeface="Trebuchet MS"/>
                <a:cs typeface="Trebuchet MS"/>
              </a:rPr>
              <a:t>tanımlanmış</a:t>
            </a:r>
            <a:r>
              <a:rPr lang="en-GB" sz="2400" spc="-120" dirty="0">
                <a:latin typeface="Trebuchet MS"/>
                <a:cs typeface="Trebuchet MS"/>
              </a:rPr>
              <a:t> </a:t>
            </a:r>
            <a:r>
              <a:rPr lang="en-GB" sz="2400" spc="-140" dirty="0" err="1">
                <a:latin typeface="Trebuchet MS"/>
                <a:cs typeface="Trebuchet MS"/>
              </a:rPr>
              <a:t>birtakım</a:t>
            </a:r>
            <a:r>
              <a:rPr lang="en-GB" sz="2400" spc="-140" dirty="0">
                <a:latin typeface="Trebuchet MS"/>
                <a:cs typeface="Trebuchet MS"/>
              </a:rPr>
              <a:t>  </a:t>
            </a:r>
            <a:r>
              <a:rPr lang="en-GB" sz="2400" spc="-145" dirty="0" err="1">
                <a:latin typeface="Trebuchet MS"/>
                <a:cs typeface="Trebuchet MS"/>
              </a:rPr>
              <a:t>matematiksel</a:t>
            </a:r>
            <a:r>
              <a:rPr lang="en-GB" sz="2400" spc="-145" dirty="0">
                <a:latin typeface="Trebuchet MS"/>
                <a:cs typeface="Trebuchet MS"/>
              </a:rPr>
              <a:t> </a:t>
            </a:r>
            <a:r>
              <a:rPr lang="en-GB" sz="2400" spc="-150" dirty="0" err="1">
                <a:latin typeface="Trebuchet MS"/>
                <a:cs typeface="Trebuchet MS"/>
              </a:rPr>
              <a:t>ya</a:t>
            </a:r>
            <a:r>
              <a:rPr lang="en-GB" sz="2400" spc="-150" dirty="0">
                <a:latin typeface="Trebuchet MS"/>
                <a:cs typeface="Trebuchet MS"/>
              </a:rPr>
              <a:t> </a:t>
            </a:r>
            <a:r>
              <a:rPr lang="en-GB" sz="2400" spc="-114" dirty="0">
                <a:latin typeface="Trebuchet MS"/>
                <a:cs typeface="Trebuchet MS"/>
              </a:rPr>
              <a:t>da </a:t>
            </a:r>
            <a:r>
              <a:rPr lang="en-GB" sz="2400" spc="-130" dirty="0" err="1">
                <a:latin typeface="Trebuchet MS"/>
                <a:cs typeface="Trebuchet MS"/>
              </a:rPr>
              <a:t>mantıksal</a:t>
            </a:r>
            <a:r>
              <a:rPr lang="en-GB" sz="2400" spc="-130" dirty="0">
                <a:latin typeface="Trebuchet MS"/>
                <a:cs typeface="Trebuchet MS"/>
              </a:rPr>
              <a:t> </a:t>
            </a:r>
            <a:r>
              <a:rPr lang="en-GB" sz="2400" spc="-140" dirty="0" err="1">
                <a:latin typeface="Trebuchet MS"/>
                <a:cs typeface="Trebuchet MS"/>
              </a:rPr>
              <a:t>işlemleri</a:t>
            </a:r>
            <a:r>
              <a:rPr lang="en-GB" sz="2400" spc="-140" dirty="0">
                <a:latin typeface="Trebuchet MS"/>
                <a:cs typeface="Trebuchet MS"/>
              </a:rPr>
              <a:t> </a:t>
            </a:r>
            <a:r>
              <a:rPr lang="en-GB" sz="2400" spc="-125" dirty="0" err="1">
                <a:latin typeface="Trebuchet MS"/>
                <a:cs typeface="Trebuchet MS"/>
              </a:rPr>
              <a:t>yapmak</a:t>
            </a:r>
            <a:r>
              <a:rPr lang="en-GB" sz="2400" spc="-125" dirty="0">
                <a:latin typeface="Trebuchet MS"/>
                <a:cs typeface="Trebuchet MS"/>
              </a:rPr>
              <a:t>  </a:t>
            </a:r>
            <a:r>
              <a:rPr lang="en-GB" sz="2400" spc="-150" dirty="0" err="1">
                <a:latin typeface="Trebuchet MS"/>
                <a:cs typeface="Trebuchet MS"/>
              </a:rPr>
              <a:t>için</a:t>
            </a:r>
            <a:r>
              <a:rPr lang="en-GB" sz="2400" spc="-150" dirty="0">
                <a:latin typeface="Trebuchet MS"/>
                <a:cs typeface="Trebuchet MS"/>
              </a:rPr>
              <a:t> </a:t>
            </a:r>
            <a:r>
              <a:rPr lang="en-GB" sz="2400" spc="-140" dirty="0" err="1">
                <a:latin typeface="Trebuchet MS"/>
                <a:cs typeface="Trebuchet MS"/>
              </a:rPr>
              <a:t>kullanılan</a:t>
            </a:r>
            <a:r>
              <a:rPr lang="en-GB" sz="2400" spc="-140" dirty="0">
                <a:latin typeface="Trebuchet MS"/>
                <a:cs typeface="Trebuchet MS"/>
              </a:rPr>
              <a:t> </a:t>
            </a:r>
            <a:r>
              <a:rPr lang="en-GB" sz="2400" spc="-175" dirty="0" err="1">
                <a:latin typeface="Trebuchet MS"/>
                <a:cs typeface="Trebuchet MS"/>
              </a:rPr>
              <a:t>özel</a:t>
            </a:r>
            <a:r>
              <a:rPr lang="en-GB" sz="2400" spc="-175" dirty="0">
                <a:latin typeface="Trebuchet MS"/>
                <a:cs typeface="Trebuchet MS"/>
              </a:rPr>
              <a:t> </a:t>
            </a:r>
            <a:r>
              <a:rPr lang="en-GB" sz="2400" spc="-155" dirty="0" err="1">
                <a:latin typeface="Trebuchet MS"/>
                <a:cs typeface="Trebuchet MS"/>
              </a:rPr>
              <a:t>karakterler</a:t>
            </a:r>
            <a:r>
              <a:rPr lang="en-GB" sz="2400" spc="-155" dirty="0">
                <a:latin typeface="Trebuchet MS"/>
                <a:cs typeface="Trebuchet MS"/>
              </a:rPr>
              <a:t> </a:t>
            </a:r>
            <a:r>
              <a:rPr lang="en-GB" sz="2400" spc="-150" dirty="0" err="1">
                <a:latin typeface="Trebuchet MS"/>
                <a:cs typeface="Trebuchet MS"/>
              </a:rPr>
              <a:t>ya</a:t>
            </a:r>
            <a:r>
              <a:rPr lang="en-GB" sz="2400" spc="-150" dirty="0">
                <a:latin typeface="Trebuchet MS"/>
                <a:cs typeface="Trebuchet MS"/>
              </a:rPr>
              <a:t> </a:t>
            </a:r>
            <a:r>
              <a:rPr lang="en-GB" sz="2400" spc="-114" dirty="0">
                <a:latin typeface="Trebuchet MS"/>
                <a:cs typeface="Trebuchet MS"/>
              </a:rPr>
              <a:t>da </a:t>
            </a:r>
            <a:r>
              <a:rPr lang="en-GB" sz="2400" spc="-155" dirty="0" err="1">
                <a:latin typeface="Trebuchet MS"/>
                <a:cs typeface="Trebuchet MS"/>
              </a:rPr>
              <a:t>karakterler</a:t>
            </a:r>
            <a:r>
              <a:rPr lang="en-GB" sz="2400" spc="-155" dirty="0">
                <a:latin typeface="Trebuchet MS"/>
                <a:cs typeface="Trebuchet MS"/>
              </a:rPr>
              <a:t>  </a:t>
            </a:r>
            <a:r>
              <a:rPr lang="en-GB" sz="2400" spc="-145" dirty="0" err="1">
                <a:latin typeface="Trebuchet MS"/>
                <a:cs typeface="Trebuchet MS"/>
              </a:rPr>
              <a:t>topluluğudur</a:t>
            </a:r>
            <a:r>
              <a:rPr lang="en-GB" sz="2400" spc="-145" dirty="0" smtClean="0">
                <a:latin typeface="Trebuchet MS"/>
                <a:cs typeface="Trebuchet MS"/>
              </a:rPr>
              <a:t>.</a:t>
            </a:r>
            <a:endParaRPr lang="tr-TR" sz="2400" spc="-145" dirty="0" smtClean="0">
              <a:latin typeface="Trebuchet MS"/>
              <a:cs typeface="Trebuchet MS"/>
            </a:endParaRPr>
          </a:p>
          <a:p>
            <a:endParaRPr lang="tr-TR" sz="2400" spc="-145" dirty="0">
              <a:latin typeface="Trebuchet MS"/>
              <a:cs typeface="Trebuchet MS"/>
            </a:endParaRPr>
          </a:p>
          <a:p>
            <a:r>
              <a:rPr lang="en-GB" sz="2400" spc="-125" dirty="0" err="1">
                <a:latin typeface="Trebuchet MS"/>
                <a:cs typeface="Trebuchet MS"/>
              </a:rPr>
              <a:t>Operatörlerin</a:t>
            </a:r>
            <a:r>
              <a:rPr lang="en-GB" sz="2400" spc="-125" dirty="0">
                <a:latin typeface="Trebuchet MS"/>
                <a:cs typeface="Trebuchet MS"/>
              </a:rPr>
              <a:t> </a:t>
            </a:r>
            <a:r>
              <a:rPr lang="en-GB" sz="2400" spc="-120" dirty="0" err="1">
                <a:latin typeface="Trebuchet MS"/>
                <a:cs typeface="Trebuchet MS"/>
              </a:rPr>
              <a:t>işlem</a:t>
            </a:r>
            <a:r>
              <a:rPr lang="en-GB" sz="2400" spc="-120" dirty="0">
                <a:latin typeface="Trebuchet MS"/>
                <a:cs typeface="Trebuchet MS"/>
              </a:rPr>
              <a:t> </a:t>
            </a:r>
            <a:r>
              <a:rPr lang="en-GB" sz="2400" spc="-135" dirty="0" err="1">
                <a:latin typeface="Trebuchet MS"/>
                <a:cs typeface="Trebuchet MS"/>
              </a:rPr>
              <a:t>yapabilmek</a:t>
            </a:r>
            <a:r>
              <a:rPr lang="en-GB" sz="2400" spc="-135" dirty="0">
                <a:latin typeface="Trebuchet MS"/>
                <a:cs typeface="Trebuchet MS"/>
              </a:rPr>
              <a:t> </a:t>
            </a:r>
            <a:r>
              <a:rPr lang="en-GB" sz="2400" spc="-150" dirty="0" err="1">
                <a:latin typeface="Trebuchet MS"/>
                <a:cs typeface="Trebuchet MS"/>
              </a:rPr>
              <a:t>için</a:t>
            </a:r>
            <a:r>
              <a:rPr lang="en-GB" sz="2400" spc="-150" dirty="0">
                <a:latin typeface="Trebuchet MS"/>
                <a:cs typeface="Trebuchet MS"/>
              </a:rPr>
              <a:t> </a:t>
            </a:r>
            <a:r>
              <a:rPr lang="en-GB" sz="2400" spc="-160" dirty="0" err="1">
                <a:latin typeface="Trebuchet MS"/>
                <a:cs typeface="Trebuchet MS"/>
              </a:rPr>
              <a:t>ihtiyaç</a:t>
            </a:r>
            <a:r>
              <a:rPr lang="en-GB" sz="2400" spc="-160" dirty="0">
                <a:latin typeface="Trebuchet MS"/>
                <a:cs typeface="Trebuchet MS"/>
              </a:rPr>
              <a:t>  </a:t>
            </a:r>
            <a:r>
              <a:rPr lang="en-GB" sz="2400" spc="-120" dirty="0" err="1">
                <a:latin typeface="Trebuchet MS"/>
                <a:cs typeface="Trebuchet MS"/>
              </a:rPr>
              <a:t>duydukları</a:t>
            </a:r>
            <a:r>
              <a:rPr lang="en-GB" sz="2400" spc="-120" dirty="0">
                <a:latin typeface="Trebuchet MS"/>
                <a:cs typeface="Trebuchet MS"/>
              </a:rPr>
              <a:t> </a:t>
            </a:r>
            <a:r>
              <a:rPr lang="en-GB" sz="2400" spc="-135" dirty="0" err="1">
                <a:latin typeface="Trebuchet MS"/>
                <a:cs typeface="Trebuchet MS"/>
              </a:rPr>
              <a:t>değerlere</a:t>
            </a:r>
            <a:r>
              <a:rPr lang="en-GB" sz="2400" spc="-135" dirty="0">
                <a:latin typeface="Trebuchet MS"/>
                <a:cs typeface="Trebuchet MS"/>
              </a:rPr>
              <a:t> </a:t>
            </a:r>
            <a:r>
              <a:rPr lang="en-GB" sz="2400" spc="-114" dirty="0" err="1">
                <a:latin typeface="Trebuchet MS"/>
                <a:cs typeface="Trebuchet MS"/>
              </a:rPr>
              <a:t>ise</a:t>
            </a:r>
            <a:r>
              <a:rPr lang="en-GB" sz="2400" spc="-114" dirty="0">
                <a:latin typeface="Trebuchet MS"/>
                <a:cs typeface="Trebuchet MS"/>
              </a:rPr>
              <a:t> </a:t>
            </a:r>
            <a:r>
              <a:rPr lang="en-GB" sz="2400" spc="-160" dirty="0">
                <a:latin typeface="Trebuchet MS"/>
                <a:cs typeface="Trebuchet MS"/>
              </a:rPr>
              <a:t>“operand”</a:t>
            </a:r>
            <a:r>
              <a:rPr lang="en-GB" sz="2400" spc="-500" dirty="0">
                <a:latin typeface="Trebuchet MS"/>
                <a:cs typeface="Trebuchet MS"/>
              </a:rPr>
              <a:t> </a:t>
            </a:r>
            <a:r>
              <a:rPr lang="en-GB" sz="2400" spc="-200" dirty="0" err="1">
                <a:latin typeface="Trebuchet MS"/>
                <a:cs typeface="Trebuchet MS"/>
              </a:rPr>
              <a:t>denir</a:t>
            </a:r>
            <a:r>
              <a:rPr lang="en-GB" sz="2400" spc="-200" dirty="0" smtClean="0">
                <a:latin typeface="Trebuchet MS"/>
                <a:cs typeface="Trebuchet MS"/>
              </a:rPr>
              <a:t>.</a:t>
            </a:r>
            <a:endParaRPr lang="tr-TR" sz="2400" spc="-200" dirty="0" smtClean="0">
              <a:latin typeface="Trebuchet MS"/>
              <a:cs typeface="Trebuchet MS"/>
            </a:endParaRPr>
          </a:p>
          <a:p>
            <a:endParaRPr lang="en-GB" sz="2400" dirty="0">
              <a:latin typeface="Trebuchet MS"/>
              <a:cs typeface="Trebuchet MS"/>
            </a:endParaRPr>
          </a:p>
          <a:p>
            <a:r>
              <a:rPr lang="tr-TR" sz="2400" dirty="0" smtClean="0">
                <a:latin typeface="Trebuchet MS"/>
                <a:cs typeface="Trebuchet MS"/>
              </a:rPr>
              <a:t>ÖR: </a:t>
            </a:r>
            <a:r>
              <a:rPr lang="tr-TR" sz="2400" dirty="0" err="1" smtClean="0">
                <a:latin typeface="Cambria" panose="02040503050406030204" pitchFamily="18" charset="0"/>
                <a:ea typeface="Cambria" panose="02040503050406030204" pitchFamily="18" charset="0"/>
                <a:cs typeface="Trebuchet MS"/>
              </a:rPr>
              <a:t>x+y</a:t>
            </a:r>
            <a:r>
              <a:rPr lang="tr-TR" sz="2400" dirty="0" smtClean="0">
                <a:latin typeface="Trebuchet MS"/>
                <a:cs typeface="Trebuchet MS"/>
              </a:rPr>
              <a:t> </a:t>
            </a:r>
            <a:r>
              <a:rPr lang="tr-TR" sz="2400" dirty="0" smtClean="0">
                <a:latin typeface="Trebuchet MS"/>
                <a:cs typeface="Trebuchet MS"/>
                <a:sym typeface="Wingdings" panose="05000000000000000000" pitchFamily="2" charset="2"/>
              </a:rPr>
              <a:t> </a:t>
            </a:r>
            <a:r>
              <a:rPr lang="tr-TR" sz="2400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  <a:sym typeface="Wingdings" panose="05000000000000000000" pitchFamily="2" charset="2"/>
              </a:rPr>
              <a:t>x</a:t>
            </a:r>
            <a:r>
              <a:rPr lang="tr-TR" sz="2400" dirty="0" smtClean="0">
                <a:latin typeface="Trebuchet MS"/>
                <a:cs typeface="Trebuchet MS"/>
                <a:sym typeface="Wingdings" panose="05000000000000000000" pitchFamily="2" charset="2"/>
              </a:rPr>
              <a:t> ve </a:t>
            </a:r>
            <a:r>
              <a:rPr lang="tr-TR" sz="2400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  <a:sym typeface="Wingdings" panose="05000000000000000000" pitchFamily="2" charset="2"/>
              </a:rPr>
              <a:t>y</a:t>
            </a:r>
            <a:r>
              <a:rPr lang="tr-TR" sz="2400" dirty="0" smtClean="0">
                <a:latin typeface="Trebuchet MS"/>
                <a:cs typeface="Trebuchet MS"/>
                <a:sym typeface="Wingdings" panose="05000000000000000000" pitchFamily="2" charset="2"/>
              </a:rPr>
              <a:t> </a:t>
            </a:r>
            <a:r>
              <a:rPr lang="tr-TR" sz="2400" dirty="0" err="1" smtClean="0">
                <a:latin typeface="Trebuchet MS"/>
                <a:cs typeface="Trebuchet MS"/>
                <a:sym typeface="Wingdings" panose="05000000000000000000" pitchFamily="2" charset="2"/>
              </a:rPr>
              <a:t>operand</a:t>
            </a:r>
            <a:r>
              <a:rPr lang="tr-TR" sz="2400" dirty="0" smtClean="0">
                <a:latin typeface="Trebuchet MS"/>
                <a:cs typeface="Trebuchet MS"/>
                <a:sym typeface="Wingdings" panose="05000000000000000000" pitchFamily="2" charset="2"/>
              </a:rPr>
              <a:t>, </a:t>
            </a:r>
            <a:r>
              <a:rPr lang="tr-TR" sz="2400" dirty="0">
                <a:latin typeface="Cambria" panose="02040503050406030204" pitchFamily="18" charset="0"/>
                <a:ea typeface="Cambria" panose="02040503050406030204" pitchFamily="18" charset="0"/>
                <a:cs typeface="Trebuchet MS"/>
                <a:sym typeface="Wingdings" panose="05000000000000000000" pitchFamily="2" charset="2"/>
              </a:rPr>
              <a:t>+</a:t>
            </a:r>
            <a:r>
              <a:rPr lang="tr-TR" sz="2400" dirty="0" smtClean="0">
                <a:latin typeface="Trebuchet MS"/>
                <a:cs typeface="Trebuchet MS"/>
                <a:sym typeface="Wingdings" panose="05000000000000000000" pitchFamily="2" charset="2"/>
              </a:rPr>
              <a:t> ise </a:t>
            </a:r>
            <a:r>
              <a:rPr lang="tr-TR" sz="2400" dirty="0">
                <a:latin typeface="Trebuchet MS"/>
                <a:cs typeface="Trebuchet MS"/>
                <a:sym typeface="Wingdings" panose="05000000000000000000" pitchFamily="2" charset="2"/>
              </a:rPr>
              <a:t>o</a:t>
            </a:r>
            <a:r>
              <a:rPr lang="tr-TR" sz="2400" dirty="0" smtClean="0">
                <a:latin typeface="Trebuchet MS"/>
                <a:cs typeface="Trebuchet MS"/>
                <a:sym typeface="Wingdings" panose="05000000000000000000" pitchFamily="2" charset="2"/>
              </a:rPr>
              <a:t>peratördür.</a:t>
            </a:r>
            <a:endParaRPr lang="en-GB" sz="2400" dirty="0">
              <a:latin typeface="Trebuchet MS"/>
              <a:cs typeface="Trebuchet MS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065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C# Operatörler Çeşitleri (Görevlerine Göre)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lang="en-GB" sz="2800" spc="-114" dirty="0" err="1">
                <a:latin typeface="Trebuchet MS"/>
                <a:cs typeface="Trebuchet MS"/>
              </a:rPr>
              <a:t>Aritmetik</a:t>
            </a:r>
            <a:r>
              <a:rPr lang="en-GB" sz="2800" spc="-225" dirty="0">
                <a:latin typeface="Trebuchet MS"/>
                <a:cs typeface="Trebuchet MS"/>
              </a:rPr>
              <a:t> </a:t>
            </a:r>
            <a:r>
              <a:rPr lang="en-GB" sz="2800" spc="-110" dirty="0" err="1">
                <a:latin typeface="Trebuchet MS"/>
                <a:cs typeface="Trebuchet MS"/>
              </a:rPr>
              <a:t>Operatörler</a:t>
            </a:r>
            <a:endParaRPr lang="en-GB"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41300" algn="l"/>
              </a:tabLst>
            </a:pPr>
            <a:r>
              <a:rPr lang="en-GB" sz="2800" spc="-120" dirty="0" err="1">
                <a:latin typeface="Trebuchet MS"/>
                <a:cs typeface="Trebuchet MS"/>
              </a:rPr>
              <a:t>Karşılaştırma</a:t>
            </a:r>
            <a:r>
              <a:rPr lang="en-GB" sz="2800" spc="-200" dirty="0">
                <a:latin typeface="Trebuchet MS"/>
                <a:cs typeface="Trebuchet MS"/>
              </a:rPr>
              <a:t> </a:t>
            </a:r>
            <a:r>
              <a:rPr lang="en-GB" sz="2800" spc="-114" dirty="0" err="1">
                <a:latin typeface="Trebuchet MS"/>
                <a:cs typeface="Trebuchet MS"/>
              </a:rPr>
              <a:t>Operatörleri</a:t>
            </a:r>
            <a:endParaRPr lang="en-GB"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41300" algn="l"/>
              </a:tabLst>
            </a:pPr>
            <a:r>
              <a:rPr lang="en-GB" sz="2800" spc="-65" dirty="0" err="1">
                <a:latin typeface="Trebuchet MS"/>
                <a:cs typeface="Trebuchet MS"/>
              </a:rPr>
              <a:t>Mantıksal</a:t>
            </a:r>
            <a:r>
              <a:rPr lang="en-GB" sz="2800" spc="-210" dirty="0">
                <a:latin typeface="Trebuchet MS"/>
                <a:cs typeface="Trebuchet MS"/>
              </a:rPr>
              <a:t> </a:t>
            </a:r>
            <a:r>
              <a:rPr lang="en-GB" sz="2800" spc="-110" dirty="0" err="1">
                <a:latin typeface="Trebuchet MS"/>
                <a:cs typeface="Trebuchet MS"/>
              </a:rPr>
              <a:t>Operatörler</a:t>
            </a:r>
            <a:endParaRPr lang="en-GB"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41300" algn="l"/>
              </a:tabLst>
            </a:pPr>
            <a:r>
              <a:rPr lang="en-GB" sz="2800" spc="-110" dirty="0" err="1">
                <a:latin typeface="Trebuchet MS"/>
                <a:cs typeface="Trebuchet MS"/>
              </a:rPr>
              <a:t>Bitsel</a:t>
            </a:r>
            <a:r>
              <a:rPr lang="en-GB" sz="2800" spc="-210" dirty="0">
                <a:latin typeface="Trebuchet MS"/>
                <a:cs typeface="Trebuchet MS"/>
              </a:rPr>
              <a:t> </a:t>
            </a:r>
            <a:r>
              <a:rPr lang="en-GB" sz="2800" spc="-110" dirty="0" err="1">
                <a:latin typeface="Trebuchet MS"/>
                <a:cs typeface="Trebuchet MS"/>
              </a:rPr>
              <a:t>Operatörler</a:t>
            </a:r>
            <a:endParaRPr lang="en-GB"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241300" algn="l"/>
              </a:tabLst>
            </a:pPr>
            <a:r>
              <a:rPr lang="en-GB" sz="2800" spc="-114" dirty="0" err="1">
                <a:latin typeface="Trebuchet MS"/>
                <a:cs typeface="Trebuchet MS"/>
              </a:rPr>
              <a:t>Atama</a:t>
            </a:r>
            <a:r>
              <a:rPr lang="en-GB" sz="2800" spc="-114" dirty="0">
                <a:latin typeface="Trebuchet MS"/>
                <a:cs typeface="Trebuchet MS"/>
              </a:rPr>
              <a:t> </a:t>
            </a:r>
            <a:r>
              <a:rPr lang="en-GB" sz="2800" spc="-120" dirty="0" err="1">
                <a:latin typeface="Trebuchet MS"/>
                <a:cs typeface="Trebuchet MS"/>
              </a:rPr>
              <a:t>ve</a:t>
            </a:r>
            <a:r>
              <a:rPr lang="en-GB" sz="2800" spc="-120" dirty="0">
                <a:latin typeface="Trebuchet MS"/>
                <a:cs typeface="Trebuchet MS"/>
              </a:rPr>
              <a:t> </a:t>
            </a:r>
            <a:r>
              <a:rPr lang="en-GB" sz="2800" spc="-110" dirty="0" err="1">
                <a:latin typeface="Trebuchet MS"/>
                <a:cs typeface="Trebuchet MS"/>
              </a:rPr>
              <a:t>İşlemli</a:t>
            </a:r>
            <a:r>
              <a:rPr lang="en-GB" sz="2800" spc="-110" dirty="0">
                <a:latin typeface="Trebuchet MS"/>
                <a:cs typeface="Trebuchet MS"/>
              </a:rPr>
              <a:t> </a:t>
            </a:r>
            <a:r>
              <a:rPr lang="en-GB" sz="2800" spc="-114" dirty="0" err="1">
                <a:latin typeface="Trebuchet MS"/>
                <a:cs typeface="Trebuchet MS"/>
              </a:rPr>
              <a:t>Atama</a:t>
            </a:r>
            <a:r>
              <a:rPr lang="en-GB" sz="2800" spc="-450" dirty="0">
                <a:latin typeface="Trebuchet MS"/>
                <a:cs typeface="Trebuchet MS"/>
              </a:rPr>
              <a:t> </a:t>
            </a:r>
            <a:r>
              <a:rPr lang="en-GB" sz="2800" spc="-114" dirty="0" err="1">
                <a:latin typeface="Trebuchet MS"/>
                <a:cs typeface="Trebuchet MS"/>
              </a:rPr>
              <a:t>Operatörleri</a:t>
            </a:r>
            <a:endParaRPr lang="en-GB" sz="280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41300" algn="l"/>
              </a:tabLst>
            </a:pPr>
            <a:r>
              <a:rPr lang="en-GB" sz="2800" spc="-145" dirty="0" err="1">
                <a:latin typeface="Trebuchet MS"/>
                <a:cs typeface="Trebuchet MS"/>
              </a:rPr>
              <a:t>Özel</a:t>
            </a:r>
            <a:r>
              <a:rPr lang="en-GB" sz="2800" spc="-145" dirty="0">
                <a:latin typeface="Trebuchet MS"/>
                <a:cs typeface="Trebuchet MS"/>
              </a:rPr>
              <a:t> </a:t>
            </a:r>
            <a:r>
              <a:rPr lang="en-GB" sz="2800" spc="-114" dirty="0" err="1">
                <a:latin typeface="Trebuchet MS"/>
                <a:cs typeface="Trebuchet MS"/>
              </a:rPr>
              <a:t>Amaçlı</a:t>
            </a:r>
            <a:r>
              <a:rPr lang="en-GB" sz="2800" spc="-250" dirty="0">
                <a:latin typeface="Trebuchet MS"/>
                <a:cs typeface="Trebuchet MS"/>
              </a:rPr>
              <a:t> </a:t>
            </a:r>
            <a:r>
              <a:rPr lang="en-GB" sz="2800" spc="-110" dirty="0" err="1" smtClean="0">
                <a:latin typeface="Trebuchet MS"/>
                <a:cs typeface="Trebuchet MS"/>
              </a:rPr>
              <a:t>Operatörler</a:t>
            </a:r>
            <a:endParaRPr lang="en-GB" sz="28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06053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Aritmetik 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tr-TR" sz="2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Artirmetik</a:t>
            </a:r>
            <a:r>
              <a:rPr lang="tr-TR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Operatörler: +, -, *, /</a:t>
            </a:r>
          </a:p>
          <a:p>
            <a:endParaRPr lang="tr-TR" sz="2000" dirty="0" smtClean="0"/>
          </a:p>
          <a:p>
            <a:r>
              <a:rPr lang="tr-TR" sz="2000" dirty="0" smtClean="0"/>
              <a:t>Matematikteki t</a:t>
            </a:r>
            <a:r>
              <a:rPr lang="en-GB" sz="2000" dirty="0" err="1"/>
              <a:t>oplama</a:t>
            </a:r>
            <a:r>
              <a:rPr lang="en-GB" sz="2000" dirty="0"/>
              <a:t>, </a:t>
            </a:r>
            <a:r>
              <a:rPr lang="en-GB" sz="2000" dirty="0" err="1"/>
              <a:t>çıkarma</a:t>
            </a:r>
            <a:r>
              <a:rPr lang="en-GB" sz="2000" dirty="0"/>
              <a:t>, </a:t>
            </a:r>
            <a:r>
              <a:rPr lang="en-GB" sz="2000" dirty="0" err="1"/>
              <a:t>çarpma</a:t>
            </a:r>
            <a:r>
              <a:rPr lang="en-GB" sz="2000" dirty="0"/>
              <a:t> </a:t>
            </a:r>
            <a:r>
              <a:rPr lang="en-GB" sz="2000" dirty="0" err="1"/>
              <a:t>ve</a:t>
            </a:r>
            <a:r>
              <a:rPr lang="en-GB" sz="2000" dirty="0"/>
              <a:t> </a:t>
            </a:r>
            <a:r>
              <a:rPr lang="en-GB" sz="2000" dirty="0" err="1"/>
              <a:t>bölme</a:t>
            </a:r>
            <a:r>
              <a:rPr lang="en-GB" sz="2000" dirty="0"/>
              <a:t>  </a:t>
            </a:r>
            <a:r>
              <a:rPr lang="en-GB" sz="2000" dirty="0" err="1"/>
              <a:t>operatörleridir</a:t>
            </a:r>
            <a:r>
              <a:rPr lang="en-GB" sz="2000" dirty="0"/>
              <a:t>. </a:t>
            </a:r>
            <a:r>
              <a:rPr lang="en-GB" sz="2000" dirty="0" err="1"/>
              <a:t>Bölme</a:t>
            </a:r>
            <a:r>
              <a:rPr lang="en-GB" sz="2000" dirty="0"/>
              <a:t> </a:t>
            </a:r>
            <a:r>
              <a:rPr lang="en-GB" sz="2000" dirty="0" err="1"/>
              <a:t>işleminde</a:t>
            </a:r>
            <a:r>
              <a:rPr lang="en-GB" sz="2000" dirty="0"/>
              <a:t>  </a:t>
            </a:r>
            <a:r>
              <a:rPr lang="en-GB" sz="2000" dirty="0" err="1"/>
              <a:t>kullanılan</a:t>
            </a:r>
            <a:r>
              <a:rPr lang="en-GB" sz="2000" dirty="0"/>
              <a:t> </a:t>
            </a:r>
            <a:r>
              <a:rPr lang="en-GB" sz="2000" dirty="0" err="1"/>
              <a:t>değerin</a:t>
            </a:r>
            <a:r>
              <a:rPr lang="en-GB" sz="2000" dirty="0"/>
              <a:t> </a:t>
            </a:r>
            <a:r>
              <a:rPr lang="en-GB" sz="2000" dirty="0" err="1"/>
              <a:t>tipine</a:t>
            </a:r>
            <a:r>
              <a:rPr lang="en-GB" sz="2000" dirty="0"/>
              <a:t> </a:t>
            </a:r>
            <a:r>
              <a:rPr lang="en-GB" sz="2000" dirty="0" err="1"/>
              <a:t>göre</a:t>
            </a:r>
            <a:r>
              <a:rPr lang="en-GB" sz="2000" dirty="0"/>
              <a:t> </a:t>
            </a:r>
            <a:r>
              <a:rPr lang="en-GB" sz="2000" dirty="0" err="1"/>
              <a:t>farklı</a:t>
            </a:r>
            <a:r>
              <a:rPr lang="en-GB" sz="2000" dirty="0"/>
              <a:t> </a:t>
            </a:r>
            <a:r>
              <a:rPr lang="en-GB" sz="2000" dirty="0" err="1"/>
              <a:t>sonuçlar</a:t>
            </a:r>
            <a:r>
              <a:rPr lang="en-GB" sz="2000" dirty="0"/>
              <a:t>  </a:t>
            </a:r>
            <a:r>
              <a:rPr lang="en-GB" sz="2000" dirty="0" err="1"/>
              <a:t>elde</a:t>
            </a:r>
            <a:r>
              <a:rPr lang="en-GB" sz="2000" dirty="0"/>
              <a:t> </a:t>
            </a:r>
            <a:r>
              <a:rPr lang="en-GB" sz="2000" dirty="0" err="1"/>
              <a:t>edilebilir</a:t>
            </a:r>
            <a:r>
              <a:rPr lang="en-GB" sz="2000" dirty="0" smtClean="0"/>
              <a:t>.</a:t>
            </a:r>
            <a:endParaRPr lang="tr-TR" sz="2000" dirty="0" smtClean="0"/>
          </a:p>
          <a:p>
            <a:endParaRPr lang="tr-TR" sz="2000" dirty="0"/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GB" sz="2000" dirty="0" err="1"/>
              <a:t>int</a:t>
            </a:r>
            <a:r>
              <a:rPr lang="en-GB" sz="2000" dirty="0"/>
              <a:t> </a:t>
            </a:r>
            <a:r>
              <a:rPr lang="en-GB" sz="2000" dirty="0" err="1"/>
              <a:t>i</a:t>
            </a:r>
            <a:r>
              <a:rPr lang="en-GB" sz="2000" dirty="0"/>
              <a:t> = 20 + 30;</a:t>
            </a: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en-GB" sz="2000" dirty="0"/>
              <a:t>float f = 12.34f + 56.78f;</a:t>
            </a:r>
          </a:p>
          <a:p>
            <a:endParaRPr lang="en-GB" sz="2000" dirty="0" smtClean="0"/>
          </a:p>
          <a:p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1127311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Aritmetik 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tr-TR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 Operatörü: 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98450" algn="l"/>
                <a:tab pos="1330325" algn="l"/>
                <a:tab pos="1954530" algn="l"/>
                <a:tab pos="2764790" algn="l"/>
                <a:tab pos="2929255" algn="l"/>
                <a:tab pos="3947160" algn="l"/>
                <a:tab pos="4214495" algn="l"/>
                <a:tab pos="5002530" algn="l"/>
                <a:tab pos="5191125" algn="l"/>
                <a:tab pos="6103620" algn="l"/>
              </a:tabLst>
            </a:pPr>
            <a:endParaRPr lang="tr-TR" sz="2800" spc="-95" dirty="0" smtClean="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98450" algn="l"/>
                <a:tab pos="1330325" algn="l"/>
                <a:tab pos="1954530" algn="l"/>
                <a:tab pos="2764790" algn="l"/>
                <a:tab pos="2929255" algn="l"/>
                <a:tab pos="3947160" algn="l"/>
                <a:tab pos="4214495" algn="l"/>
                <a:tab pos="5002530" algn="l"/>
                <a:tab pos="5191125" algn="l"/>
                <a:tab pos="6103620" algn="l"/>
              </a:tabLst>
            </a:pPr>
            <a:r>
              <a:rPr lang="en-GB" sz="2800" spc="-95" dirty="0" err="1" smtClean="0">
                <a:latin typeface="Trebuchet MS"/>
                <a:cs typeface="Trebuchet MS"/>
              </a:rPr>
              <a:t>Bölümden</a:t>
            </a:r>
            <a:r>
              <a:rPr lang="en-GB" sz="2800" spc="-95" dirty="0">
                <a:latin typeface="Trebuchet MS"/>
                <a:cs typeface="Trebuchet MS"/>
              </a:rPr>
              <a:t>	</a:t>
            </a:r>
            <a:r>
              <a:rPr lang="en-GB" sz="2800" spc="-85" dirty="0" err="1">
                <a:latin typeface="Trebuchet MS"/>
                <a:cs typeface="Trebuchet MS"/>
              </a:rPr>
              <a:t>sonra</a:t>
            </a:r>
            <a:r>
              <a:rPr lang="en-GB" sz="2800" spc="-85" dirty="0">
                <a:latin typeface="Trebuchet MS"/>
                <a:cs typeface="Trebuchet MS"/>
              </a:rPr>
              <a:t>		</a:t>
            </a:r>
            <a:r>
              <a:rPr lang="en-GB" sz="2800" spc="-145" dirty="0" err="1">
                <a:latin typeface="Trebuchet MS"/>
                <a:cs typeface="Trebuchet MS"/>
              </a:rPr>
              <a:t>kalanı</a:t>
            </a:r>
            <a:r>
              <a:rPr lang="en-GB" sz="2800" spc="-145" dirty="0">
                <a:latin typeface="Trebuchet MS"/>
                <a:cs typeface="Trebuchet MS"/>
              </a:rPr>
              <a:t>	</a:t>
            </a:r>
            <a:r>
              <a:rPr lang="en-GB" sz="2800" spc="-120" dirty="0" err="1">
                <a:latin typeface="Trebuchet MS"/>
                <a:cs typeface="Trebuchet MS"/>
              </a:rPr>
              <a:t>bulmak</a:t>
            </a:r>
            <a:r>
              <a:rPr lang="en-GB" sz="2800" spc="-120" dirty="0">
                <a:latin typeface="Trebuchet MS"/>
                <a:cs typeface="Trebuchet MS"/>
              </a:rPr>
              <a:t>	</a:t>
            </a:r>
            <a:r>
              <a:rPr lang="en-GB" sz="2800" spc="-130" dirty="0" err="1">
                <a:latin typeface="Trebuchet MS"/>
                <a:cs typeface="Trebuchet MS"/>
              </a:rPr>
              <a:t>yani</a:t>
            </a:r>
            <a:r>
              <a:rPr lang="en-GB" sz="2800" spc="-130" dirty="0">
                <a:latin typeface="Trebuchet MS"/>
                <a:cs typeface="Trebuchet MS"/>
              </a:rPr>
              <a:t>	</a:t>
            </a:r>
            <a:r>
              <a:rPr lang="en-GB" sz="2800" spc="-70" dirty="0">
                <a:latin typeface="Trebuchet MS"/>
                <a:cs typeface="Trebuchet MS"/>
              </a:rPr>
              <a:t>mod  </a:t>
            </a:r>
            <a:r>
              <a:rPr lang="en-GB" sz="2800" spc="-140" dirty="0" err="1">
                <a:latin typeface="Trebuchet MS"/>
                <a:cs typeface="Trebuchet MS"/>
              </a:rPr>
              <a:t>alma</a:t>
            </a:r>
            <a:r>
              <a:rPr lang="en-GB" sz="2800" spc="-130" dirty="0" err="1">
                <a:latin typeface="Trebuchet MS"/>
                <a:cs typeface="Trebuchet MS"/>
              </a:rPr>
              <a:t>k</a:t>
            </a:r>
            <a:r>
              <a:rPr lang="en-GB" sz="2800" dirty="0">
                <a:latin typeface="Trebuchet MS"/>
                <a:cs typeface="Trebuchet MS"/>
              </a:rPr>
              <a:t>	</a:t>
            </a:r>
            <a:r>
              <a:rPr lang="en-GB" sz="2800" spc="-130" dirty="0" err="1">
                <a:latin typeface="Trebuchet MS"/>
                <a:cs typeface="Trebuchet MS"/>
              </a:rPr>
              <a:t>a</a:t>
            </a:r>
            <a:r>
              <a:rPr lang="en-GB" sz="2800" spc="-145" dirty="0" err="1">
                <a:latin typeface="Trebuchet MS"/>
                <a:cs typeface="Trebuchet MS"/>
              </a:rPr>
              <a:t>mac</a:t>
            </a:r>
            <a:r>
              <a:rPr lang="en-GB" sz="2800" spc="-170" dirty="0" err="1">
                <a:latin typeface="Trebuchet MS"/>
                <a:cs typeface="Trebuchet MS"/>
              </a:rPr>
              <a:t>ı</a:t>
            </a:r>
            <a:r>
              <a:rPr lang="en-GB" sz="2800" spc="-135" dirty="0" err="1">
                <a:latin typeface="Trebuchet MS"/>
                <a:cs typeface="Trebuchet MS"/>
              </a:rPr>
              <a:t>yl</a:t>
            </a:r>
            <a:r>
              <a:rPr lang="en-GB" sz="2800" spc="-170" dirty="0" err="1">
                <a:latin typeface="Trebuchet MS"/>
                <a:cs typeface="Trebuchet MS"/>
              </a:rPr>
              <a:t>a</a:t>
            </a:r>
            <a:r>
              <a:rPr lang="en-GB" sz="2800" dirty="0">
                <a:latin typeface="Trebuchet MS"/>
                <a:cs typeface="Trebuchet MS"/>
              </a:rPr>
              <a:t>	</a:t>
            </a:r>
            <a:r>
              <a:rPr lang="en-GB" sz="2800" spc="-180" dirty="0" err="1">
                <a:latin typeface="Trebuchet MS"/>
                <a:cs typeface="Trebuchet MS"/>
              </a:rPr>
              <a:t>k</a:t>
            </a:r>
            <a:r>
              <a:rPr lang="en-GB" sz="2800" spc="-130" dirty="0" err="1">
                <a:latin typeface="Trebuchet MS"/>
                <a:cs typeface="Trebuchet MS"/>
              </a:rPr>
              <a:t>ullan</a:t>
            </a:r>
            <a:r>
              <a:rPr lang="en-GB" sz="2800" spc="-165" dirty="0" err="1">
                <a:latin typeface="Trebuchet MS"/>
                <a:cs typeface="Trebuchet MS"/>
              </a:rPr>
              <a:t>ı</a:t>
            </a:r>
            <a:r>
              <a:rPr lang="en-GB" sz="2800" spc="-195" dirty="0" err="1">
                <a:latin typeface="Trebuchet MS"/>
                <a:cs typeface="Trebuchet MS"/>
              </a:rPr>
              <a:t>l</a:t>
            </a:r>
            <a:r>
              <a:rPr lang="en-GB" sz="2800" spc="-170" dirty="0" err="1">
                <a:latin typeface="Trebuchet MS"/>
                <a:cs typeface="Trebuchet MS"/>
              </a:rPr>
              <a:t>ı</a:t>
            </a:r>
            <a:r>
              <a:rPr lang="en-GB" sz="2800" spc="-505" dirty="0" err="1">
                <a:latin typeface="Trebuchet MS"/>
                <a:cs typeface="Trebuchet MS"/>
              </a:rPr>
              <a:t>r</a:t>
            </a:r>
            <a:r>
              <a:rPr lang="en-GB" sz="2800" spc="-210" dirty="0">
                <a:latin typeface="Trebuchet MS"/>
                <a:cs typeface="Trebuchet MS"/>
              </a:rPr>
              <a:t>.</a:t>
            </a:r>
            <a:r>
              <a:rPr lang="en-GB" sz="2800" dirty="0">
                <a:latin typeface="Trebuchet MS"/>
                <a:cs typeface="Trebuchet MS"/>
              </a:rPr>
              <a:t>	</a:t>
            </a:r>
            <a:r>
              <a:rPr lang="en-GB" sz="2800" spc="-440" dirty="0" err="1">
                <a:latin typeface="Trebuchet MS"/>
                <a:cs typeface="Trebuchet MS"/>
              </a:rPr>
              <a:t>T</a:t>
            </a:r>
            <a:r>
              <a:rPr lang="en-GB" sz="2800" spc="-65" dirty="0" err="1">
                <a:latin typeface="Trebuchet MS"/>
                <a:cs typeface="Trebuchet MS"/>
              </a:rPr>
              <a:t>ü</a:t>
            </a:r>
            <a:r>
              <a:rPr lang="en-GB" sz="2800" spc="-90" dirty="0" err="1">
                <a:latin typeface="Trebuchet MS"/>
                <a:cs typeface="Trebuchet MS"/>
              </a:rPr>
              <a:t>m</a:t>
            </a:r>
            <a:r>
              <a:rPr lang="en-GB" sz="2800" dirty="0">
                <a:latin typeface="Trebuchet MS"/>
                <a:cs typeface="Trebuchet MS"/>
              </a:rPr>
              <a:t>	</a:t>
            </a:r>
            <a:r>
              <a:rPr lang="en-GB" sz="2800" spc="-35" dirty="0" err="1">
                <a:latin typeface="Trebuchet MS"/>
                <a:cs typeface="Trebuchet MS"/>
              </a:rPr>
              <a:t>s</a:t>
            </a:r>
            <a:r>
              <a:rPr lang="en-GB" sz="2800" spc="-185" dirty="0" err="1">
                <a:latin typeface="Trebuchet MS"/>
                <a:cs typeface="Trebuchet MS"/>
              </a:rPr>
              <a:t>a</a:t>
            </a:r>
            <a:r>
              <a:rPr lang="en-GB" sz="2800" spc="-125" dirty="0" err="1">
                <a:latin typeface="Trebuchet MS"/>
                <a:cs typeface="Trebuchet MS"/>
              </a:rPr>
              <a:t>y</a:t>
            </a:r>
            <a:r>
              <a:rPr lang="en-GB" sz="2800" spc="-165" dirty="0" err="1">
                <a:latin typeface="Trebuchet MS"/>
                <a:cs typeface="Trebuchet MS"/>
              </a:rPr>
              <a:t>ı</a:t>
            </a:r>
            <a:r>
              <a:rPr lang="en-GB" sz="2800" spc="-140" dirty="0" err="1">
                <a:latin typeface="Trebuchet MS"/>
                <a:cs typeface="Trebuchet MS"/>
              </a:rPr>
              <a:t>sa</a:t>
            </a:r>
            <a:r>
              <a:rPr lang="en-GB" sz="2800" spc="-85" dirty="0" err="1">
                <a:latin typeface="Trebuchet MS"/>
                <a:cs typeface="Trebuchet MS"/>
              </a:rPr>
              <a:t>l</a:t>
            </a:r>
            <a:r>
              <a:rPr lang="en-GB" sz="2800" dirty="0">
                <a:latin typeface="Trebuchet MS"/>
                <a:cs typeface="Trebuchet MS"/>
              </a:rPr>
              <a:t>	</a:t>
            </a:r>
            <a:r>
              <a:rPr lang="en-GB" sz="2800" spc="-180" dirty="0" err="1">
                <a:latin typeface="Trebuchet MS"/>
                <a:cs typeface="Trebuchet MS"/>
              </a:rPr>
              <a:t>t</a:t>
            </a:r>
            <a:r>
              <a:rPr lang="en-GB" sz="2800" spc="-114" dirty="0" err="1">
                <a:latin typeface="Trebuchet MS"/>
                <a:cs typeface="Trebuchet MS"/>
              </a:rPr>
              <a:t>ürler</a:t>
            </a:r>
            <a:r>
              <a:rPr lang="en-GB" sz="2800" spc="-114" dirty="0">
                <a:latin typeface="Trebuchet MS"/>
                <a:cs typeface="Trebuchet MS"/>
              </a:rPr>
              <a:t>  </a:t>
            </a:r>
            <a:r>
              <a:rPr lang="en-GB" sz="2800" spc="-150" dirty="0" err="1">
                <a:latin typeface="Trebuchet MS"/>
                <a:cs typeface="Trebuchet MS"/>
              </a:rPr>
              <a:t>için</a:t>
            </a:r>
            <a:r>
              <a:rPr lang="en-GB" sz="2800" spc="-215" dirty="0">
                <a:latin typeface="Trebuchet MS"/>
                <a:cs typeface="Trebuchet MS"/>
              </a:rPr>
              <a:t> </a:t>
            </a:r>
            <a:r>
              <a:rPr lang="en-GB" sz="2800" spc="-175" dirty="0" err="1">
                <a:latin typeface="Trebuchet MS"/>
                <a:cs typeface="Trebuchet MS"/>
              </a:rPr>
              <a:t>kullanılabilir</a:t>
            </a:r>
            <a:r>
              <a:rPr lang="en-GB" sz="2800" spc="-175" dirty="0">
                <a:latin typeface="Trebuchet MS"/>
                <a:cs typeface="Trebuchet MS"/>
              </a:rPr>
              <a:t>.</a:t>
            </a:r>
            <a:endParaRPr lang="en-GB" sz="2800" dirty="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698500" algn="l"/>
                <a:tab pos="2139315" algn="l"/>
                <a:tab pos="2710815" algn="l"/>
              </a:tabLst>
            </a:pPr>
            <a:r>
              <a:rPr lang="en-GB" spc="-165" dirty="0">
                <a:latin typeface="Trebuchet MS"/>
                <a:cs typeface="Trebuchet MS"/>
              </a:rPr>
              <a:t>x </a:t>
            </a:r>
            <a:r>
              <a:rPr lang="en-GB" spc="-65" dirty="0">
                <a:latin typeface="Trebuchet MS"/>
                <a:cs typeface="Trebuchet MS"/>
              </a:rPr>
              <a:t>= </a:t>
            </a:r>
            <a:r>
              <a:rPr lang="en-GB" spc="-45" dirty="0">
                <a:latin typeface="Trebuchet MS"/>
                <a:cs typeface="Trebuchet MS"/>
              </a:rPr>
              <a:t>10</a:t>
            </a:r>
            <a:r>
              <a:rPr lang="en-GB" spc="-340" dirty="0">
                <a:latin typeface="Trebuchet MS"/>
                <a:cs typeface="Trebuchet MS"/>
              </a:rPr>
              <a:t> </a:t>
            </a:r>
            <a:r>
              <a:rPr lang="en-GB" spc="275" dirty="0">
                <a:latin typeface="Trebuchet MS"/>
                <a:cs typeface="Trebuchet MS"/>
              </a:rPr>
              <a:t>%</a:t>
            </a:r>
            <a:r>
              <a:rPr lang="en-GB" spc="-190" dirty="0">
                <a:latin typeface="Trebuchet MS"/>
                <a:cs typeface="Trebuchet MS"/>
              </a:rPr>
              <a:t> </a:t>
            </a:r>
            <a:r>
              <a:rPr lang="en-GB" spc="-45" dirty="0">
                <a:latin typeface="Trebuchet MS"/>
                <a:cs typeface="Trebuchet MS"/>
              </a:rPr>
              <a:t>3	</a:t>
            </a:r>
            <a:r>
              <a:rPr lang="en-GB" spc="4035" dirty="0">
                <a:latin typeface="Times New Roman"/>
                <a:cs typeface="Times New Roman"/>
              </a:rPr>
              <a:t>	</a:t>
            </a:r>
            <a:r>
              <a:rPr lang="en-GB" spc="-165" dirty="0">
                <a:latin typeface="Trebuchet MS"/>
                <a:cs typeface="Trebuchet MS"/>
              </a:rPr>
              <a:t>x </a:t>
            </a:r>
            <a:r>
              <a:rPr lang="en-GB" spc="-65" dirty="0">
                <a:latin typeface="Trebuchet MS"/>
                <a:cs typeface="Trebuchet MS"/>
              </a:rPr>
              <a:t>=</a:t>
            </a:r>
            <a:r>
              <a:rPr lang="en-GB" spc="-215" dirty="0">
                <a:latin typeface="Trebuchet MS"/>
                <a:cs typeface="Trebuchet MS"/>
              </a:rPr>
              <a:t> </a:t>
            </a:r>
            <a:r>
              <a:rPr lang="en-GB" spc="-45" dirty="0">
                <a:latin typeface="Trebuchet MS"/>
                <a:cs typeface="Trebuchet MS"/>
              </a:rPr>
              <a:t>1</a:t>
            </a:r>
            <a:endParaRPr lang="en-GB" dirty="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  <a:tab pos="2084705" algn="l"/>
                <a:tab pos="2656205" algn="l"/>
              </a:tabLst>
            </a:pPr>
            <a:r>
              <a:rPr lang="en-GB" spc="-100" dirty="0">
                <a:latin typeface="Trebuchet MS"/>
                <a:cs typeface="Trebuchet MS"/>
              </a:rPr>
              <a:t>y </a:t>
            </a:r>
            <a:r>
              <a:rPr lang="en-GB" spc="-65" dirty="0">
                <a:latin typeface="Trebuchet MS"/>
                <a:cs typeface="Trebuchet MS"/>
              </a:rPr>
              <a:t>= </a:t>
            </a:r>
            <a:r>
              <a:rPr lang="en-GB" spc="-100" dirty="0">
                <a:latin typeface="Trebuchet MS"/>
                <a:cs typeface="Trebuchet MS"/>
              </a:rPr>
              <a:t>‐7</a:t>
            </a:r>
            <a:r>
              <a:rPr lang="en-GB" spc="-395" dirty="0">
                <a:latin typeface="Trebuchet MS"/>
                <a:cs typeface="Trebuchet MS"/>
              </a:rPr>
              <a:t> </a:t>
            </a:r>
            <a:r>
              <a:rPr lang="en-GB" spc="275" dirty="0">
                <a:latin typeface="Trebuchet MS"/>
                <a:cs typeface="Trebuchet MS"/>
              </a:rPr>
              <a:t>%</a:t>
            </a:r>
            <a:r>
              <a:rPr lang="en-GB" spc="-185" dirty="0">
                <a:latin typeface="Trebuchet MS"/>
                <a:cs typeface="Trebuchet MS"/>
              </a:rPr>
              <a:t> </a:t>
            </a:r>
            <a:r>
              <a:rPr lang="en-GB" spc="-45" dirty="0">
                <a:latin typeface="Trebuchet MS"/>
                <a:cs typeface="Trebuchet MS"/>
              </a:rPr>
              <a:t>4	</a:t>
            </a:r>
            <a:r>
              <a:rPr lang="en-GB" spc="4035" dirty="0">
                <a:latin typeface="Times New Roman"/>
                <a:cs typeface="Times New Roman"/>
              </a:rPr>
              <a:t>	</a:t>
            </a:r>
            <a:r>
              <a:rPr lang="en-GB" spc="-100" dirty="0">
                <a:latin typeface="Trebuchet MS"/>
                <a:cs typeface="Trebuchet MS"/>
              </a:rPr>
              <a:t>y </a:t>
            </a:r>
            <a:r>
              <a:rPr lang="en-GB" spc="-65" dirty="0">
                <a:latin typeface="Trebuchet MS"/>
                <a:cs typeface="Trebuchet MS"/>
              </a:rPr>
              <a:t>=</a:t>
            </a:r>
            <a:r>
              <a:rPr lang="en-GB" spc="-275" dirty="0">
                <a:latin typeface="Trebuchet MS"/>
                <a:cs typeface="Trebuchet MS"/>
              </a:rPr>
              <a:t> </a:t>
            </a:r>
            <a:r>
              <a:rPr lang="en-GB" spc="-100" dirty="0">
                <a:latin typeface="Trebuchet MS"/>
                <a:cs typeface="Trebuchet MS"/>
              </a:rPr>
              <a:t>‐3</a:t>
            </a:r>
            <a:endParaRPr lang="en-GB" dirty="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  <a:tab pos="2961005" algn="l"/>
              </a:tabLst>
            </a:pPr>
            <a:r>
              <a:rPr lang="en-GB" spc="-155" dirty="0">
                <a:latin typeface="Trebuchet MS"/>
                <a:cs typeface="Trebuchet MS"/>
              </a:rPr>
              <a:t>f </a:t>
            </a:r>
            <a:r>
              <a:rPr lang="en-GB" spc="-65" dirty="0">
                <a:latin typeface="Trebuchet MS"/>
                <a:cs typeface="Trebuchet MS"/>
              </a:rPr>
              <a:t>= </a:t>
            </a:r>
            <a:r>
              <a:rPr lang="en-GB" spc="-130" dirty="0">
                <a:latin typeface="Trebuchet MS"/>
                <a:cs typeface="Trebuchet MS"/>
              </a:rPr>
              <a:t>2.5f </a:t>
            </a:r>
            <a:r>
              <a:rPr lang="en-GB" spc="275" dirty="0">
                <a:latin typeface="Trebuchet MS"/>
                <a:cs typeface="Trebuchet MS"/>
              </a:rPr>
              <a:t>%</a:t>
            </a:r>
            <a:r>
              <a:rPr lang="en-GB" spc="-400" dirty="0">
                <a:latin typeface="Trebuchet MS"/>
                <a:cs typeface="Trebuchet MS"/>
              </a:rPr>
              <a:t> </a:t>
            </a:r>
            <a:r>
              <a:rPr lang="en-GB" spc="-130" dirty="0" smtClean="0">
                <a:latin typeface="Trebuchet MS"/>
                <a:cs typeface="Trebuchet MS"/>
              </a:rPr>
              <a:t>1.2f</a:t>
            </a:r>
            <a:r>
              <a:rPr lang="tr-TR" spc="-130" dirty="0" smtClean="0">
                <a:latin typeface="Trebuchet MS"/>
                <a:cs typeface="Trebuchet MS"/>
              </a:rPr>
              <a:t>    </a:t>
            </a:r>
            <a:r>
              <a:rPr lang="en-GB" spc="-155" dirty="0" smtClean="0">
                <a:latin typeface="Trebuchet MS"/>
                <a:cs typeface="Trebuchet MS"/>
              </a:rPr>
              <a:t>f </a:t>
            </a:r>
            <a:r>
              <a:rPr lang="en-GB" spc="-65" dirty="0">
                <a:latin typeface="Trebuchet MS"/>
                <a:cs typeface="Trebuchet MS"/>
              </a:rPr>
              <a:t>=</a:t>
            </a:r>
            <a:r>
              <a:rPr lang="en-GB" spc="-215" dirty="0">
                <a:latin typeface="Trebuchet MS"/>
                <a:cs typeface="Trebuchet MS"/>
              </a:rPr>
              <a:t> </a:t>
            </a:r>
            <a:r>
              <a:rPr lang="en-GB" spc="-125" dirty="0">
                <a:latin typeface="Trebuchet MS"/>
                <a:cs typeface="Trebuchet MS"/>
              </a:rPr>
              <a:t>0.1</a:t>
            </a:r>
            <a:endParaRPr lang="en-GB" dirty="0">
              <a:latin typeface="Trebuchet MS"/>
              <a:cs typeface="Trebuchet MS"/>
            </a:endParaRPr>
          </a:p>
          <a:p>
            <a:endParaRPr lang="en-GB" sz="2000" dirty="0" smtClean="0"/>
          </a:p>
          <a:p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224378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Aritmetik 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tr-TR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++, -- Operatörleri: 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98450" algn="l"/>
                <a:tab pos="1330325" algn="l"/>
                <a:tab pos="1954530" algn="l"/>
                <a:tab pos="2764790" algn="l"/>
                <a:tab pos="2929255" algn="l"/>
                <a:tab pos="3947160" algn="l"/>
                <a:tab pos="4214495" algn="l"/>
                <a:tab pos="5002530" algn="l"/>
                <a:tab pos="5191125" algn="l"/>
                <a:tab pos="6103620" algn="l"/>
              </a:tabLst>
            </a:pPr>
            <a:endParaRPr lang="tr-TR" sz="2800" spc="-95" dirty="0" smtClean="0">
              <a:latin typeface="Trebuchet MS"/>
              <a:cs typeface="Trebuchet MS"/>
            </a:endParaRPr>
          </a:p>
          <a:p>
            <a:r>
              <a:rPr lang="en-GB" sz="2000" dirty="0" err="1"/>
              <a:t>Önüne</a:t>
            </a:r>
            <a:r>
              <a:rPr lang="en-GB" sz="2000" dirty="0"/>
              <a:t> </a:t>
            </a:r>
            <a:r>
              <a:rPr lang="en-GB" sz="2000" dirty="0" err="1"/>
              <a:t>ya</a:t>
            </a:r>
            <a:r>
              <a:rPr lang="en-GB" sz="2000" dirty="0"/>
              <a:t> da </a:t>
            </a:r>
            <a:r>
              <a:rPr lang="en-GB" sz="2000" dirty="0" err="1"/>
              <a:t>sonuna</a:t>
            </a:r>
            <a:r>
              <a:rPr lang="en-GB" sz="2000" dirty="0"/>
              <a:t>  </a:t>
            </a:r>
            <a:r>
              <a:rPr lang="en-GB" sz="2000" dirty="0" err="1"/>
              <a:t>geldiği</a:t>
            </a:r>
            <a:r>
              <a:rPr lang="en-GB" sz="2000" dirty="0"/>
              <a:t> </a:t>
            </a:r>
            <a:r>
              <a:rPr lang="en-GB" sz="2000" dirty="0" err="1"/>
              <a:t>değişkenin</a:t>
            </a:r>
            <a:r>
              <a:rPr lang="en-GB" sz="2000" dirty="0"/>
              <a:t>  </a:t>
            </a:r>
            <a:r>
              <a:rPr lang="en-GB" sz="2000" dirty="0" err="1"/>
              <a:t>değerini</a:t>
            </a:r>
            <a:r>
              <a:rPr lang="en-GB" sz="2000" dirty="0"/>
              <a:t> 1 </a:t>
            </a:r>
            <a:r>
              <a:rPr lang="en-GB" sz="2000" dirty="0" err="1"/>
              <a:t>arttırır</a:t>
            </a:r>
            <a:r>
              <a:rPr lang="en-GB" sz="2000" dirty="0"/>
              <a:t> </a:t>
            </a:r>
            <a:r>
              <a:rPr lang="en-GB" sz="2000" dirty="0" err="1"/>
              <a:t>ya</a:t>
            </a:r>
            <a:r>
              <a:rPr lang="en-GB" sz="2000" dirty="0"/>
              <a:t> da 1 </a:t>
            </a:r>
            <a:r>
              <a:rPr lang="en-GB" sz="2000" dirty="0" err="1"/>
              <a:t>azaltır</a:t>
            </a:r>
            <a:r>
              <a:rPr lang="en-GB" sz="2000" dirty="0"/>
              <a:t>. </a:t>
            </a:r>
            <a:r>
              <a:rPr lang="en-GB" sz="2000" dirty="0" err="1"/>
              <a:t>İki</a:t>
            </a:r>
            <a:r>
              <a:rPr lang="en-GB" sz="2000" dirty="0"/>
              <a:t> </a:t>
            </a:r>
            <a:r>
              <a:rPr lang="en-GB" sz="2000" dirty="0" err="1"/>
              <a:t>şekilde</a:t>
            </a:r>
            <a:r>
              <a:rPr lang="en-GB" sz="2000" dirty="0"/>
              <a:t>  </a:t>
            </a:r>
            <a:r>
              <a:rPr lang="en-GB" sz="2000" dirty="0" err="1"/>
              <a:t>kullanılırlar</a:t>
            </a:r>
            <a:r>
              <a:rPr lang="en-GB" sz="2000" dirty="0"/>
              <a:t>: </a:t>
            </a:r>
            <a:r>
              <a:rPr lang="en-GB" sz="2000" dirty="0" err="1"/>
              <a:t>Önek</a:t>
            </a:r>
            <a:r>
              <a:rPr lang="en-GB" sz="2000" dirty="0"/>
              <a:t> (prefix) </a:t>
            </a:r>
            <a:r>
              <a:rPr lang="en-GB" sz="2000" dirty="0" err="1"/>
              <a:t>ve</a:t>
            </a:r>
            <a:r>
              <a:rPr lang="en-GB" sz="2000" dirty="0"/>
              <a:t> </a:t>
            </a:r>
            <a:r>
              <a:rPr lang="en-GB" sz="2000" dirty="0" err="1"/>
              <a:t>Sonek</a:t>
            </a:r>
            <a:r>
              <a:rPr lang="en-GB" sz="2000" dirty="0"/>
              <a:t> (postfix).  </a:t>
            </a:r>
            <a:r>
              <a:rPr lang="en-GB" sz="2000" dirty="0" err="1"/>
              <a:t>Bütün</a:t>
            </a:r>
            <a:r>
              <a:rPr lang="en-GB" sz="2000" dirty="0"/>
              <a:t> </a:t>
            </a:r>
            <a:r>
              <a:rPr lang="en-GB" sz="2000" dirty="0" err="1"/>
              <a:t>sayısal</a:t>
            </a:r>
            <a:r>
              <a:rPr lang="en-GB" sz="2000" dirty="0"/>
              <a:t> </a:t>
            </a:r>
            <a:r>
              <a:rPr lang="en-GB" sz="2000" dirty="0" err="1"/>
              <a:t>değerlerde</a:t>
            </a:r>
            <a:r>
              <a:rPr lang="en-GB" sz="2000" dirty="0"/>
              <a:t> </a:t>
            </a:r>
            <a:r>
              <a:rPr lang="en-GB" sz="2000" dirty="0" err="1"/>
              <a:t>kullanılabilir</a:t>
            </a:r>
            <a:r>
              <a:rPr lang="en-GB" sz="2000" dirty="0"/>
              <a:t>.</a:t>
            </a:r>
          </a:p>
          <a:p>
            <a:endParaRPr lang="en-GB" sz="2000" dirty="0" smtClean="0"/>
          </a:p>
          <a:p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1088601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Aritmetik 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tr-TR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++, -- Operatörleri: </a:t>
            </a:r>
          </a:p>
          <a:p>
            <a:r>
              <a:rPr lang="tr-TR" sz="2000" dirty="0" smtClean="0"/>
              <a:t>Arttırma ve Azaltma operatörlerinde  dikkat edilmesi gereken durumlar şu şekildedir:</a:t>
            </a:r>
          </a:p>
          <a:p>
            <a:endParaRPr lang="tr-TR" sz="2000" dirty="0"/>
          </a:p>
          <a:p>
            <a:r>
              <a:rPr lang="en-GB" sz="2000" spc="-114" dirty="0">
                <a:latin typeface="Trebuchet MS"/>
                <a:cs typeface="Trebuchet MS"/>
              </a:rPr>
              <a:t>a </a:t>
            </a:r>
            <a:r>
              <a:rPr lang="en-GB" sz="2000" spc="-65" dirty="0">
                <a:latin typeface="Trebuchet MS"/>
                <a:cs typeface="Trebuchet MS"/>
              </a:rPr>
              <a:t>=</a:t>
            </a:r>
            <a:r>
              <a:rPr lang="en-GB" sz="2000" spc="-270" dirty="0">
                <a:latin typeface="Trebuchet MS"/>
                <a:cs typeface="Trebuchet MS"/>
              </a:rPr>
              <a:t> </a:t>
            </a:r>
            <a:r>
              <a:rPr lang="en-GB" sz="2000" spc="-45" dirty="0" smtClean="0">
                <a:latin typeface="Trebuchet MS"/>
                <a:cs typeface="Trebuchet MS"/>
              </a:rPr>
              <a:t>4</a:t>
            </a:r>
            <a:r>
              <a:rPr lang="tr-TR" sz="2000" spc="-45" dirty="0" smtClean="0">
                <a:latin typeface="Trebuchet MS"/>
                <a:cs typeface="Trebuchet MS"/>
              </a:rPr>
              <a:t>				a=4</a:t>
            </a:r>
            <a:endParaRPr lang="en-GB" sz="2000" dirty="0">
              <a:latin typeface="Trebuchet MS"/>
              <a:cs typeface="Trebuchet MS"/>
            </a:endParaRPr>
          </a:p>
          <a:p>
            <a:r>
              <a:rPr lang="tr-TR" sz="2000" dirty="0" smtClean="0"/>
              <a:t>b=a++				b=++a</a:t>
            </a:r>
          </a:p>
          <a:p>
            <a:r>
              <a:rPr lang="tr-TR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a=5, b=4			a=5, b=5</a:t>
            </a:r>
            <a:endParaRPr lang="tr-TR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tr-TR" sz="2000" dirty="0" smtClean="0"/>
          </a:p>
          <a:p>
            <a:r>
              <a:rPr lang="tr-TR" sz="2000" dirty="0" smtClean="0"/>
              <a:t>a=4				a=4</a:t>
            </a:r>
          </a:p>
          <a:p>
            <a:r>
              <a:rPr lang="tr-TR" sz="2000" dirty="0" smtClean="0"/>
              <a:t>b=a--				b=--a</a:t>
            </a:r>
          </a:p>
          <a:p>
            <a:r>
              <a:rPr lang="tr-TR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a=3, b=4			a=3, b=3</a:t>
            </a:r>
            <a:endParaRPr lang="en-GB" sz="2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2377281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Aritmetik 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391400" cy="5145360"/>
          </a:xfrm>
        </p:spPr>
        <p:txBody>
          <a:bodyPr>
            <a:normAutofit fontScale="55000" lnSpcReduction="20000"/>
          </a:bodyPr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++, -- Operatörleri Örnek Kodu:</a:t>
            </a:r>
          </a:p>
          <a:p>
            <a:r>
              <a:rPr lang="en-GB" dirty="0"/>
              <a:t>using System;</a:t>
            </a:r>
          </a:p>
          <a:p>
            <a:endParaRPr lang="en-GB" dirty="0"/>
          </a:p>
          <a:p>
            <a:r>
              <a:rPr lang="en-GB" dirty="0"/>
              <a:t>namespace PrefixPostfix2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  class Program</a:t>
            </a:r>
          </a:p>
          <a:p>
            <a:r>
              <a:rPr lang="en-GB" dirty="0"/>
              <a:t>    {</a:t>
            </a:r>
          </a:p>
          <a:p>
            <a:r>
              <a:rPr lang="en-GB" dirty="0"/>
              <a:t>        static void Main(string[] </a:t>
            </a:r>
            <a:r>
              <a:rPr lang="en-GB" dirty="0" err="1"/>
              <a:t>args</a:t>
            </a:r>
            <a:r>
              <a:rPr lang="en-GB" dirty="0"/>
              <a:t>)</a:t>
            </a:r>
          </a:p>
          <a:p>
            <a:r>
              <a:rPr lang="en-GB" dirty="0"/>
              <a:t>        </a:t>
            </a:r>
            <a:r>
              <a:rPr lang="en-GB" dirty="0" smtClean="0"/>
              <a:t>{</a:t>
            </a:r>
            <a:endParaRPr lang="en-GB" dirty="0"/>
          </a:p>
          <a:p>
            <a:r>
              <a:rPr lang="en-GB" dirty="0"/>
              <a:t>            </a:t>
            </a:r>
            <a:r>
              <a:rPr lang="en-GB" dirty="0" err="1"/>
              <a:t>int</a:t>
            </a:r>
            <a:r>
              <a:rPr lang="en-GB" dirty="0"/>
              <a:t> a = 10; </a:t>
            </a:r>
            <a:r>
              <a:rPr lang="en-GB" dirty="0" err="1"/>
              <a:t>int</a:t>
            </a:r>
            <a:r>
              <a:rPr lang="en-GB" dirty="0"/>
              <a:t> b, c;</a:t>
            </a:r>
          </a:p>
          <a:p>
            <a:r>
              <a:rPr lang="en-GB" dirty="0"/>
              <a:t>            b = a++; </a:t>
            </a:r>
          </a:p>
          <a:p>
            <a:r>
              <a:rPr lang="en-GB" dirty="0"/>
              <a:t>            c = ++a;</a:t>
            </a:r>
          </a:p>
          <a:p>
            <a:r>
              <a:rPr lang="en-GB" dirty="0"/>
              <a:t>            </a:t>
            </a:r>
            <a:r>
              <a:rPr lang="en-GB" dirty="0" err="1"/>
              <a:t>Console.WriteLine</a:t>
            </a:r>
            <a:r>
              <a:rPr lang="en-GB" dirty="0"/>
              <a:t>("a {0}", a);</a:t>
            </a:r>
          </a:p>
          <a:p>
            <a:r>
              <a:rPr lang="en-GB" dirty="0"/>
              <a:t>            </a:t>
            </a:r>
            <a:r>
              <a:rPr lang="en-GB" dirty="0" err="1"/>
              <a:t>Console.WriteLine</a:t>
            </a:r>
            <a:r>
              <a:rPr lang="en-GB" dirty="0"/>
              <a:t>("b {0}", b);</a:t>
            </a:r>
          </a:p>
          <a:p>
            <a:r>
              <a:rPr lang="en-GB" dirty="0"/>
              <a:t>            </a:t>
            </a:r>
            <a:r>
              <a:rPr lang="en-GB" dirty="0" err="1"/>
              <a:t>Console.WriteLine</a:t>
            </a:r>
            <a:r>
              <a:rPr lang="en-GB" dirty="0"/>
              <a:t>("c {0}", c</a:t>
            </a:r>
            <a:r>
              <a:rPr lang="en-GB" dirty="0" smtClean="0"/>
              <a:t>);</a:t>
            </a:r>
            <a:endParaRPr lang="en-GB" dirty="0"/>
          </a:p>
          <a:p>
            <a:endParaRPr lang="en-GB" dirty="0"/>
          </a:p>
          <a:p>
            <a:r>
              <a:rPr lang="en-GB" dirty="0"/>
              <a:t>            </a:t>
            </a:r>
            <a:r>
              <a:rPr lang="en-GB" dirty="0" err="1"/>
              <a:t>Console.ReadKey</a:t>
            </a:r>
            <a:r>
              <a:rPr lang="en-GB" dirty="0"/>
              <a:t>();</a:t>
            </a:r>
          </a:p>
          <a:p>
            <a:r>
              <a:rPr lang="en-GB" dirty="0"/>
              <a:t>        }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}</a:t>
            </a:r>
            <a:endParaRPr lang="tr-TR" sz="20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5" y="5335860"/>
            <a:ext cx="467677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15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Karşılaştırma 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391400" cy="5145360"/>
          </a:xfrm>
        </p:spPr>
        <p:txBody>
          <a:bodyPr>
            <a:normAutofit fontScale="92500" lnSpcReduction="20000"/>
          </a:bodyPr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&gt; ve &lt; Operatörleri:</a:t>
            </a:r>
          </a:p>
          <a:p>
            <a:r>
              <a:rPr lang="tr-TR" dirty="0"/>
              <a:t>İki sayısal değerin birbirlerine göre büyüklüğünü ve küçüklüğünü  kontrol eder. Bu operatörlerin ürettiği değerler “</a:t>
            </a: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</a:rPr>
              <a:t>true</a:t>
            </a:r>
            <a:r>
              <a:rPr lang="tr-TR" dirty="0"/>
              <a:t>” </a:t>
            </a:r>
            <a:r>
              <a:rPr lang="tr-TR" dirty="0" smtClean="0"/>
              <a:t>veya </a:t>
            </a:r>
            <a:r>
              <a:rPr lang="tr-TR" dirty="0"/>
              <a:t>“</a:t>
            </a: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</a:rPr>
              <a:t>false</a:t>
            </a:r>
            <a:r>
              <a:rPr lang="tr-TR" dirty="0"/>
              <a:t>”  değerleridir. &lt; operatörü için eğer birinci </a:t>
            </a:r>
            <a:r>
              <a:rPr lang="tr-TR" dirty="0" err="1"/>
              <a:t>operand</a:t>
            </a:r>
            <a:r>
              <a:rPr lang="tr-TR" dirty="0"/>
              <a:t> ikinci  </a:t>
            </a:r>
            <a:r>
              <a:rPr lang="tr-TR" dirty="0" err="1"/>
              <a:t>operanddan</a:t>
            </a:r>
            <a:r>
              <a:rPr lang="tr-TR" dirty="0"/>
              <a:t> küçük ise “</a:t>
            </a: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</a:rPr>
              <a:t>true</a:t>
            </a:r>
            <a:r>
              <a:rPr lang="tr-TR" dirty="0"/>
              <a:t>” aksi durumda “</a:t>
            </a: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</a:rPr>
              <a:t>false</a:t>
            </a:r>
            <a:r>
              <a:rPr lang="tr-TR" dirty="0"/>
              <a:t>” üretir. &gt;  operatörü için </a:t>
            </a:r>
            <a:r>
              <a:rPr lang="tr-TR" dirty="0" smtClean="0"/>
              <a:t>ise </a:t>
            </a:r>
            <a:r>
              <a:rPr lang="tr-TR" dirty="0"/>
              <a:t>birinci </a:t>
            </a:r>
            <a:r>
              <a:rPr lang="tr-TR" dirty="0" err="1"/>
              <a:t>operand</a:t>
            </a:r>
            <a:r>
              <a:rPr lang="tr-TR" dirty="0"/>
              <a:t> ikinciden küçükse “</a:t>
            </a: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</a:rPr>
              <a:t>false</a:t>
            </a:r>
            <a:r>
              <a:rPr lang="tr-TR" dirty="0"/>
              <a:t>”  büyükse “</a:t>
            </a:r>
            <a:r>
              <a:rPr lang="tr-TR" dirty="0" err="1">
                <a:latin typeface="Cambria" panose="02040503050406030204" pitchFamily="18" charset="0"/>
                <a:ea typeface="Cambria" panose="02040503050406030204" pitchFamily="18" charset="0"/>
              </a:rPr>
              <a:t>true</a:t>
            </a:r>
            <a:r>
              <a:rPr lang="tr-TR" dirty="0"/>
              <a:t>” değerlerini üretir</a:t>
            </a:r>
            <a:r>
              <a:rPr lang="tr-TR" dirty="0" smtClean="0"/>
              <a:t>.</a:t>
            </a:r>
          </a:p>
          <a:p>
            <a:endParaRPr lang="tr-TR" dirty="0" smtClean="0"/>
          </a:p>
          <a:p>
            <a:pPr marL="617220" indent="-571500">
              <a:buFont typeface="Wingdings" panose="05000000000000000000" pitchFamily="2" charset="2"/>
              <a:buChar char="q"/>
            </a:pP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&lt;= </a:t>
            </a:r>
            <a:r>
              <a:rPr lang="tr-TR" sz="3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 &gt;= Operatörleri:</a:t>
            </a:r>
          </a:p>
          <a:p>
            <a:r>
              <a:rPr lang="en-GB" dirty="0" smtClean="0"/>
              <a:t>&gt;</a:t>
            </a:r>
            <a:r>
              <a:rPr lang="tr-TR" dirty="0" smtClean="0"/>
              <a:t> </a:t>
            </a:r>
            <a:r>
              <a:rPr lang="en-GB" dirty="0" err="1" smtClean="0"/>
              <a:t>ve</a:t>
            </a:r>
            <a:r>
              <a:rPr lang="tr-TR" dirty="0" smtClean="0"/>
              <a:t> </a:t>
            </a:r>
            <a:r>
              <a:rPr lang="en-GB" dirty="0" smtClean="0"/>
              <a:t>&lt;</a:t>
            </a:r>
            <a:r>
              <a:rPr lang="tr-TR" dirty="0" smtClean="0"/>
              <a:t> </a:t>
            </a:r>
            <a:r>
              <a:rPr lang="en-GB" dirty="0" err="1" smtClean="0"/>
              <a:t>operatörleriyle</a:t>
            </a:r>
            <a:r>
              <a:rPr lang="tr-TR" dirty="0"/>
              <a:t> </a:t>
            </a:r>
            <a:r>
              <a:rPr lang="en-GB" dirty="0" err="1" smtClean="0"/>
              <a:t>tamamen</a:t>
            </a:r>
            <a:r>
              <a:rPr lang="tr-TR" dirty="0" smtClean="0"/>
              <a:t> </a:t>
            </a:r>
            <a:r>
              <a:rPr lang="en-GB" dirty="0" err="1" smtClean="0"/>
              <a:t>aynıdır</a:t>
            </a:r>
            <a:r>
              <a:rPr lang="en-GB" dirty="0"/>
              <a:t>. </a:t>
            </a:r>
            <a:r>
              <a:rPr lang="en-GB" dirty="0" err="1" smtClean="0"/>
              <a:t>Yalnızca</a:t>
            </a:r>
            <a:r>
              <a:rPr lang="tr-TR" dirty="0"/>
              <a:t> </a:t>
            </a:r>
            <a:r>
              <a:rPr lang="en-GB" dirty="0" err="1" smtClean="0"/>
              <a:t>eşitlik</a:t>
            </a:r>
            <a:r>
              <a:rPr lang="tr-TR" dirty="0"/>
              <a:t> </a:t>
            </a:r>
            <a:r>
              <a:rPr lang="en-GB" dirty="0" err="1" smtClean="0"/>
              <a:t>söz</a:t>
            </a:r>
            <a:r>
              <a:rPr lang="tr-TR" dirty="0" smtClean="0"/>
              <a:t> </a:t>
            </a:r>
            <a:r>
              <a:rPr lang="en-GB" dirty="0" err="1"/>
              <a:t>konusu</a:t>
            </a:r>
            <a:r>
              <a:rPr lang="en-GB" dirty="0"/>
              <a:t> </a:t>
            </a:r>
            <a:r>
              <a:rPr lang="en-GB" dirty="0" err="1"/>
              <a:t>olduğunda</a:t>
            </a:r>
            <a:r>
              <a:rPr lang="en-GB" dirty="0"/>
              <a:t> da “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true</a:t>
            </a:r>
            <a:r>
              <a:rPr lang="en-GB" dirty="0"/>
              <a:t>” </a:t>
            </a:r>
            <a:r>
              <a:rPr lang="en-GB" dirty="0" err="1"/>
              <a:t>değeri</a:t>
            </a:r>
            <a:r>
              <a:rPr lang="en-GB" dirty="0"/>
              <a:t> </a:t>
            </a:r>
            <a:r>
              <a:rPr lang="en-GB" dirty="0" err="1"/>
              <a:t>üretirler</a:t>
            </a:r>
            <a:r>
              <a:rPr lang="en-GB" dirty="0"/>
              <a:t>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9044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Karşılaştırma </a:t>
            </a:r>
            <a:r>
              <a:rPr lang="tr-TR" dirty="0" smtClean="0"/>
              <a:t>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391400" cy="5145360"/>
          </a:xfrm>
        </p:spPr>
        <p:txBody>
          <a:bodyPr>
            <a:normAutofit fontScale="55000" lnSpcReduction="20000"/>
          </a:bodyPr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tr-TR" sz="3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&lt;, &lt;, &lt;= ve &gt;= </a:t>
            </a: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Operatörleri Örnek Kodu:</a:t>
            </a:r>
          </a:p>
          <a:p>
            <a:r>
              <a:rPr lang="en-GB" dirty="0"/>
              <a:t>using System</a:t>
            </a:r>
            <a:r>
              <a:rPr lang="en-GB" dirty="0" smtClean="0"/>
              <a:t>;</a:t>
            </a:r>
            <a:endParaRPr lang="tr-TR" dirty="0" smtClean="0"/>
          </a:p>
          <a:p>
            <a:endParaRPr lang="en-GB" dirty="0"/>
          </a:p>
          <a:p>
            <a:r>
              <a:rPr lang="en-GB" dirty="0"/>
              <a:t>namespace </a:t>
            </a:r>
            <a:r>
              <a:rPr lang="en-GB" dirty="0" err="1"/>
              <a:t>OperatorsRelativity</a:t>
            </a:r>
            <a:endParaRPr lang="en-GB" dirty="0"/>
          </a:p>
          <a:p>
            <a:r>
              <a:rPr lang="en-GB" dirty="0"/>
              <a:t>{</a:t>
            </a:r>
          </a:p>
          <a:p>
            <a:r>
              <a:rPr lang="en-GB" dirty="0"/>
              <a:t>    class Program</a:t>
            </a:r>
          </a:p>
          <a:p>
            <a:r>
              <a:rPr lang="en-GB" dirty="0"/>
              <a:t>    {</a:t>
            </a:r>
          </a:p>
          <a:p>
            <a:r>
              <a:rPr lang="en-GB" dirty="0"/>
              <a:t>        static void Main(string[] </a:t>
            </a:r>
            <a:r>
              <a:rPr lang="en-GB" dirty="0" err="1"/>
              <a:t>args</a:t>
            </a:r>
            <a:r>
              <a:rPr lang="en-GB" dirty="0"/>
              <a:t>)</a:t>
            </a:r>
          </a:p>
          <a:p>
            <a:r>
              <a:rPr lang="en-GB" dirty="0"/>
              <a:t>        {</a:t>
            </a:r>
          </a:p>
          <a:p>
            <a:r>
              <a:rPr lang="en-GB" dirty="0"/>
              <a:t>            bool b1 = 20 &lt; 30;</a:t>
            </a:r>
          </a:p>
          <a:p>
            <a:r>
              <a:rPr lang="en-GB" dirty="0"/>
              <a:t>            bool b2 = 30 &lt; 20;</a:t>
            </a:r>
          </a:p>
          <a:p>
            <a:r>
              <a:rPr lang="en-GB" dirty="0"/>
              <a:t>            bool b3 = 20.53 &gt; 20.532;</a:t>
            </a:r>
          </a:p>
          <a:p>
            <a:r>
              <a:rPr lang="en-GB" dirty="0"/>
              <a:t>            bool b4 = 12.3f &gt; 11.9f; bool b5 = 15 &lt;= 15;</a:t>
            </a:r>
          </a:p>
          <a:p>
            <a:r>
              <a:rPr lang="en-GB" dirty="0"/>
              <a:t>            bool b6 = 20 &gt;= 30;</a:t>
            </a:r>
          </a:p>
          <a:p>
            <a:endParaRPr lang="en-GB" dirty="0"/>
          </a:p>
          <a:p>
            <a:r>
              <a:rPr lang="en-GB" dirty="0"/>
              <a:t>            </a:t>
            </a:r>
            <a:r>
              <a:rPr lang="en-GB" dirty="0" err="1"/>
              <a:t>Console.WriteLine</a:t>
            </a:r>
            <a:r>
              <a:rPr lang="en-GB" dirty="0"/>
              <a:t>(b1); </a:t>
            </a:r>
            <a:r>
              <a:rPr lang="en-GB" dirty="0" err="1"/>
              <a:t>Console.WriteLine</a:t>
            </a:r>
            <a:r>
              <a:rPr lang="en-GB" dirty="0"/>
              <a:t>(b2); </a:t>
            </a:r>
            <a:r>
              <a:rPr lang="en-GB" dirty="0" err="1"/>
              <a:t>Console.WriteLine</a:t>
            </a:r>
            <a:r>
              <a:rPr lang="en-GB" dirty="0"/>
              <a:t>(b3); </a:t>
            </a:r>
            <a:r>
              <a:rPr lang="tr-TR" dirty="0" smtClean="0"/>
              <a:t>   </a:t>
            </a:r>
            <a:r>
              <a:rPr lang="en-GB" dirty="0" err="1" smtClean="0"/>
              <a:t>Console.WriteLine</a:t>
            </a:r>
            <a:r>
              <a:rPr lang="en-GB" dirty="0" smtClean="0"/>
              <a:t>(b4</a:t>
            </a:r>
            <a:r>
              <a:rPr lang="en-GB" dirty="0"/>
              <a:t>); </a:t>
            </a:r>
            <a:r>
              <a:rPr lang="en-GB" dirty="0" err="1"/>
              <a:t>Console.WriteLine</a:t>
            </a:r>
            <a:r>
              <a:rPr lang="en-GB" dirty="0"/>
              <a:t>(b5); </a:t>
            </a:r>
            <a:r>
              <a:rPr lang="en-GB" dirty="0" err="1"/>
              <a:t>Console.WriteLine</a:t>
            </a:r>
            <a:r>
              <a:rPr lang="en-GB" dirty="0"/>
              <a:t>(b6);</a:t>
            </a:r>
          </a:p>
          <a:p>
            <a:r>
              <a:rPr lang="en-GB" dirty="0"/>
              <a:t>            </a:t>
            </a:r>
            <a:r>
              <a:rPr lang="en-GB" dirty="0" err="1"/>
              <a:t>Console.ReadKey</a:t>
            </a:r>
            <a:r>
              <a:rPr lang="en-GB" dirty="0"/>
              <a:t>();</a:t>
            </a:r>
          </a:p>
          <a:p>
            <a:r>
              <a:rPr lang="en-GB" dirty="0"/>
              <a:t>        }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}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4904"/>
            <a:ext cx="259080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836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Karşılaştırma </a:t>
            </a:r>
            <a:r>
              <a:rPr lang="tr-TR" dirty="0" smtClean="0"/>
              <a:t>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391400" cy="5145360"/>
          </a:xfrm>
        </p:spPr>
        <p:txBody>
          <a:bodyPr>
            <a:normAutofit/>
          </a:bodyPr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== ve != Operatörleri:</a:t>
            </a:r>
          </a:p>
          <a:p>
            <a:r>
              <a:rPr lang="tr-TR" dirty="0" smtClean="0"/>
              <a:t>İki değerin birbirine eşitlik durumunu kontrol eder. == operatörü iki değer birbirine eşitse, != ise birbirine eşit değilse </a:t>
            </a:r>
            <a:r>
              <a:rPr lang="tr-TR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true</a:t>
            </a:r>
            <a:r>
              <a:rPr lang="tr-TR" dirty="0" smtClean="0"/>
              <a:t> sonucunu döndürür.</a:t>
            </a:r>
          </a:p>
          <a:p>
            <a:endParaRPr lang="tr-TR" dirty="0"/>
          </a:p>
          <a:p>
            <a:pPr marL="412750" indent="-2286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12115" algn="l"/>
                <a:tab pos="412750" algn="l"/>
              </a:tabLst>
            </a:pPr>
            <a:r>
              <a:rPr lang="en-GB" sz="2800" spc="-60" dirty="0">
                <a:latin typeface="Trebuchet MS"/>
                <a:cs typeface="Trebuchet MS"/>
              </a:rPr>
              <a:t>bool</a:t>
            </a:r>
            <a:r>
              <a:rPr lang="en-GB" sz="2800" spc="-180" dirty="0">
                <a:latin typeface="Trebuchet MS"/>
                <a:cs typeface="Trebuchet MS"/>
              </a:rPr>
              <a:t> </a:t>
            </a:r>
            <a:r>
              <a:rPr lang="en-GB" sz="2800" spc="-55" dirty="0">
                <a:latin typeface="Trebuchet MS"/>
                <a:cs typeface="Trebuchet MS"/>
              </a:rPr>
              <a:t>b1</a:t>
            </a:r>
            <a:r>
              <a:rPr lang="en-GB" sz="2800" spc="-160" dirty="0">
                <a:latin typeface="Trebuchet MS"/>
                <a:cs typeface="Trebuchet MS"/>
              </a:rPr>
              <a:t> </a:t>
            </a:r>
            <a:r>
              <a:rPr lang="en-GB" sz="2800" spc="-55" dirty="0">
                <a:latin typeface="Trebuchet MS"/>
                <a:cs typeface="Trebuchet MS"/>
              </a:rPr>
              <a:t>=</a:t>
            </a:r>
            <a:r>
              <a:rPr lang="en-GB" sz="2800" spc="-155" dirty="0">
                <a:latin typeface="Trebuchet MS"/>
                <a:cs typeface="Trebuchet MS"/>
              </a:rPr>
              <a:t> </a:t>
            </a:r>
            <a:r>
              <a:rPr lang="en-GB" sz="2800" spc="-40" dirty="0">
                <a:latin typeface="Trebuchet MS"/>
                <a:cs typeface="Trebuchet MS"/>
              </a:rPr>
              <a:t>100</a:t>
            </a:r>
            <a:r>
              <a:rPr lang="en-GB" sz="2800" spc="-165" dirty="0">
                <a:latin typeface="Trebuchet MS"/>
                <a:cs typeface="Trebuchet MS"/>
              </a:rPr>
              <a:t> </a:t>
            </a:r>
            <a:r>
              <a:rPr lang="en-GB" sz="2800" spc="-55" dirty="0">
                <a:latin typeface="Trebuchet MS"/>
                <a:cs typeface="Trebuchet MS"/>
              </a:rPr>
              <a:t>==</a:t>
            </a:r>
            <a:r>
              <a:rPr lang="en-GB" sz="2800" spc="-155" dirty="0">
                <a:latin typeface="Trebuchet MS"/>
                <a:cs typeface="Trebuchet MS"/>
              </a:rPr>
              <a:t> </a:t>
            </a:r>
            <a:r>
              <a:rPr lang="en-GB" sz="2800" spc="-80" dirty="0">
                <a:latin typeface="Trebuchet MS"/>
                <a:cs typeface="Trebuchet MS"/>
              </a:rPr>
              <a:t>100;</a:t>
            </a:r>
            <a:r>
              <a:rPr lang="en-GB" sz="2800" spc="-160" dirty="0">
                <a:latin typeface="Trebuchet MS"/>
                <a:cs typeface="Trebuchet MS"/>
              </a:rPr>
              <a:t> </a:t>
            </a:r>
            <a:r>
              <a:rPr lang="tr-TR" sz="2800" spc="-160" dirty="0" smtClean="0">
                <a:latin typeface="Trebuchet MS"/>
                <a:cs typeface="Trebuchet MS"/>
              </a:rPr>
              <a:t>	</a:t>
            </a:r>
            <a:r>
              <a:rPr lang="en-GB" sz="2800" spc="-90" dirty="0" smtClean="0">
                <a:solidFill>
                  <a:srgbClr val="FF0000"/>
                </a:solidFill>
                <a:latin typeface="Trebuchet MS"/>
                <a:cs typeface="Trebuchet MS"/>
              </a:rPr>
              <a:t>true</a:t>
            </a:r>
            <a:endParaRPr lang="en-GB" sz="28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412750" indent="-2286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412115" algn="l"/>
                <a:tab pos="412750" algn="l"/>
              </a:tabLst>
            </a:pPr>
            <a:r>
              <a:rPr lang="en-GB" sz="2800" spc="-60" dirty="0">
                <a:latin typeface="Trebuchet MS"/>
                <a:cs typeface="Trebuchet MS"/>
              </a:rPr>
              <a:t>bool</a:t>
            </a:r>
            <a:r>
              <a:rPr lang="en-GB" sz="2800" spc="-180" dirty="0">
                <a:latin typeface="Trebuchet MS"/>
                <a:cs typeface="Trebuchet MS"/>
              </a:rPr>
              <a:t> </a:t>
            </a:r>
            <a:r>
              <a:rPr lang="en-GB" sz="2800" spc="-55" dirty="0">
                <a:latin typeface="Trebuchet MS"/>
                <a:cs typeface="Trebuchet MS"/>
              </a:rPr>
              <a:t>b2</a:t>
            </a:r>
            <a:r>
              <a:rPr lang="en-GB" sz="2800" spc="-160" dirty="0">
                <a:latin typeface="Trebuchet MS"/>
                <a:cs typeface="Trebuchet MS"/>
              </a:rPr>
              <a:t> </a:t>
            </a:r>
            <a:r>
              <a:rPr lang="en-GB" sz="2800" spc="-55" dirty="0">
                <a:latin typeface="Trebuchet MS"/>
                <a:cs typeface="Trebuchet MS"/>
              </a:rPr>
              <a:t>=</a:t>
            </a:r>
            <a:r>
              <a:rPr lang="en-GB" sz="2800" spc="-155" dirty="0">
                <a:latin typeface="Trebuchet MS"/>
                <a:cs typeface="Trebuchet MS"/>
              </a:rPr>
              <a:t> </a:t>
            </a:r>
            <a:r>
              <a:rPr lang="en-GB" sz="2800" spc="-40" dirty="0">
                <a:latin typeface="Trebuchet MS"/>
                <a:cs typeface="Trebuchet MS"/>
              </a:rPr>
              <a:t>100</a:t>
            </a:r>
            <a:r>
              <a:rPr lang="en-GB" sz="2800" spc="-165" dirty="0">
                <a:latin typeface="Trebuchet MS"/>
                <a:cs typeface="Trebuchet MS"/>
              </a:rPr>
              <a:t> </a:t>
            </a:r>
            <a:r>
              <a:rPr lang="en-GB" sz="2800" spc="-70" dirty="0">
                <a:latin typeface="Trebuchet MS"/>
                <a:cs typeface="Trebuchet MS"/>
              </a:rPr>
              <a:t>!=</a:t>
            </a:r>
            <a:r>
              <a:rPr lang="en-GB" sz="2800" spc="-150" dirty="0">
                <a:latin typeface="Trebuchet MS"/>
                <a:cs typeface="Trebuchet MS"/>
              </a:rPr>
              <a:t> </a:t>
            </a:r>
            <a:r>
              <a:rPr lang="en-GB" sz="2800" spc="-80" dirty="0">
                <a:latin typeface="Trebuchet MS"/>
                <a:cs typeface="Trebuchet MS"/>
              </a:rPr>
              <a:t>100;</a:t>
            </a:r>
            <a:r>
              <a:rPr lang="en-GB" sz="2800" spc="-160" dirty="0">
                <a:latin typeface="Trebuchet MS"/>
                <a:cs typeface="Trebuchet MS"/>
              </a:rPr>
              <a:t> </a:t>
            </a:r>
            <a:r>
              <a:rPr lang="tr-TR" sz="2800" spc="-160" dirty="0" smtClean="0">
                <a:latin typeface="Trebuchet MS"/>
                <a:cs typeface="Trebuchet MS"/>
              </a:rPr>
              <a:t>	</a:t>
            </a:r>
            <a:r>
              <a:rPr lang="en-GB" sz="2800" spc="-50" dirty="0" smtClean="0">
                <a:latin typeface="Times New Roman"/>
                <a:cs typeface="Times New Roman"/>
              </a:rPr>
              <a:t> </a:t>
            </a:r>
            <a:r>
              <a:rPr lang="tr-TR" sz="2800" spc="-50" dirty="0" smtClean="0">
                <a:latin typeface="Times New Roman"/>
                <a:cs typeface="Times New Roman"/>
              </a:rPr>
              <a:t>	</a:t>
            </a:r>
            <a:r>
              <a:rPr lang="en-GB" sz="2800" spc="-110" dirty="0" smtClean="0">
                <a:solidFill>
                  <a:srgbClr val="FF0000"/>
                </a:solidFill>
                <a:latin typeface="Trebuchet MS"/>
                <a:cs typeface="Trebuchet MS"/>
              </a:rPr>
              <a:t>false</a:t>
            </a:r>
            <a:endParaRPr lang="en-GB" sz="28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412750" indent="-2286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412115" algn="l"/>
                <a:tab pos="412750" algn="l"/>
              </a:tabLst>
            </a:pPr>
            <a:r>
              <a:rPr lang="en-GB" sz="2800" spc="-60" dirty="0">
                <a:latin typeface="Trebuchet MS"/>
                <a:cs typeface="Trebuchet MS"/>
              </a:rPr>
              <a:t>bool</a:t>
            </a:r>
            <a:r>
              <a:rPr lang="en-GB" sz="2800" spc="-175" dirty="0">
                <a:latin typeface="Trebuchet MS"/>
                <a:cs typeface="Trebuchet MS"/>
              </a:rPr>
              <a:t> </a:t>
            </a:r>
            <a:r>
              <a:rPr lang="en-GB" sz="2800" spc="-55" dirty="0">
                <a:latin typeface="Trebuchet MS"/>
                <a:cs typeface="Trebuchet MS"/>
              </a:rPr>
              <a:t>b3</a:t>
            </a:r>
            <a:r>
              <a:rPr lang="en-GB" sz="2800" spc="-155" dirty="0">
                <a:latin typeface="Trebuchet MS"/>
                <a:cs typeface="Trebuchet MS"/>
              </a:rPr>
              <a:t> </a:t>
            </a:r>
            <a:r>
              <a:rPr lang="en-GB" sz="2800" spc="-55" dirty="0">
                <a:latin typeface="Trebuchet MS"/>
                <a:cs typeface="Trebuchet MS"/>
              </a:rPr>
              <a:t>=</a:t>
            </a:r>
            <a:r>
              <a:rPr lang="en-GB" sz="2800" spc="-150" dirty="0">
                <a:latin typeface="Trebuchet MS"/>
                <a:cs typeface="Trebuchet MS"/>
              </a:rPr>
              <a:t> </a:t>
            </a:r>
            <a:r>
              <a:rPr lang="en-GB" sz="2800" spc="-40" dirty="0">
                <a:latin typeface="Trebuchet MS"/>
                <a:cs typeface="Trebuchet MS"/>
              </a:rPr>
              <a:t>100</a:t>
            </a:r>
            <a:r>
              <a:rPr lang="en-GB" sz="2800" spc="-160" dirty="0">
                <a:latin typeface="Trebuchet MS"/>
                <a:cs typeface="Trebuchet MS"/>
              </a:rPr>
              <a:t> </a:t>
            </a:r>
            <a:r>
              <a:rPr lang="en-GB" sz="2800" spc="-55" dirty="0">
                <a:latin typeface="Trebuchet MS"/>
                <a:cs typeface="Trebuchet MS"/>
              </a:rPr>
              <a:t>==</a:t>
            </a:r>
            <a:r>
              <a:rPr lang="en-GB" sz="2800" spc="-150" dirty="0">
                <a:latin typeface="Trebuchet MS"/>
                <a:cs typeface="Trebuchet MS"/>
              </a:rPr>
              <a:t> </a:t>
            </a:r>
            <a:r>
              <a:rPr lang="en-GB" sz="2800" spc="-95" dirty="0">
                <a:latin typeface="Trebuchet MS"/>
                <a:cs typeface="Trebuchet MS"/>
              </a:rPr>
              <a:t>99;</a:t>
            </a:r>
            <a:r>
              <a:rPr lang="en-GB" sz="2800" spc="-155" dirty="0">
                <a:latin typeface="Trebuchet MS"/>
                <a:cs typeface="Trebuchet MS"/>
              </a:rPr>
              <a:t> </a:t>
            </a:r>
            <a:r>
              <a:rPr lang="tr-TR" sz="2800" spc="-155" dirty="0" smtClean="0">
                <a:latin typeface="Trebuchet MS"/>
                <a:cs typeface="Trebuchet MS"/>
              </a:rPr>
              <a:t>	</a:t>
            </a:r>
            <a:r>
              <a:rPr lang="en-GB" sz="2800" spc="-45" dirty="0" smtClean="0">
                <a:latin typeface="Times New Roman"/>
                <a:cs typeface="Times New Roman"/>
              </a:rPr>
              <a:t> </a:t>
            </a:r>
            <a:r>
              <a:rPr lang="tr-TR" sz="2800" spc="-45" dirty="0" smtClean="0">
                <a:latin typeface="Times New Roman"/>
                <a:cs typeface="Times New Roman"/>
              </a:rPr>
              <a:t>	</a:t>
            </a:r>
            <a:r>
              <a:rPr lang="en-GB" sz="2800" spc="-110" dirty="0" smtClean="0">
                <a:solidFill>
                  <a:srgbClr val="FF0000"/>
                </a:solidFill>
                <a:latin typeface="Trebuchet MS"/>
                <a:cs typeface="Trebuchet MS"/>
              </a:rPr>
              <a:t>false</a:t>
            </a:r>
            <a:endParaRPr lang="en-GB" sz="28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412750" indent="-2286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412115" algn="l"/>
                <a:tab pos="412750" algn="l"/>
              </a:tabLst>
            </a:pPr>
            <a:r>
              <a:rPr lang="en-GB" sz="2800" spc="-60" dirty="0">
                <a:latin typeface="Trebuchet MS"/>
                <a:cs typeface="Trebuchet MS"/>
              </a:rPr>
              <a:t>bool</a:t>
            </a:r>
            <a:r>
              <a:rPr lang="en-GB" sz="2800" spc="-175" dirty="0">
                <a:latin typeface="Trebuchet MS"/>
                <a:cs typeface="Trebuchet MS"/>
              </a:rPr>
              <a:t> </a:t>
            </a:r>
            <a:r>
              <a:rPr lang="en-GB" sz="2800" spc="-55" dirty="0">
                <a:latin typeface="Trebuchet MS"/>
                <a:cs typeface="Trebuchet MS"/>
              </a:rPr>
              <a:t>b3</a:t>
            </a:r>
            <a:r>
              <a:rPr lang="en-GB" sz="2800" spc="-155" dirty="0">
                <a:latin typeface="Trebuchet MS"/>
                <a:cs typeface="Trebuchet MS"/>
              </a:rPr>
              <a:t> </a:t>
            </a:r>
            <a:r>
              <a:rPr lang="en-GB" sz="2800" spc="-55" dirty="0">
                <a:latin typeface="Trebuchet MS"/>
                <a:cs typeface="Trebuchet MS"/>
              </a:rPr>
              <a:t>=</a:t>
            </a:r>
            <a:r>
              <a:rPr lang="en-GB" sz="2800" spc="-150" dirty="0">
                <a:latin typeface="Trebuchet MS"/>
                <a:cs typeface="Trebuchet MS"/>
              </a:rPr>
              <a:t> </a:t>
            </a:r>
            <a:r>
              <a:rPr lang="en-GB" sz="2800" spc="-40" dirty="0">
                <a:latin typeface="Trebuchet MS"/>
                <a:cs typeface="Trebuchet MS"/>
              </a:rPr>
              <a:t>100</a:t>
            </a:r>
            <a:r>
              <a:rPr lang="en-GB" sz="2800" spc="-160" dirty="0">
                <a:latin typeface="Trebuchet MS"/>
                <a:cs typeface="Trebuchet MS"/>
              </a:rPr>
              <a:t> </a:t>
            </a:r>
            <a:r>
              <a:rPr lang="en-GB" sz="2800" spc="-70" dirty="0">
                <a:latin typeface="Trebuchet MS"/>
                <a:cs typeface="Trebuchet MS"/>
              </a:rPr>
              <a:t>!=</a:t>
            </a:r>
            <a:r>
              <a:rPr lang="en-GB" sz="2800" spc="-145" dirty="0">
                <a:latin typeface="Trebuchet MS"/>
                <a:cs typeface="Trebuchet MS"/>
              </a:rPr>
              <a:t> </a:t>
            </a:r>
            <a:r>
              <a:rPr lang="en-GB" sz="2800" spc="-95" dirty="0">
                <a:latin typeface="Trebuchet MS"/>
                <a:cs typeface="Trebuchet MS"/>
              </a:rPr>
              <a:t>99;</a:t>
            </a:r>
            <a:r>
              <a:rPr lang="en-GB" sz="2800" spc="-155" dirty="0">
                <a:latin typeface="Trebuchet MS"/>
                <a:cs typeface="Trebuchet MS"/>
              </a:rPr>
              <a:t> </a:t>
            </a:r>
            <a:r>
              <a:rPr lang="tr-TR" sz="2800" spc="-155" dirty="0" smtClean="0">
                <a:latin typeface="Trebuchet MS"/>
                <a:cs typeface="Trebuchet MS"/>
              </a:rPr>
              <a:t>	</a:t>
            </a:r>
            <a:r>
              <a:rPr lang="en-GB" sz="2800" spc="-45" dirty="0" smtClean="0">
                <a:latin typeface="Times New Roman"/>
                <a:cs typeface="Times New Roman"/>
              </a:rPr>
              <a:t> </a:t>
            </a:r>
            <a:r>
              <a:rPr lang="tr-TR" sz="2800" spc="-45" dirty="0" smtClean="0">
                <a:latin typeface="Times New Roman"/>
                <a:cs typeface="Times New Roman"/>
              </a:rPr>
              <a:t>	</a:t>
            </a:r>
            <a:r>
              <a:rPr lang="en-GB" sz="2800" spc="-90" dirty="0" smtClean="0">
                <a:solidFill>
                  <a:srgbClr val="FF0000"/>
                </a:solidFill>
                <a:latin typeface="Trebuchet MS"/>
                <a:cs typeface="Trebuchet MS"/>
              </a:rPr>
              <a:t>true</a:t>
            </a:r>
            <a:endParaRPr lang="en-GB" sz="28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endParaRPr lang="en-GB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77107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Mantıksal 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391400" cy="5145360"/>
          </a:xfrm>
        </p:spPr>
        <p:txBody>
          <a:bodyPr>
            <a:normAutofit/>
          </a:bodyPr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&amp;&amp; (VE) Operatörü:</a:t>
            </a:r>
          </a:p>
          <a:p>
            <a:r>
              <a:rPr lang="tr-TR" dirty="0"/>
              <a:t>“</a:t>
            </a:r>
            <a:r>
              <a:rPr lang="tr-TR" dirty="0" err="1"/>
              <a:t>true</a:t>
            </a:r>
            <a:r>
              <a:rPr lang="tr-TR" dirty="0"/>
              <a:t>” ya da “</a:t>
            </a:r>
            <a:r>
              <a:rPr lang="tr-TR" dirty="0" err="1"/>
              <a:t>false</a:t>
            </a:r>
            <a:r>
              <a:rPr lang="tr-TR" dirty="0"/>
              <a:t>” değerindeki </a:t>
            </a:r>
            <a:r>
              <a:rPr lang="tr-TR" dirty="0" err="1"/>
              <a:t>operandları</a:t>
            </a:r>
            <a:r>
              <a:rPr lang="tr-TR" dirty="0"/>
              <a:t> mantıksal VE ile  işler. </a:t>
            </a:r>
            <a:r>
              <a:rPr lang="tr-TR" dirty="0" err="1"/>
              <a:t>Operandlardan</a:t>
            </a:r>
            <a:r>
              <a:rPr lang="tr-TR" dirty="0"/>
              <a:t> biri “</a:t>
            </a:r>
            <a:r>
              <a:rPr lang="tr-TR" dirty="0" err="1"/>
              <a:t>false</a:t>
            </a:r>
            <a:r>
              <a:rPr lang="tr-TR" dirty="0"/>
              <a:t>” ise “</a:t>
            </a:r>
            <a:r>
              <a:rPr lang="tr-TR" dirty="0" err="1"/>
              <a:t>false</a:t>
            </a:r>
            <a:r>
              <a:rPr lang="tr-TR" dirty="0"/>
              <a:t>” değeri üretir.  Kullanımı: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tr-TR" dirty="0"/>
              <a:t>&lt;ifade&gt; </a:t>
            </a:r>
            <a:r>
              <a:rPr lang="tr-T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&amp;&amp;</a:t>
            </a:r>
            <a:r>
              <a:rPr lang="tr-TR" dirty="0"/>
              <a:t> &lt;ifade</a:t>
            </a:r>
            <a:r>
              <a:rPr lang="tr-TR" dirty="0" smtClean="0"/>
              <a:t>&gt;  </a:t>
            </a:r>
          </a:p>
          <a:p>
            <a:r>
              <a:rPr lang="tr-TR" dirty="0" smtClean="0"/>
              <a:t>Doğruluk Tablosu</a:t>
            </a:r>
            <a:endParaRPr lang="tr-TR" dirty="0"/>
          </a:p>
          <a:p>
            <a:endParaRPr lang="en-GB" dirty="0"/>
          </a:p>
          <a:p>
            <a:endParaRPr lang="tr-TR" dirty="0"/>
          </a:p>
        </p:txBody>
      </p:sp>
      <p:graphicFrame>
        <p:nvGraphicFramePr>
          <p:cNvPr id="4" name="Tablo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195602"/>
              </p:ext>
            </p:extLst>
          </p:nvPr>
        </p:nvGraphicFramePr>
        <p:xfrm>
          <a:off x="1259632" y="4810568"/>
          <a:ext cx="6096000" cy="18542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366093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2483826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979815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dirty="0" smtClean="0"/>
                        <a:t>1.Operand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2.Operand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Sonuç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467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False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False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False</a:t>
                      </a:r>
                      <a:endParaRPr lang="tr-TR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85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False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True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False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32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smtClean="0"/>
                        <a:t>True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False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False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643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smtClean="0"/>
                        <a:t>True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True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True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968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0220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Mantıksal 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391400" cy="5145360"/>
          </a:xfrm>
        </p:spPr>
        <p:txBody>
          <a:bodyPr>
            <a:normAutofit/>
          </a:bodyPr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ÖR </a:t>
            </a:r>
            <a:r>
              <a:rPr lang="tr-TR" sz="3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&amp;&amp; (</a:t>
            </a: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VE) Operatörü</a:t>
            </a:r>
          </a:p>
          <a:p>
            <a:endParaRPr lang="tr-TR" sz="2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tr-T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tr-TR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ool</a:t>
            </a:r>
            <a:r>
              <a:rPr lang="tr-T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b1 = 25 &lt; 15 </a:t>
            </a:r>
            <a:r>
              <a:rPr lang="tr-TR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&amp;&amp;</a:t>
            </a:r>
            <a:r>
              <a:rPr lang="tr-T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5 == 50  </a:t>
            </a:r>
            <a:r>
              <a:rPr lang="tr-T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    </a:t>
            </a:r>
            <a:r>
              <a:rPr lang="tr-TR" sz="20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False</a:t>
            </a:r>
            <a:endParaRPr lang="tr-TR" sz="200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endParaRPr lang="tr-TR" sz="200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endParaRPr lang="tr-TR" sz="200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endParaRPr lang="tr-TR" sz="200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tr-T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bool</a:t>
            </a: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b1 </a:t>
            </a:r>
            <a:r>
              <a:rPr lang="tr-T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15 &lt; 25 </a:t>
            </a:r>
            <a:r>
              <a:rPr lang="tr-T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&amp;&amp;</a:t>
            </a: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tr-T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 != 50  </a:t>
            </a: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    </a:t>
            </a:r>
            <a:r>
              <a:rPr lang="tr-TR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True</a:t>
            </a:r>
            <a:endParaRPr lang="tr-TR" sz="2000" dirty="0">
              <a:solidFill>
                <a:srgbClr val="FF0000"/>
              </a:solidFill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endParaRPr lang="tr-TR" sz="2000" dirty="0" smtClean="0">
              <a:solidFill>
                <a:srgbClr val="FF0000"/>
              </a:solidFill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endParaRPr lang="tr-TR" sz="2000" dirty="0">
              <a:solidFill>
                <a:srgbClr val="FF0000"/>
              </a:solidFill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endParaRPr lang="tr-TR" sz="2000" dirty="0" smtClean="0">
              <a:solidFill>
                <a:srgbClr val="FF0000"/>
              </a:solidFill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tr-T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bool</a:t>
            </a: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000" spc="-65" dirty="0">
                <a:latin typeface="Trebuchet MS"/>
                <a:cs typeface="Trebuchet MS"/>
              </a:rPr>
              <a:t>b3</a:t>
            </a:r>
            <a:r>
              <a:rPr lang="en-GB" sz="2000" spc="-195" dirty="0">
                <a:latin typeface="Trebuchet MS"/>
                <a:cs typeface="Trebuchet MS"/>
              </a:rPr>
              <a:t> </a:t>
            </a:r>
            <a:r>
              <a:rPr lang="en-GB" sz="2000" spc="-65" dirty="0">
                <a:latin typeface="Trebuchet MS"/>
                <a:cs typeface="Trebuchet MS"/>
              </a:rPr>
              <a:t>=</a:t>
            </a:r>
            <a:r>
              <a:rPr lang="en-GB" sz="2000" spc="-185" dirty="0">
                <a:latin typeface="Trebuchet MS"/>
                <a:cs typeface="Trebuchet MS"/>
              </a:rPr>
              <a:t> </a:t>
            </a:r>
            <a:r>
              <a:rPr lang="en-GB" sz="2000" spc="-110" dirty="0">
                <a:latin typeface="Trebuchet MS"/>
                <a:cs typeface="Trebuchet MS"/>
              </a:rPr>
              <a:t>‐12.35f</a:t>
            </a:r>
            <a:r>
              <a:rPr lang="en-GB" sz="2000" spc="-210" dirty="0">
                <a:latin typeface="Trebuchet MS"/>
                <a:cs typeface="Trebuchet MS"/>
              </a:rPr>
              <a:t> </a:t>
            </a:r>
            <a:r>
              <a:rPr lang="en-GB" sz="2000" spc="-65" dirty="0">
                <a:latin typeface="Trebuchet MS"/>
                <a:cs typeface="Trebuchet MS"/>
              </a:rPr>
              <a:t>&gt;</a:t>
            </a:r>
            <a:r>
              <a:rPr lang="en-GB" sz="2000" spc="-180" dirty="0">
                <a:latin typeface="Trebuchet MS"/>
                <a:cs typeface="Trebuchet MS"/>
              </a:rPr>
              <a:t> </a:t>
            </a:r>
            <a:r>
              <a:rPr lang="en-GB" sz="2000" spc="-110" dirty="0">
                <a:latin typeface="Trebuchet MS"/>
                <a:cs typeface="Trebuchet MS"/>
              </a:rPr>
              <a:t>‐12.34f</a:t>
            </a:r>
            <a:r>
              <a:rPr lang="en-GB" sz="2000" spc="-220" dirty="0">
                <a:latin typeface="Trebuchet MS"/>
                <a:cs typeface="Trebuchet MS"/>
              </a:rPr>
              <a:t> </a:t>
            </a:r>
            <a:r>
              <a:rPr lang="tr-T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&amp;&amp;</a:t>
            </a:r>
            <a:r>
              <a:rPr lang="en-GB" sz="2000" spc="-185" dirty="0" smtClean="0">
                <a:latin typeface="Trebuchet MS"/>
                <a:cs typeface="Trebuchet MS"/>
              </a:rPr>
              <a:t> </a:t>
            </a:r>
            <a:r>
              <a:rPr lang="en-GB" sz="2000" spc="-45" dirty="0">
                <a:latin typeface="Trebuchet MS"/>
                <a:cs typeface="Trebuchet MS"/>
              </a:rPr>
              <a:t>0</a:t>
            </a:r>
            <a:r>
              <a:rPr lang="en-GB" sz="2000" spc="-200" dirty="0">
                <a:latin typeface="Trebuchet MS"/>
                <a:cs typeface="Trebuchet MS"/>
              </a:rPr>
              <a:t> </a:t>
            </a:r>
            <a:r>
              <a:rPr lang="en-GB" sz="2000" spc="-85" dirty="0">
                <a:latin typeface="Trebuchet MS"/>
                <a:cs typeface="Trebuchet MS"/>
              </a:rPr>
              <a:t>!=</a:t>
            </a:r>
            <a:r>
              <a:rPr lang="en-GB" sz="2000" spc="-180" dirty="0">
                <a:latin typeface="Trebuchet MS"/>
                <a:cs typeface="Trebuchet MS"/>
              </a:rPr>
              <a:t> </a:t>
            </a:r>
            <a:r>
              <a:rPr lang="en-GB" sz="2000" spc="-45" dirty="0">
                <a:latin typeface="Trebuchet MS"/>
                <a:cs typeface="Trebuchet MS"/>
              </a:rPr>
              <a:t>1</a:t>
            </a:r>
            <a:r>
              <a:rPr lang="en-GB" sz="2000" spc="-190" dirty="0">
                <a:latin typeface="Trebuchet MS"/>
                <a:cs typeface="Trebuchet MS"/>
              </a:rPr>
              <a:t> </a:t>
            </a:r>
            <a:r>
              <a:rPr lang="tr-T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    </a:t>
            </a:r>
            <a:r>
              <a:rPr lang="tr-TR" sz="2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False</a:t>
            </a:r>
            <a:endParaRPr lang="tr-TR" sz="2000" dirty="0">
              <a:solidFill>
                <a:srgbClr val="FF0000"/>
              </a:solidFill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endParaRPr lang="tr-TR" sz="2000" dirty="0">
              <a:solidFill>
                <a:srgbClr val="FF0000"/>
              </a:solidFill>
            </a:endParaRPr>
          </a:p>
          <a:p>
            <a:endParaRPr lang="en-GB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2578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Mantıksal 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391400" cy="5145360"/>
          </a:xfrm>
        </p:spPr>
        <p:txBody>
          <a:bodyPr>
            <a:normAutofit/>
          </a:bodyPr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|| (VEYA) Operatörü:</a:t>
            </a:r>
          </a:p>
          <a:p>
            <a:r>
              <a:rPr lang="tr-TR" dirty="0"/>
              <a:t>“</a:t>
            </a:r>
            <a:r>
              <a:rPr lang="tr-TR" dirty="0" err="1"/>
              <a:t>true</a:t>
            </a:r>
            <a:r>
              <a:rPr lang="tr-TR" dirty="0"/>
              <a:t>” ya da “</a:t>
            </a:r>
            <a:r>
              <a:rPr lang="tr-TR" dirty="0" err="1"/>
              <a:t>false</a:t>
            </a:r>
            <a:r>
              <a:rPr lang="tr-TR" dirty="0"/>
              <a:t>” değerindeki </a:t>
            </a:r>
            <a:r>
              <a:rPr lang="tr-TR" dirty="0" err="1"/>
              <a:t>operandları</a:t>
            </a:r>
            <a:r>
              <a:rPr lang="tr-TR" dirty="0"/>
              <a:t> mantıksal VE ile  işler. </a:t>
            </a:r>
            <a:r>
              <a:rPr lang="tr-TR" dirty="0" err="1"/>
              <a:t>Operandlardan</a:t>
            </a:r>
            <a:r>
              <a:rPr lang="tr-TR" dirty="0"/>
              <a:t> </a:t>
            </a:r>
            <a:r>
              <a:rPr lang="tr-TR" dirty="0" smtClean="0"/>
              <a:t>en az biri “</a:t>
            </a:r>
            <a:r>
              <a:rPr lang="tr-TR" dirty="0" err="1" smtClean="0"/>
              <a:t>true</a:t>
            </a:r>
            <a:r>
              <a:rPr lang="tr-TR" dirty="0" smtClean="0"/>
              <a:t>” </a:t>
            </a:r>
            <a:r>
              <a:rPr lang="tr-TR" dirty="0"/>
              <a:t>ise </a:t>
            </a:r>
            <a:r>
              <a:rPr lang="tr-TR" dirty="0" smtClean="0"/>
              <a:t> sonuç “</a:t>
            </a:r>
            <a:r>
              <a:rPr lang="tr-TR" dirty="0" err="1" smtClean="0"/>
              <a:t>true</a:t>
            </a:r>
            <a:r>
              <a:rPr lang="tr-TR" dirty="0" smtClean="0"/>
              <a:t>” olur. 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tr-TR" dirty="0" smtClean="0"/>
              <a:t>Kullanımı: &lt;</a:t>
            </a:r>
            <a:r>
              <a:rPr lang="tr-TR" dirty="0"/>
              <a:t>ifade&gt; </a:t>
            </a:r>
            <a:r>
              <a:rPr lang="tr-T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||</a:t>
            </a:r>
            <a:r>
              <a:rPr lang="tr-TR" dirty="0" smtClean="0"/>
              <a:t> </a:t>
            </a:r>
            <a:r>
              <a:rPr lang="tr-TR" dirty="0"/>
              <a:t>&lt;ifade&gt;</a:t>
            </a:r>
          </a:p>
          <a:p>
            <a:r>
              <a:rPr lang="tr-TR" dirty="0" smtClean="0"/>
              <a:t>Doğruluk Tablosu</a:t>
            </a:r>
            <a:endParaRPr lang="tr-TR" dirty="0"/>
          </a:p>
          <a:p>
            <a:endParaRPr lang="en-GB" dirty="0"/>
          </a:p>
          <a:p>
            <a:endParaRPr lang="tr-TR" dirty="0"/>
          </a:p>
        </p:txBody>
      </p:sp>
      <p:graphicFrame>
        <p:nvGraphicFramePr>
          <p:cNvPr id="4" name="Tablo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761100"/>
              </p:ext>
            </p:extLst>
          </p:nvPr>
        </p:nvGraphicFramePr>
        <p:xfrm>
          <a:off x="1143000" y="4810616"/>
          <a:ext cx="6096000" cy="18542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366093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2483826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979815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dirty="0" smtClean="0"/>
                        <a:t>1.Operand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2.Operand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Sonuç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467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False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False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False</a:t>
                      </a:r>
                      <a:endParaRPr lang="tr-TR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85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False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True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True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32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smtClean="0"/>
                        <a:t>True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False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True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643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smtClean="0"/>
                        <a:t>True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True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True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968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881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Mantıksal 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391400" cy="5145360"/>
          </a:xfrm>
        </p:spPr>
        <p:txBody>
          <a:bodyPr>
            <a:normAutofit/>
          </a:bodyPr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ÖR || </a:t>
            </a:r>
            <a:r>
              <a:rPr lang="tr-TR" sz="3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VEYA) Operatörü</a:t>
            </a:r>
          </a:p>
          <a:p>
            <a:endParaRPr lang="tr-TR" sz="2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tr-T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tr-TR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ool</a:t>
            </a:r>
            <a:r>
              <a:rPr lang="tr-T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b1 = 25 &lt; 15 </a:t>
            </a:r>
            <a:r>
              <a:rPr lang="tr-TR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||</a:t>
            </a:r>
            <a:r>
              <a:rPr lang="tr-T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5 == 50  </a:t>
            </a:r>
            <a:r>
              <a:rPr lang="tr-T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    </a:t>
            </a:r>
            <a:r>
              <a:rPr lang="tr-TR" sz="20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False</a:t>
            </a:r>
            <a:endParaRPr lang="tr-TR" sz="200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endParaRPr lang="tr-TR" sz="200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endParaRPr lang="tr-TR" sz="200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endParaRPr lang="tr-TR" sz="200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Wingdings" panose="05000000000000000000" pitchFamily="2" charset="2"/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tr-T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bool</a:t>
            </a: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b1 </a:t>
            </a:r>
            <a:r>
              <a:rPr lang="tr-T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25 &lt; 15 </a:t>
            </a:r>
            <a:r>
              <a:rPr lang="tr-TR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||</a:t>
            </a:r>
            <a:r>
              <a:rPr lang="tr-T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5 != 50  </a:t>
            </a: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    </a:t>
            </a:r>
            <a:r>
              <a:rPr lang="tr-TR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True</a:t>
            </a:r>
            <a:endParaRPr lang="tr-TR" sz="2000" dirty="0">
              <a:solidFill>
                <a:srgbClr val="FF0000"/>
              </a:solidFill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endParaRPr lang="tr-TR" sz="2000" dirty="0" smtClean="0">
              <a:solidFill>
                <a:srgbClr val="FF0000"/>
              </a:solidFill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endParaRPr lang="tr-TR" sz="2000" dirty="0">
              <a:solidFill>
                <a:srgbClr val="FF0000"/>
              </a:solidFill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endParaRPr lang="tr-TR" sz="2000" dirty="0" smtClean="0">
              <a:solidFill>
                <a:srgbClr val="FF0000"/>
              </a:solidFill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r>
              <a:rPr lang="tr-TR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bool</a:t>
            </a:r>
            <a:r>
              <a:rPr lang="tr-T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000" spc="-65" dirty="0">
                <a:latin typeface="Trebuchet MS"/>
                <a:cs typeface="Trebuchet MS"/>
              </a:rPr>
              <a:t>b3</a:t>
            </a:r>
            <a:r>
              <a:rPr lang="en-GB" sz="2000" spc="-195" dirty="0">
                <a:latin typeface="Trebuchet MS"/>
                <a:cs typeface="Trebuchet MS"/>
              </a:rPr>
              <a:t> </a:t>
            </a:r>
            <a:r>
              <a:rPr lang="en-GB" sz="2000" spc="-65" dirty="0">
                <a:latin typeface="Trebuchet MS"/>
                <a:cs typeface="Trebuchet MS"/>
              </a:rPr>
              <a:t>=</a:t>
            </a:r>
            <a:r>
              <a:rPr lang="en-GB" sz="2000" spc="-185" dirty="0">
                <a:latin typeface="Trebuchet MS"/>
                <a:cs typeface="Trebuchet MS"/>
              </a:rPr>
              <a:t> </a:t>
            </a:r>
            <a:r>
              <a:rPr lang="en-GB" sz="2000" spc="-110" dirty="0">
                <a:latin typeface="Trebuchet MS"/>
                <a:cs typeface="Trebuchet MS"/>
              </a:rPr>
              <a:t>‐12.35f</a:t>
            </a:r>
            <a:r>
              <a:rPr lang="en-GB" sz="2000" spc="-210" dirty="0">
                <a:latin typeface="Trebuchet MS"/>
                <a:cs typeface="Trebuchet MS"/>
              </a:rPr>
              <a:t> </a:t>
            </a:r>
            <a:r>
              <a:rPr lang="en-GB" sz="2000" spc="-65" dirty="0">
                <a:latin typeface="Trebuchet MS"/>
                <a:cs typeface="Trebuchet MS"/>
              </a:rPr>
              <a:t>&gt;</a:t>
            </a:r>
            <a:r>
              <a:rPr lang="en-GB" sz="2000" spc="-180" dirty="0">
                <a:latin typeface="Trebuchet MS"/>
                <a:cs typeface="Trebuchet MS"/>
              </a:rPr>
              <a:t> </a:t>
            </a:r>
            <a:r>
              <a:rPr lang="en-GB" sz="2000" spc="-110" dirty="0">
                <a:latin typeface="Trebuchet MS"/>
                <a:cs typeface="Trebuchet MS"/>
              </a:rPr>
              <a:t>‐12.34f</a:t>
            </a:r>
            <a:r>
              <a:rPr lang="en-GB" sz="2000" spc="-220" dirty="0">
                <a:latin typeface="Trebuchet MS"/>
                <a:cs typeface="Trebuchet MS"/>
              </a:rPr>
              <a:t> </a:t>
            </a:r>
            <a:r>
              <a:rPr lang="tr-TR" sz="2000" spc="-220" dirty="0" smtClean="0">
                <a:latin typeface="Trebuchet MS"/>
                <a:cs typeface="Trebuchet MS"/>
              </a:rPr>
              <a:t> </a:t>
            </a:r>
            <a:r>
              <a:rPr lang="tr-TR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||</a:t>
            </a:r>
            <a:r>
              <a:rPr lang="en-GB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tr-TR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000" spc="-45" dirty="0" smtClean="0">
                <a:latin typeface="Trebuchet MS"/>
                <a:cs typeface="Trebuchet MS"/>
              </a:rPr>
              <a:t>0</a:t>
            </a:r>
            <a:r>
              <a:rPr lang="en-GB" sz="2000" spc="-200" dirty="0" smtClean="0">
                <a:latin typeface="Trebuchet MS"/>
                <a:cs typeface="Trebuchet MS"/>
              </a:rPr>
              <a:t> </a:t>
            </a:r>
            <a:r>
              <a:rPr lang="en-GB" sz="2000" spc="-85" dirty="0">
                <a:latin typeface="Trebuchet MS"/>
                <a:cs typeface="Trebuchet MS"/>
              </a:rPr>
              <a:t>!=</a:t>
            </a:r>
            <a:r>
              <a:rPr lang="en-GB" sz="2000" spc="-180" dirty="0">
                <a:latin typeface="Trebuchet MS"/>
                <a:cs typeface="Trebuchet MS"/>
              </a:rPr>
              <a:t> </a:t>
            </a:r>
            <a:r>
              <a:rPr lang="en-GB" sz="2000" spc="-45" dirty="0">
                <a:latin typeface="Trebuchet MS"/>
                <a:cs typeface="Trebuchet MS"/>
              </a:rPr>
              <a:t>1</a:t>
            </a:r>
            <a:r>
              <a:rPr lang="en-GB" sz="2000" spc="-190" dirty="0">
                <a:latin typeface="Trebuchet MS"/>
                <a:cs typeface="Trebuchet MS"/>
              </a:rPr>
              <a:t> </a:t>
            </a:r>
            <a:r>
              <a:rPr lang="tr-T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    </a:t>
            </a:r>
            <a:r>
              <a:rPr lang="tr-TR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True</a:t>
            </a:r>
            <a:endParaRPr lang="tr-TR" sz="2000" dirty="0">
              <a:solidFill>
                <a:srgbClr val="FF0000"/>
              </a:solidFill>
            </a:endParaRPr>
          </a:p>
          <a:p>
            <a:pPr marL="388620" indent="-342900">
              <a:buFont typeface="Arial" panose="020B0604020202020204" pitchFamily="34" charset="0"/>
              <a:buChar char="•"/>
            </a:pPr>
            <a:endParaRPr lang="tr-TR" sz="2000" dirty="0">
              <a:solidFill>
                <a:srgbClr val="FF0000"/>
              </a:solidFill>
            </a:endParaRPr>
          </a:p>
          <a:p>
            <a:endParaRPr lang="en-GB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32687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Bitsel</a:t>
            </a:r>
            <a:r>
              <a:rPr lang="tr-TR" dirty="0" smtClean="0"/>
              <a:t> 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391400" cy="5145360"/>
          </a:xfrm>
        </p:spPr>
        <p:txBody>
          <a:bodyPr>
            <a:normAutofit/>
          </a:bodyPr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tr-TR" sz="3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(DEĞİL) Operatörü:</a:t>
            </a:r>
          </a:p>
          <a:p>
            <a:r>
              <a:rPr lang="tr-TR" dirty="0" smtClean="0"/>
              <a:t>Tek </a:t>
            </a:r>
            <a:r>
              <a:rPr lang="tr-TR" dirty="0" err="1" smtClean="0"/>
              <a:t>operand</a:t>
            </a:r>
            <a:r>
              <a:rPr lang="tr-TR" dirty="0" smtClean="0"/>
              <a:t> alır ve mantıksal değil işlemini gerçekleştirir.  </a:t>
            </a:r>
          </a:p>
          <a:p>
            <a:r>
              <a:rPr lang="tr-TR" dirty="0" smtClean="0"/>
              <a:t>Kullanımı: </a:t>
            </a:r>
            <a:r>
              <a:rPr lang="tr-T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  <a:r>
              <a:rPr lang="tr-TR" dirty="0" smtClean="0"/>
              <a:t> </a:t>
            </a:r>
            <a:r>
              <a:rPr lang="tr-TR" dirty="0"/>
              <a:t>&lt;ifade</a:t>
            </a:r>
            <a:r>
              <a:rPr lang="tr-TR" dirty="0" smtClean="0"/>
              <a:t>&gt;</a:t>
            </a:r>
          </a:p>
          <a:p>
            <a:endParaRPr lang="tr-TR" dirty="0"/>
          </a:p>
          <a:p>
            <a:r>
              <a:rPr lang="tr-TR" dirty="0" smtClean="0"/>
              <a:t>Doğruluk Tablosu</a:t>
            </a:r>
            <a:endParaRPr lang="tr-TR" dirty="0"/>
          </a:p>
        </p:txBody>
      </p:sp>
      <p:graphicFrame>
        <p:nvGraphicFramePr>
          <p:cNvPr id="4" name="Tablo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060867"/>
              </p:ext>
            </p:extLst>
          </p:nvPr>
        </p:nvGraphicFramePr>
        <p:xfrm>
          <a:off x="1259632" y="4869160"/>
          <a:ext cx="4064000" cy="111252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366093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979815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Operand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Sonuç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467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False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85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smtClean="0"/>
                        <a:t>True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False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232372"/>
                  </a:ext>
                </a:extLst>
              </a:tr>
            </a:tbl>
          </a:graphicData>
        </a:graphic>
      </p:graphicFrame>
      <p:sp>
        <p:nvSpPr>
          <p:cNvPr id="5" name="object 6"/>
          <p:cNvSpPr txBox="1"/>
          <p:nvPr/>
        </p:nvSpPr>
        <p:spPr>
          <a:xfrm>
            <a:off x="5940152" y="4725144"/>
            <a:ext cx="2873375" cy="170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6235" algn="l"/>
              </a:tabLst>
            </a:pPr>
            <a:r>
              <a:rPr sz="2200" spc="-65" dirty="0">
                <a:latin typeface="Trebuchet MS"/>
                <a:cs typeface="Trebuchet MS"/>
              </a:rPr>
              <a:t>bool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b1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=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!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(25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&lt;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10)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220" dirty="0">
                <a:latin typeface="Trebuchet MS"/>
                <a:cs typeface="Trebuchet MS"/>
              </a:rPr>
              <a:t>;</a:t>
            </a:r>
            <a:endParaRPr sz="2200" dirty="0">
              <a:latin typeface="Trebuchet MS"/>
              <a:cs typeface="Trebuchet MS"/>
            </a:endParaRPr>
          </a:p>
          <a:p>
            <a:pPr marL="755650" lvl="1" indent="-286385">
              <a:lnSpc>
                <a:spcPct val="100000"/>
              </a:lnSpc>
              <a:buFont typeface="Arial"/>
              <a:buChar char="–"/>
              <a:tabLst>
                <a:tab pos="755015" algn="l"/>
                <a:tab pos="756285" algn="l"/>
              </a:tabLst>
            </a:pPr>
            <a:r>
              <a:rPr sz="2200" b="1" spc="-5" dirty="0">
                <a:solidFill>
                  <a:srgbClr val="FF0000"/>
                </a:solidFill>
                <a:latin typeface="Carlito"/>
                <a:cs typeface="Carlito"/>
              </a:rPr>
              <a:t>true</a:t>
            </a:r>
            <a:endParaRPr sz="2200" dirty="0">
              <a:latin typeface="Carlito"/>
              <a:cs typeface="Carlito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FF0000"/>
              </a:buClr>
              <a:buFont typeface="Arial"/>
              <a:buChar char="–"/>
            </a:pPr>
            <a:endParaRPr sz="2150" dirty="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4965" algn="l"/>
                <a:tab pos="356235" algn="l"/>
              </a:tabLst>
            </a:pPr>
            <a:r>
              <a:rPr sz="2200" spc="-65" dirty="0">
                <a:latin typeface="Trebuchet MS"/>
                <a:cs typeface="Trebuchet MS"/>
              </a:rPr>
              <a:t>bool</a:t>
            </a:r>
            <a:r>
              <a:rPr sz="2200" spc="-195" dirty="0">
                <a:latin typeface="Trebuchet MS"/>
                <a:cs typeface="Trebuchet MS"/>
              </a:rPr>
              <a:t> </a:t>
            </a:r>
            <a:r>
              <a:rPr sz="2200" spc="-55" dirty="0">
                <a:latin typeface="Trebuchet MS"/>
                <a:cs typeface="Trebuchet MS"/>
              </a:rPr>
              <a:t>b2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=</a:t>
            </a:r>
            <a:r>
              <a:rPr sz="2200" spc="-170" dirty="0">
                <a:latin typeface="Trebuchet MS"/>
                <a:cs typeface="Trebuchet MS"/>
              </a:rPr>
              <a:t> </a:t>
            </a:r>
            <a:r>
              <a:rPr sz="2200" spc="-95" dirty="0">
                <a:latin typeface="Trebuchet MS"/>
                <a:cs typeface="Trebuchet MS"/>
              </a:rPr>
              <a:t>!</a:t>
            </a:r>
            <a:r>
              <a:rPr sz="2200" spc="-175" dirty="0">
                <a:latin typeface="Trebuchet MS"/>
                <a:cs typeface="Trebuchet MS"/>
              </a:rPr>
              <a:t> </a:t>
            </a:r>
            <a:r>
              <a:rPr sz="2200" spc="-80" dirty="0">
                <a:latin typeface="Trebuchet MS"/>
                <a:cs typeface="Trebuchet MS"/>
              </a:rPr>
              <a:t>(10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!=</a:t>
            </a:r>
            <a:r>
              <a:rPr sz="2200" spc="-180" dirty="0">
                <a:latin typeface="Trebuchet MS"/>
                <a:cs typeface="Trebuchet MS"/>
              </a:rPr>
              <a:t> </a:t>
            </a:r>
            <a:r>
              <a:rPr sz="2200" spc="-75" dirty="0">
                <a:latin typeface="Trebuchet MS"/>
                <a:cs typeface="Trebuchet MS"/>
              </a:rPr>
              <a:t>20)</a:t>
            </a:r>
            <a:r>
              <a:rPr sz="2200" spc="-185" dirty="0">
                <a:latin typeface="Trebuchet MS"/>
                <a:cs typeface="Trebuchet MS"/>
              </a:rPr>
              <a:t> </a:t>
            </a:r>
            <a:r>
              <a:rPr sz="2200" spc="-220" dirty="0">
                <a:latin typeface="Trebuchet MS"/>
                <a:cs typeface="Trebuchet MS"/>
              </a:rPr>
              <a:t>;</a:t>
            </a:r>
            <a:endParaRPr sz="2200" dirty="0">
              <a:latin typeface="Trebuchet MS"/>
              <a:cs typeface="Trebuchet MS"/>
            </a:endParaRPr>
          </a:p>
          <a:p>
            <a:pPr marL="755650" lvl="1" indent="-286385">
              <a:lnSpc>
                <a:spcPct val="100000"/>
              </a:lnSpc>
              <a:buFont typeface="Arial"/>
              <a:buChar char="–"/>
              <a:tabLst>
                <a:tab pos="755015" algn="l"/>
                <a:tab pos="756285" algn="l"/>
              </a:tabLst>
            </a:pPr>
            <a:r>
              <a:rPr sz="2200" b="1" spc="-10" dirty="0">
                <a:solidFill>
                  <a:srgbClr val="FF0000"/>
                </a:solidFill>
                <a:latin typeface="Carlito"/>
                <a:cs typeface="Carlito"/>
              </a:rPr>
              <a:t>false</a:t>
            </a:r>
            <a:endParaRPr sz="22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243240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Bitsel</a:t>
            </a:r>
            <a:r>
              <a:rPr lang="tr-TR" dirty="0"/>
              <a:t> </a:t>
            </a:r>
            <a:r>
              <a:rPr lang="tr-TR" dirty="0" smtClean="0"/>
              <a:t>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893496" cy="5145360"/>
          </a:xfrm>
        </p:spPr>
        <p:txBody>
          <a:bodyPr>
            <a:normAutofit/>
          </a:bodyPr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 (</a:t>
            </a:r>
            <a:r>
              <a:rPr lang="tr-TR" sz="3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Bitsel</a:t>
            </a:r>
            <a:r>
              <a:rPr lang="tr-TR" sz="3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DEĞİL) Operatörü:</a:t>
            </a:r>
          </a:p>
          <a:p>
            <a:r>
              <a:rPr lang="tr-TR" dirty="0" smtClean="0"/>
              <a:t>Tek </a:t>
            </a:r>
            <a:r>
              <a:rPr lang="tr-TR" dirty="0" err="1" smtClean="0"/>
              <a:t>operand</a:t>
            </a:r>
            <a:r>
              <a:rPr lang="tr-TR" dirty="0" smtClean="0"/>
              <a:t> alır ve </a:t>
            </a:r>
            <a:r>
              <a:rPr lang="tr-TR" dirty="0" smtClean="0"/>
              <a:t>Değişkendeki </a:t>
            </a:r>
            <a:r>
              <a:rPr lang="tr-TR" dirty="0" smtClean="0"/>
              <a:t>tüm bitlerin </a:t>
            </a:r>
            <a:r>
              <a:rPr lang="tr-TR" dirty="0" err="1" smtClean="0"/>
              <a:t>değilini</a:t>
            </a:r>
            <a:r>
              <a:rPr lang="tr-TR" dirty="0" smtClean="0"/>
              <a:t> alır.</a:t>
            </a:r>
          </a:p>
          <a:p>
            <a:r>
              <a:rPr lang="tr-TR" dirty="0" smtClean="0"/>
              <a:t>Kullanımı: </a:t>
            </a:r>
            <a:r>
              <a:rPr lang="tr-T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~</a:t>
            </a:r>
            <a:r>
              <a:rPr lang="tr-TR" dirty="0" smtClean="0"/>
              <a:t> </a:t>
            </a:r>
            <a:r>
              <a:rPr lang="tr-TR" dirty="0"/>
              <a:t>&lt;ifade</a:t>
            </a:r>
            <a:r>
              <a:rPr lang="tr-TR" dirty="0" smtClean="0"/>
              <a:t>&gt;</a:t>
            </a:r>
          </a:p>
          <a:p>
            <a:pPr marL="502920" lvl="1" indent="-45720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2000" b="1" spc="-5" dirty="0">
                <a:latin typeface="Courier New"/>
                <a:cs typeface="Courier New"/>
              </a:rPr>
              <a:t>0000 1111 </a:t>
            </a:r>
            <a:r>
              <a:rPr lang="en-GB" sz="2000" spc="-80" dirty="0" err="1">
                <a:latin typeface="Trebuchet MS"/>
                <a:cs typeface="Trebuchet MS"/>
              </a:rPr>
              <a:t>sayısının</a:t>
            </a:r>
            <a:r>
              <a:rPr lang="en-GB" sz="2000" spc="-80" dirty="0">
                <a:latin typeface="Trebuchet MS"/>
                <a:cs typeface="Trebuchet MS"/>
              </a:rPr>
              <a:t> </a:t>
            </a:r>
            <a:r>
              <a:rPr lang="en-GB" sz="2000" spc="-95" dirty="0" err="1">
                <a:latin typeface="Trebuchet MS"/>
                <a:cs typeface="Trebuchet MS"/>
              </a:rPr>
              <a:t>bitsel</a:t>
            </a:r>
            <a:r>
              <a:rPr lang="en-GB" sz="2000" spc="-95" dirty="0">
                <a:latin typeface="Trebuchet MS"/>
                <a:cs typeface="Trebuchet MS"/>
              </a:rPr>
              <a:t> </a:t>
            </a:r>
            <a:r>
              <a:rPr lang="en-GB" sz="2000" spc="-100" dirty="0" err="1">
                <a:latin typeface="Trebuchet MS"/>
                <a:cs typeface="Trebuchet MS"/>
              </a:rPr>
              <a:t>değili</a:t>
            </a:r>
            <a:r>
              <a:rPr lang="en-GB" sz="2000" spc="-100" dirty="0">
                <a:latin typeface="Trebuchet MS"/>
                <a:cs typeface="Trebuchet MS"/>
              </a:rPr>
              <a:t> </a:t>
            </a:r>
            <a:r>
              <a:rPr lang="en-GB" sz="2000" b="1" spc="-5" dirty="0">
                <a:latin typeface="Courier New"/>
                <a:cs typeface="Courier New"/>
              </a:rPr>
              <a:t>1111 0000</a:t>
            </a:r>
            <a:r>
              <a:rPr lang="en-GB" sz="2000" b="1" spc="-860" dirty="0">
                <a:latin typeface="Courier New"/>
                <a:cs typeface="Courier New"/>
              </a:rPr>
              <a:t> </a:t>
            </a:r>
            <a:r>
              <a:rPr lang="en-GB" sz="2000" spc="-150" dirty="0" err="1">
                <a:latin typeface="Trebuchet MS"/>
                <a:cs typeface="Trebuchet MS"/>
              </a:rPr>
              <a:t>olur</a:t>
            </a:r>
            <a:r>
              <a:rPr lang="en-GB" sz="2000" spc="-150" dirty="0" smtClean="0">
                <a:latin typeface="Trebuchet MS"/>
                <a:cs typeface="Trebuchet MS"/>
              </a:rPr>
              <a:t>.</a:t>
            </a:r>
            <a:endParaRPr lang="tr-TR" sz="2000" spc="-150" dirty="0" smtClean="0">
              <a:latin typeface="Trebuchet MS"/>
              <a:cs typeface="Trebuchet MS"/>
            </a:endParaRPr>
          </a:p>
          <a:p>
            <a:pPr marL="1611630">
              <a:lnSpc>
                <a:spcPct val="100000"/>
              </a:lnSpc>
            </a:pPr>
            <a:endParaRPr lang="tr-TR" sz="2000" spc="-150" dirty="0" smtClean="0">
              <a:latin typeface="Trebuchet MS"/>
            </a:endParaRPr>
          </a:p>
          <a:p>
            <a:pPr marL="1611630">
              <a:lnSpc>
                <a:spcPct val="100000"/>
              </a:lnSpc>
            </a:pPr>
            <a:r>
              <a:rPr lang="en-GB" sz="2000" b="1" spc="-5" dirty="0" smtClean="0">
                <a:latin typeface="Courier New"/>
                <a:cs typeface="Courier New"/>
              </a:rPr>
              <a:t>byte </a:t>
            </a:r>
            <a:r>
              <a:rPr lang="en-GB" sz="2000" b="1" spc="-5" dirty="0">
                <a:latin typeface="Courier New"/>
                <a:cs typeface="Courier New"/>
              </a:rPr>
              <a:t>b1 =</a:t>
            </a:r>
            <a:r>
              <a:rPr lang="en-GB" sz="2000" b="1" spc="-50" dirty="0">
                <a:latin typeface="Courier New"/>
                <a:cs typeface="Courier New"/>
              </a:rPr>
              <a:t> </a:t>
            </a:r>
            <a:r>
              <a:rPr lang="en-GB" sz="2000" b="1" spc="-5" dirty="0">
                <a:latin typeface="Courier New"/>
                <a:cs typeface="Courier New"/>
              </a:rPr>
              <a:t>254</a:t>
            </a:r>
            <a:r>
              <a:rPr lang="en-GB" sz="2000" b="1" spc="-5" dirty="0" smtClean="0">
                <a:latin typeface="Courier New"/>
                <a:cs typeface="Courier New"/>
              </a:rPr>
              <a:t>;</a:t>
            </a:r>
            <a:r>
              <a:rPr lang="tr-TR" sz="2000" b="1" spc="-5" dirty="0" smtClean="0">
                <a:latin typeface="Courier New"/>
                <a:cs typeface="Courier New"/>
              </a:rPr>
              <a:t>//</a:t>
            </a:r>
            <a:r>
              <a:rPr lang="tr-TR" sz="2000" b="1" spc="-5" dirty="0" smtClean="0">
                <a:solidFill>
                  <a:srgbClr val="FF0000"/>
                </a:solidFill>
                <a:latin typeface="Courier New"/>
                <a:cs typeface="Courier New"/>
              </a:rPr>
              <a:t>11111110</a:t>
            </a:r>
            <a:endParaRPr lang="en-GB" sz="2000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1611630" marR="1308100">
              <a:lnSpc>
                <a:spcPct val="100000"/>
              </a:lnSpc>
            </a:pPr>
            <a:r>
              <a:rPr lang="en-GB" sz="2000" b="1" spc="-5" dirty="0">
                <a:latin typeface="Courier New"/>
                <a:cs typeface="Courier New"/>
              </a:rPr>
              <a:t>byte b2 = (byte)~b1; </a:t>
            </a:r>
            <a:r>
              <a:rPr lang="tr-TR" sz="2000" b="1" spc="-5" dirty="0" smtClean="0">
                <a:latin typeface="Courier New"/>
                <a:cs typeface="Courier New"/>
              </a:rPr>
              <a:t>//</a:t>
            </a:r>
            <a:r>
              <a:rPr lang="tr-TR" sz="2000" b="1" spc="-5" dirty="0" smtClean="0">
                <a:solidFill>
                  <a:srgbClr val="FF0000"/>
                </a:solidFill>
                <a:latin typeface="Courier New"/>
                <a:cs typeface="Courier New"/>
              </a:rPr>
              <a:t>00000001</a:t>
            </a:r>
            <a:r>
              <a:rPr lang="en-GB" sz="2000" b="1" spc="-5" dirty="0" smtClean="0">
                <a:latin typeface="Courier New"/>
                <a:cs typeface="Courier New"/>
              </a:rPr>
              <a:t> </a:t>
            </a:r>
            <a:r>
              <a:rPr lang="en-GB" sz="2000" b="1" spc="-5" dirty="0" err="1" smtClean="0">
                <a:latin typeface="Courier New"/>
                <a:cs typeface="Courier New"/>
              </a:rPr>
              <a:t>Console.WriteLine</a:t>
            </a:r>
            <a:r>
              <a:rPr lang="en-GB" sz="2000" b="1" spc="-5" dirty="0" smtClean="0">
                <a:latin typeface="Courier New"/>
                <a:cs typeface="Courier New"/>
              </a:rPr>
              <a:t>(b2</a:t>
            </a:r>
            <a:r>
              <a:rPr lang="en-GB" sz="2000" b="1" spc="-5" dirty="0">
                <a:latin typeface="Courier New"/>
                <a:cs typeface="Courier New"/>
              </a:rPr>
              <a:t>);</a:t>
            </a:r>
            <a:endParaRPr lang="en-GB" sz="2000" dirty="0">
              <a:latin typeface="Courier New"/>
              <a:cs typeface="Courier New"/>
            </a:endParaRPr>
          </a:p>
          <a:p>
            <a:pPr marL="502920" lvl="1" indent="-45720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1827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Bitsel</a:t>
            </a:r>
            <a:r>
              <a:rPr lang="tr-TR" dirty="0"/>
              <a:t> </a:t>
            </a:r>
            <a:r>
              <a:rPr lang="tr-TR" dirty="0" smtClean="0"/>
              <a:t>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893496" cy="5145360"/>
          </a:xfrm>
        </p:spPr>
        <p:txBody>
          <a:bodyPr>
            <a:normAutofit/>
          </a:bodyPr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tr-TR" sz="3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tr-TR" sz="3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Bitsel</a:t>
            </a:r>
            <a:r>
              <a:rPr lang="tr-TR" sz="3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VE) Operatörü:</a:t>
            </a:r>
          </a:p>
          <a:p>
            <a:r>
              <a:rPr lang="tr-TR" dirty="0" err="1" smtClean="0"/>
              <a:t>Operandların</a:t>
            </a:r>
            <a:r>
              <a:rPr lang="tr-TR" dirty="0" smtClean="0"/>
              <a:t> tüm bitlerini karşılıklı VE işlemine tabi tutar</a:t>
            </a:r>
          </a:p>
          <a:p>
            <a:pPr marL="502920" lvl="1" indent="-45720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endParaRPr lang="tr-TR" dirty="0" smtClean="0"/>
          </a:p>
          <a:p>
            <a:pPr marL="502920" lvl="1" indent="-45720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endParaRPr lang="tr-TR" dirty="0"/>
          </a:p>
        </p:txBody>
      </p:sp>
      <p:pic>
        <p:nvPicPr>
          <p:cNvPr id="10" name="Resi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3717032"/>
            <a:ext cx="2188654" cy="1767993"/>
          </a:xfrm>
          <a:prstGeom prst="rect">
            <a:avLst/>
          </a:prstGeom>
        </p:spPr>
      </p:pic>
      <p:pic>
        <p:nvPicPr>
          <p:cNvPr id="14" name="Resim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3598149"/>
            <a:ext cx="2950720" cy="200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71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Bitsel</a:t>
            </a:r>
            <a:r>
              <a:rPr lang="tr-TR" dirty="0"/>
              <a:t> </a:t>
            </a:r>
            <a:r>
              <a:rPr lang="tr-TR" dirty="0" smtClean="0"/>
              <a:t>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893496" cy="5145360"/>
          </a:xfrm>
        </p:spPr>
        <p:txBody>
          <a:bodyPr>
            <a:normAutofit/>
          </a:bodyPr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| (</a:t>
            </a:r>
            <a:r>
              <a:rPr lang="tr-TR" sz="3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Bitsel</a:t>
            </a:r>
            <a:r>
              <a:rPr lang="tr-TR" sz="3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VEYA) Operatörü:</a:t>
            </a:r>
          </a:p>
          <a:p>
            <a:r>
              <a:rPr lang="tr-TR" dirty="0" err="1" smtClean="0"/>
              <a:t>Operandların</a:t>
            </a:r>
            <a:r>
              <a:rPr lang="tr-TR" dirty="0" smtClean="0"/>
              <a:t> tüm bitlerini karşılıklı VEYA işlemine tabi tutar.</a:t>
            </a:r>
          </a:p>
          <a:p>
            <a:pPr marL="502920" lvl="1" indent="-45720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endParaRPr lang="tr-TR" dirty="0" smtClean="0"/>
          </a:p>
          <a:p>
            <a:pPr marL="502920" lvl="1" indent="-45720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501008"/>
            <a:ext cx="2889754" cy="2005758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196" y="3501008"/>
            <a:ext cx="2188654" cy="17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10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Bitsel</a:t>
            </a:r>
            <a:r>
              <a:rPr lang="tr-TR" dirty="0"/>
              <a:t> </a:t>
            </a:r>
            <a:r>
              <a:rPr lang="tr-TR" dirty="0" smtClean="0"/>
              <a:t>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893496" cy="5145360"/>
          </a:xfrm>
        </p:spPr>
        <p:txBody>
          <a:bodyPr>
            <a:normAutofit/>
          </a:bodyPr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^ (</a:t>
            </a:r>
            <a:r>
              <a:rPr lang="tr-TR" sz="3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Bitsel</a:t>
            </a:r>
            <a:r>
              <a:rPr lang="tr-TR" sz="3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Özel VEYA) Operatörü:</a:t>
            </a:r>
          </a:p>
          <a:p>
            <a:r>
              <a:rPr lang="tr-TR" dirty="0" err="1" smtClean="0"/>
              <a:t>Operandların</a:t>
            </a:r>
            <a:r>
              <a:rPr lang="tr-TR" dirty="0" smtClean="0"/>
              <a:t> tüm bitlerini karşılıklı </a:t>
            </a:r>
            <a:r>
              <a:rPr lang="tr-TR" dirty="0" smtClean="0"/>
              <a:t>XOR* </a:t>
            </a:r>
            <a:r>
              <a:rPr lang="tr-TR" dirty="0" smtClean="0"/>
              <a:t>işlemine tabi tutar</a:t>
            </a:r>
            <a:r>
              <a:rPr lang="tr-TR" dirty="0" smtClean="0"/>
              <a:t>.</a:t>
            </a:r>
          </a:p>
          <a:p>
            <a:r>
              <a:rPr lang="tr-TR" sz="1200" dirty="0" smtClean="0"/>
              <a:t>*Bitler farklıyken 1 aynıyken 0</a:t>
            </a:r>
            <a:endParaRPr lang="tr-TR" sz="1200" dirty="0" smtClean="0"/>
          </a:p>
          <a:p>
            <a:pPr marL="502920" lvl="1" indent="-45720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endParaRPr lang="tr-TR" dirty="0" smtClean="0"/>
          </a:p>
          <a:p>
            <a:pPr marL="502920" lvl="1" indent="-45720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endParaRPr lang="tr-TR" dirty="0"/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3933056"/>
            <a:ext cx="2901948" cy="2005758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292" y="3933056"/>
            <a:ext cx="2188654" cy="17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836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Atama ve İşlemli Atama 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893496" cy="5145360"/>
          </a:xfrm>
        </p:spPr>
        <p:txBody>
          <a:bodyPr>
            <a:normAutofit/>
          </a:bodyPr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(Atama) </a:t>
            </a:r>
            <a:r>
              <a:rPr lang="tr-TR" sz="38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Öperatörü</a:t>
            </a: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en-GB" sz="2800" spc="-100" dirty="0" err="1">
                <a:latin typeface="Trebuchet MS"/>
                <a:cs typeface="Trebuchet MS"/>
              </a:rPr>
              <a:t>Bir</a:t>
            </a:r>
            <a:r>
              <a:rPr lang="en-GB" sz="2800" spc="-100" dirty="0">
                <a:latin typeface="Trebuchet MS"/>
                <a:cs typeface="Trebuchet MS"/>
              </a:rPr>
              <a:t> </a:t>
            </a:r>
            <a:r>
              <a:rPr lang="en-GB" sz="2800" spc="-105" dirty="0" err="1">
                <a:latin typeface="Trebuchet MS"/>
                <a:cs typeface="Trebuchet MS"/>
              </a:rPr>
              <a:t>değişkene</a:t>
            </a:r>
            <a:r>
              <a:rPr lang="en-GB" sz="2800" spc="-105" dirty="0">
                <a:latin typeface="Trebuchet MS"/>
                <a:cs typeface="Trebuchet MS"/>
              </a:rPr>
              <a:t> </a:t>
            </a:r>
            <a:r>
              <a:rPr lang="en-GB" sz="2800" spc="-90" dirty="0" err="1">
                <a:latin typeface="Trebuchet MS"/>
                <a:cs typeface="Trebuchet MS"/>
              </a:rPr>
              <a:t>herhangi</a:t>
            </a:r>
            <a:r>
              <a:rPr lang="en-GB" sz="2800" spc="-90" dirty="0">
                <a:latin typeface="Trebuchet MS"/>
                <a:cs typeface="Trebuchet MS"/>
              </a:rPr>
              <a:t>  </a:t>
            </a:r>
            <a:r>
              <a:rPr lang="en-GB" sz="2800" spc="-110" dirty="0" err="1">
                <a:latin typeface="Trebuchet MS"/>
                <a:cs typeface="Trebuchet MS"/>
              </a:rPr>
              <a:t>bir</a:t>
            </a:r>
            <a:r>
              <a:rPr lang="en-GB" sz="2800" spc="-110" dirty="0">
                <a:latin typeface="Trebuchet MS"/>
                <a:cs typeface="Trebuchet MS"/>
              </a:rPr>
              <a:t> </a:t>
            </a:r>
            <a:r>
              <a:rPr lang="en-GB" sz="2800" spc="-100" dirty="0" err="1">
                <a:latin typeface="Trebuchet MS"/>
                <a:cs typeface="Trebuchet MS"/>
              </a:rPr>
              <a:t>değer</a:t>
            </a:r>
            <a:r>
              <a:rPr lang="en-GB" sz="2800" spc="-100" dirty="0">
                <a:latin typeface="Trebuchet MS"/>
                <a:cs typeface="Trebuchet MS"/>
              </a:rPr>
              <a:t> </a:t>
            </a:r>
            <a:r>
              <a:rPr lang="en-GB" sz="2800" spc="-125" dirty="0" err="1">
                <a:latin typeface="Trebuchet MS"/>
                <a:cs typeface="Trebuchet MS"/>
              </a:rPr>
              <a:t>atamak</a:t>
            </a:r>
            <a:r>
              <a:rPr lang="en-GB" sz="2800" spc="-125" dirty="0">
                <a:latin typeface="Trebuchet MS"/>
                <a:cs typeface="Trebuchet MS"/>
              </a:rPr>
              <a:t> </a:t>
            </a:r>
            <a:r>
              <a:rPr lang="en-GB" sz="2800" spc="-130" dirty="0" err="1">
                <a:latin typeface="Trebuchet MS"/>
                <a:cs typeface="Trebuchet MS"/>
              </a:rPr>
              <a:t>için</a:t>
            </a:r>
            <a:r>
              <a:rPr lang="en-GB" sz="2800" spc="-130" dirty="0">
                <a:latin typeface="Trebuchet MS"/>
                <a:cs typeface="Trebuchet MS"/>
              </a:rPr>
              <a:t>  </a:t>
            </a:r>
            <a:r>
              <a:rPr lang="en-GB" sz="2800" spc="-160" dirty="0" err="1">
                <a:latin typeface="Trebuchet MS"/>
                <a:cs typeface="Trebuchet MS"/>
              </a:rPr>
              <a:t>kullanılır</a:t>
            </a:r>
            <a:r>
              <a:rPr lang="en-GB" sz="2800" spc="-160" dirty="0">
                <a:latin typeface="Trebuchet MS"/>
                <a:cs typeface="Trebuchet MS"/>
              </a:rPr>
              <a:t>.</a:t>
            </a:r>
            <a:endParaRPr lang="tr-TR" spc="-165" dirty="0"/>
          </a:p>
          <a:p>
            <a:pPr marL="45720" lvl="1" inden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120000"/>
              <a:buNone/>
            </a:pPr>
            <a:r>
              <a:rPr lang="tr-TR" sz="2000" spc="-114" dirty="0" smtClean="0">
                <a:latin typeface="Trebuchet MS"/>
                <a:cs typeface="Trebuchet MS"/>
              </a:rPr>
              <a:t>&lt;değişken&gt;</a:t>
            </a:r>
            <a:r>
              <a:rPr lang="en-GB" sz="2000" spc="-114" dirty="0" smtClean="0">
                <a:latin typeface="Trebuchet MS"/>
                <a:cs typeface="Trebuchet MS"/>
              </a:rPr>
              <a:t> </a:t>
            </a:r>
            <a:r>
              <a:rPr lang="tr-TR" sz="2000" b="1" spc="-5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cs typeface="Trebuchet MS"/>
              </a:rPr>
              <a:t>=</a:t>
            </a:r>
            <a:r>
              <a:rPr lang="en-GB" sz="2000" spc="-55" dirty="0" smtClean="0">
                <a:latin typeface="Trebuchet MS"/>
                <a:cs typeface="Trebuchet MS"/>
              </a:rPr>
              <a:t> </a:t>
            </a:r>
            <a:r>
              <a:rPr lang="tr-TR" sz="2000" spc="-55" dirty="0" smtClean="0">
                <a:latin typeface="Trebuchet MS"/>
                <a:cs typeface="Trebuchet MS"/>
              </a:rPr>
              <a:t>&lt;</a:t>
            </a:r>
            <a:r>
              <a:rPr lang="tr-TR" sz="2000" spc="-100" dirty="0" smtClean="0">
                <a:latin typeface="Trebuchet MS"/>
                <a:cs typeface="Trebuchet MS"/>
              </a:rPr>
              <a:t>atanacak değer&gt;</a:t>
            </a:r>
            <a:endParaRPr lang="tr-TR" sz="2000" spc="-85" dirty="0" smtClean="0">
              <a:latin typeface="Trebuchet MS"/>
              <a:cs typeface="Trebuchet MS"/>
            </a:endParaRPr>
          </a:p>
          <a:p>
            <a:pPr marL="45720" lvl="1" inden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120000"/>
              <a:buNone/>
            </a:pPr>
            <a:endParaRPr lang="tr-TR" sz="2000" spc="-85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3134995" algn="l"/>
              </a:tabLst>
            </a:pPr>
            <a:r>
              <a:rPr lang="tr-TR" sz="2800" spc="-140" dirty="0" err="1" smtClean="0"/>
              <a:t>int</a:t>
            </a:r>
            <a:r>
              <a:rPr lang="tr-TR" sz="2800" spc="-140" dirty="0" smtClean="0"/>
              <a:t> a=5;</a:t>
            </a:r>
          </a:p>
          <a:p>
            <a:pPr marL="12700">
              <a:lnSpc>
                <a:spcPct val="100000"/>
              </a:lnSpc>
              <a:tabLst>
                <a:tab pos="3134995" algn="l"/>
              </a:tabLst>
            </a:pPr>
            <a:r>
              <a:rPr lang="tr-TR" sz="2800" spc="-140" dirty="0" err="1" smtClean="0"/>
              <a:t>string</a:t>
            </a:r>
            <a:r>
              <a:rPr lang="tr-TR" sz="2800" spc="-140" dirty="0" smtClean="0"/>
              <a:t> ad</a:t>
            </a:r>
            <a:r>
              <a:rPr lang="tr-TR" sz="2800" spc="-140" dirty="0"/>
              <a:t>="</a:t>
            </a:r>
            <a:r>
              <a:rPr lang="tr-TR" sz="2800" spc="-140" dirty="0" smtClean="0"/>
              <a:t>ali";</a:t>
            </a:r>
            <a:endParaRPr lang="en-GB" sz="2800" spc="-140" dirty="0"/>
          </a:p>
          <a:p>
            <a:pPr marL="45720" lvl="1" inden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120000"/>
              <a:buNone/>
            </a:pPr>
            <a:endParaRPr lang="en-GB" sz="2000" dirty="0">
              <a:latin typeface="Trebuchet MS"/>
              <a:cs typeface="Trebuchet MS"/>
            </a:endParaRPr>
          </a:p>
          <a:p>
            <a:endParaRPr lang="tr-TR" dirty="0" smtClean="0"/>
          </a:p>
          <a:p>
            <a:pPr marL="502920" lvl="1" indent="-45720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81347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200" dirty="0" smtClean="0"/>
              <a:t>Atama ve İşlemli Atama Operatörler</a:t>
            </a:r>
            <a:endParaRPr lang="en-GB" sz="320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893496" cy="5145360"/>
          </a:xfrm>
        </p:spPr>
        <p:txBody>
          <a:bodyPr>
            <a:normAutofit/>
          </a:bodyPr>
          <a:lstStyle/>
          <a:p>
            <a:pPr marL="388620" indent="-342900">
              <a:buFont typeface="Wingdings" panose="05000000000000000000" pitchFamily="2" charset="2"/>
              <a:buChar char="q"/>
            </a:pPr>
            <a:r>
              <a:rPr lang="tr-TR" sz="3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*= </a:t>
            </a:r>
            <a:r>
              <a:rPr lang="tr-TR" sz="3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,/=, %=, +=, ‐=, &amp;=, ^=, </a:t>
            </a:r>
            <a:r>
              <a:rPr lang="tr-TR" sz="3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|= </a:t>
            </a:r>
            <a:endParaRPr lang="tr-TR" sz="38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tr-TR" sz="2800" spc="-100" dirty="0" smtClean="0">
                <a:latin typeface="Trebuchet MS"/>
                <a:cs typeface="Trebuchet MS"/>
              </a:rPr>
              <a:t>Bu operatörler </a:t>
            </a:r>
            <a:r>
              <a:rPr lang="en-GB" sz="2400" spc="-140" dirty="0" err="1" smtClean="0">
                <a:latin typeface="Trebuchet MS"/>
                <a:cs typeface="Trebuchet MS"/>
              </a:rPr>
              <a:t>işlemli</a:t>
            </a:r>
            <a:r>
              <a:rPr lang="en-GB" sz="2400" spc="-140" dirty="0" smtClean="0">
                <a:latin typeface="Trebuchet MS"/>
                <a:cs typeface="Trebuchet MS"/>
              </a:rPr>
              <a:t> </a:t>
            </a:r>
            <a:r>
              <a:rPr lang="en-GB" sz="2400" spc="-145" dirty="0" err="1">
                <a:latin typeface="Trebuchet MS"/>
                <a:cs typeface="Trebuchet MS"/>
              </a:rPr>
              <a:t>atama</a:t>
            </a:r>
            <a:r>
              <a:rPr lang="en-GB" sz="2400" spc="-145" dirty="0">
                <a:latin typeface="Trebuchet MS"/>
                <a:cs typeface="Trebuchet MS"/>
              </a:rPr>
              <a:t> </a:t>
            </a:r>
            <a:r>
              <a:rPr lang="en-GB" sz="2400" spc="-130" dirty="0" err="1">
                <a:latin typeface="Trebuchet MS"/>
                <a:cs typeface="Trebuchet MS"/>
              </a:rPr>
              <a:t>operatörleri</a:t>
            </a:r>
            <a:r>
              <a:rPr lang="en-GB" sz="2400" spc="-130" dirty="0">
                <a:latin typeface="Trebuchet MS"/>
                <a:cs typeface="Trebuchet MS"/>
              </a:rPr>
              <a:t> </a:t>
            </a:r>
            <a:r>
              <a:rPr lang="en-GB" sz="2400" spc="-140" dirty="0" err="1">
                <a:latin typeface="Trebuchet MS"/>
                <a:cs typeface="Trebuchet MS"/>
              </a:rPr>
              <a:t>olarak</a:t>
            </a:r>
            <a:r>
              <a:rPr lang="en-GB" sz="2400" spc="-140" dirty="0">
                <a:latin typeface="Trebuchet MS"/>
                <a:cs typeface="Trebuchet MS"/>
              </a:rPr>
              <a:t>  </a:t>
            </a:r>
            <a:r>
              <a:rPr lang="en-GB" sz="2400" spc="-145" dirty="0" err="1">
                <a:latin typeface="Trebuchet MS"/>
                <a:cs typeface="Trebuchet MS"/>
              </a:rPr>
              <a:t>geçer</a:t>
            </a:r>
            <a:r>
              <a:rPr lang="en-GB" sz="2400" spc="-145" dirty="0">
                <a:latin typeface="Trebuchet MS"/>
                <a:cs typeface="Trebuchet MS"/>
              </a:rPr>
              <a:t> </a:t>
            </a:r>
            <a:r>
              <a:rPr lang="en-GB" sz="2400" spc="-135" dirty="0" err="1">
                <a:latin typeface="Trebuchet MS"/>
                <a:cs typeface="Trebuchet MS"/>
              </a:rPr>
              <a:t>ve</a:t>
            </a:r>
            <a:r>
              <a:rPr lang="en-GB" sz="2400" spc="-135" dirty="0">
                <a:latin typeface="Trebuchet MS"/>
                <a:cs typeface="Trebuchet MS"/>
              </a:rPr>
              <a:t> </a:t>
            </a:r>
            <a:r>
              <a:rPr lang="en-GB" sz="2400" spc="-125" dirty="0" err="1">
                <a:latin typeface="Trebuchet MS"/>
                <a:cs typeface="Trebuchet MS"/>
              </a:rPr>
              <a:t>işlem</a:t>
            </a:r>
            <a:r>
              <a:rPr lang="en-GB" sz="2400" spc="-125" dirty="0">
                <a:latin typeface="Trebuchet MS"/>
                <a:cs typeface="Trebuchet MS"/>
              </a:rPr>
              <a:t> </a:t>
            </a:r>
            <a:r>
              <a:rPr lang="en-GB" sz="2400" spc="-75" dirty="0" err="1">
                <a:latin typeface="Trebuchet MS"/>
                <a:cs typeface="Trebuchet MS"/>
              </a:rPr>
              <a:t>sonucunun</a:t>
            </a:r>
            <a:r>
              <a:rPr lang="en-GB" sz="2400" spc="-75" dirty="0">
                <a:latin typeface="Trebuchet MS"/>
                <a:cs typeface="Trebuchet MS"/>
              </a:rPr>
              <a:t> </a:t>
            </a:r>
            <a:r>
              <a:rPr lang="en-GB" sz="2400" spc="-110" dirty="0" err="1">
                <a:latin typeface="Trebuchet MS"/>
                <a:cs typeface="Trebuchet MS"/>
              </a:rPr>
              <a:t>işlenen</a:t>
            </a:r>
            <a:r>
              <a:rPr lang="en-GB" sz="2400" spc="-110" dirty="0">
                <a:latin typeface="Trebuchet MS"/>
                <a:cs typeface="Trebuchet MS"/>
              </a:rPr>
              <a:t> </a:t>
            </a:r>
            <a:r>
              <a:rPr lang="en-GB" sz="2400" spc="-110" dirty="0" err="1">
                <a:latin typeface="Trebuchet MS"/>
                <a:cs typeface="Trebuchet MS"/>
              </a:rPr>
              <a:t>operanda</a:t>
            </a:r>
            <a:r>
              <a:rPr lang="en-GB" sz="2400" spc="-110" dirty="0">
                <a:latin typeface="Trebuchet MS"/>
                <a:cs typeface="Trebuchet MS"/>
              </a:rPr>
              <a:t>  </a:t>
            </a:r>
            <a:r>
              <a:rPr lang="en-GB" sz="2400" spc="-135" dirty="0" err="1">
                <a:latin typeface="Trebuchet MS"/>
                <a:cs typeface="Trebuchet MS"/>
              </a:rPr>
              <a:t>atandığı</a:t>
            </a:r>
            <a:r>
              <a:rPr lang="en-GB" sz="2400" spc="-135" dirty="0">
                <a:latin typeface="Trebuchet MS"/>
                <a:cs typeface="Trebuchet MS"/>
              </a:rPr>
              <a:t> </a:t>
            </a:r>
            <a:r>
              <a:rPr lang="en-GB" sz="2400" spc="-114" dirty="0" err="1">
                <a:latin typeface="Trebuchet MS"/>
                <a:cs typeface="Trebuchet MS"/>
              </a:rPr>
              <a:t>durumlarda</a:t>
            </a:r>
            <a:r>
              <a:rPr lang="en-GB" sz="2400" spc="-320" dirty="0">
                <a:latin typeface="Trebuchet MS"/>
                <a:cs typeface="Trebuchet MS"/>
              </a:rPr>
              <a:t> </a:t>
            </a:r>
            <a:r>
              <a:rPr lang="en-GB" sz="2400" spc="-210" dirty="0" err="1">
                <a:latin typeface="Trebuchet MS"/>
                <a:cs typeface="Trebuchet MS"/>
              </a:rPr>
              <a:t>kullanılır</a:t>
            </a:r>
            <a:r>
              <a:rPr lang="en-GB" sz="2400" spc="-210" dirty="0">
                <a:latin typeface="Trebuchet MS"/>
                <a:cs typeface="Trebuchet MS"/>
              </a:rPr>
              <a:t>.</a:t>
            </a:r>
            <a:endParaRPr lang="en-GB" sz="2400" dirty="0">
              <a:latin typeface="Trebuchet MS"/>
              <a:cs typeface="Trebuchet MS"/>
            </a:endParaRPr>
          </a:p>
          <a:p>
            <a:endParaRPr lang="tr-TR" spc="-165" dirty="0" smtClean="0"/>
          </a:p>
          <a:p>
            <a:pPr marL="388620" lvl="1" indent="-34290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120000"/>
            </a:pPr>
            <a:r>
              <a:rPr lang="en-GB" sz="2000" dirty="0">
                <a:latin typeface="Trebuchet MS"/>
                <a:cs typeface="Trebuchet MS"/>
              </a:rPr>
              <a:t>x = x + y; </a:t>
            </a:r>
            <a:r>
              <a:rPr lang="en-GB" sz="2000" dirty="0" err="1">
                <a:latin typeface="Trebuchet MS"/>
                <a:cs typeface="Trebuchet MS"/>
              </a:rPr>
              <a:t>ifadesi</a:t>
            </a:r>
            <a:r>
              <a:rPr lang="en-GB" sz="2000" dirty="0">
                <a:latin typeface="Trebuchet MS"/>
                <a:cs typeface="Trebuchet MS"/>
              </a:rPr>
              <a:t> </a:t>
            </a:r>
            <a:r>
              <a:rPr lang="en-GB" sz="2000" dirty="0" err="1">
                <a:latin typeface="Trebuchet MS"/>
                <a:cs typeface="Trebuchet MS"/>
              </a:rPr>
              <a:t>yerine</a:t>
            </a:r>
            <a:r>
              <a:rPr lang="en-GB" sz="2000" dirty="0">
                <a:latin typeface="Trebuchet MS"/>
                <a:cs typeface="Trebuchet MS"/>
              </a:rPr>
              <a:t> x += y;</a:t>
            </a:r>
          </a:p>
          <a:p>
            <a:pPr marL="388620" lvl="1" indent="-34290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120000"/>
            </a:pPr>
            <a:r>
              <a:rPr lang="en-GB" sz="2000" dirty="0">
                <a:latin typeface="Trebuchet MS"/>
                <a:cs typeface="Trebuchet MS"/>
              </a:rPr>
              <a:t>a = a * b; </a:t>
            </a:r>
            <a:r>
              <a:rPr lang="en-GB" sz="2000" dirty="0" err="1">
                <a:latin typeface="Trebuchet MS"/>
                <a:cs typeface="Trebuchet MS"/>
              </a:rPr>
              <a:t>ifadesi</a:t>
            </a:r>
            <a:r>
              <a:rPr lang="en-GB" sz="2000" dirty="0">
                <a:latin typeface="Trebuchet MS"/>
                <a:cs typeface="Trebuchet MS"/>
              </a:rPr>
              <a:t> </a:t>
            </a:r>
            <a:r>
              <a:rPr lang="en-GB" sz="2000" dirty="0" err="1">
                <a:latin typeface="Trebuchet MS"/>
                <a:cs typeface="Trebuchet MS"/>
              </a:rPr>
              <a:t>yerine</a:t>
            </a:r>
            <a:r>
              <a:rPr lang="en-GB" sz="2000" dirty="0">
                <a:latin typeface="Trebuchet MS"/>
                <a:cs typeface="Trebuchet MS"/>
              </a:rPr>
              <a:t> a *= b;</a:t>
            </a:r>
          </a:p>
          <a:p>
            <a:pPr marL="45720" lvl="1" inden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120000"/>
              <a:buNone/>
            </a:pPr>
            <a:endParaRPr lang="en-GB" sz="2000" dirty="0" smtClean="0">
              <a:latin typeface="Trebuchet MS"/>
              <a:cs typeface="Trebuchet MS"/>
            </a:endParaRPr>
          </a:p>
          <a:p>
            <a:endParaRPr lang="tr-TR" dirty="0" smtClean="0"/>
          </a:p>
          <a:p>
            <a:pPr marL="502920" lvl="1" indent="-45720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1752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C# Operatör Önceliği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Bazı durumlarda birden fazla operatör kullanılmış olabilir. Bu tür durumlarda önceden belirlenmiş olan sıraya göre işlem yapılır.</a:t>
            </a:r>
          </a:p>
          <a:p>
            <a:pPr marL="502920" indent="-457200">
              <a:buFont typeface="Arial" panose="020B0604020202020204" pitchFamily="34" charset="0"/>
              <a:buChar char="•"/>
            </a:pPr>
            <a:endParaRPr lang="tr-TR" dirty="0"/>
          </a:p>
          <a:p>
            <a:pPr marL="502920" indent="-457200">
              <a:buFont typeface="Arial" panose="020B0604020202020204" pitchFamily="34" charset="0"/>
              <a:buChar char="•"/>
            </a:pPr>
            <a:r>
              <a:rPr lang="tr-TR" dirty="0" smtClean="0"/>
              <a:t>ÖR: y = 5 + 10 * 6</a:t>
            </a:r>
          </a:p>
          <a:p>
            <a:pPr marL="1149350" lvl="1" indent="-457200">
              <a:buFont typeface="Arial" panose="020B0604020202020204" pitchFamily="34" charset="0"/>
              <a:buChar char="•"/>
            </a:pPr>
            <a:r>
              <a:rPr lang="tr-TR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Önce toplama mı yoksa çarpma mı yapılacak? </a:t>
            </a:r>
            <a:endParaRPr lang="en-GB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76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Operatör Öncelik Tablosu</a:t>
            </a:r>
            <a:endParaRPr lang="en-GB" dirty="0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033200"/>
              </p:ext>
            </p:extLst>
          </p:nvPr>
        </p:nvGraphicFramePr>
        <p:xfrm>
          <a:off x="395536" y="1559776"/>
          <a:ext cx="8001000" cy="51191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6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4256">
                  <a:extLst>
                    <a:ext uri="{9D8B030D-6E8A-4147-A177-3AD203B41FA5}">
                      <a16:colId xmlns:a16="http://schemas.microsoft.com/office/drawing/2014/main" val="763012821"/>
                    </a:ext>
                  </a:extLst>
                </a:gridCol>
              </a:tblGrid>
              <a:tr h="42906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b="1" dirty="0">
                          <a:latin typeface="Tahoma"/>
                          <a:cs typeface="Tahoma"/>
                        </a:rPr>
                        <a:t>Birinci Öncelikliler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3619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spc="-5" dirty="0">
                          <a:latin typeface="Tahoma"/>
                          <a:cs typeface="Tahoma"/>
                        </a:rPr>
                        <a:t>x.y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(nesne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erişim operatörü) , f(x) ,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dizi[x],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x++ , 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x--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 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new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 typeof , checked ,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unchecked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3619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tr-TR" sz="1100" dirty="0" smtClean="0">
                          <a:latin typeface="Tahoma"/>
                          <a:cs typeface="Tahoma"/>
                        </a:rPr>
                        <a:t>Soldan sağa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tr-TR" sz="1100" b="1" dirty="0" smtClean="0">
                          <a:latin typeface="Tahoma"/>
                          <a:cs typeface="Tahoma"/>
                        </a:rPr>
                        <a:t>Tekli</a:t>
                      </a:r>
                      <a:r>
                        <a:rPr sz="1100" b="1" dirty="0" smtClean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Operatörler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+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-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!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~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++x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 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--x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</a:t>
                      </a:r>
                      <a:r>
                        <a:rPr sz="11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(tür)x</a:t>
                      </a: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tr-TR" sz="1100" dirty="0" smtClean="0">
                          <a:latin typeface="Tahoma"/>
                          <a:cs typeface="Tahoma"/>
                        </a:rPr>
                        <a:t>Sağdan sola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b="1" spc="-5" dirty="0">
                          <a:latin typeface="Tahoma"/>
                          <a:cs typeface="Tahoma"/>
                        </a:rPr>
                        <a:t>Çarpma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 Bölme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*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/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 %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4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100" dirty="0" smtClean="0">
                          <a:latin typeface="Tahoma"/>
                          <a:cs typeface="Tahoma"/>
                        </a:rPr>
                        <a:t>Soldan sağa</a:t>
                      </a: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b="1" dirty="0">
                          <a:latin typeface="Tahoma"/>
                          <a:cs typeface="Tahoma"/>
                        </a:rPr>
                        <a:t>Toplama ve</a:t>
                      </a:r>
                      <a:r>
                        <a:rPr sz="11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Çıkarma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+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-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tr-TR" sz="1100" dirty="0" smtClean="0">
                          <a:latin typeface="Tahoma"/>
                          <a:cs typeface="Tahoma"/>
                        </a:rPr>
                        <a:t>Soldan sağa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b="1" dirty="0">
                          <a:latin typeface="Tahoma"/>
                          <a:cs typeface="Tahoma"/>
                        </a:rPr>
                        <a:t>Kaydırma</a:t>
                      </a:r>
                      <a:r>
                        <a:rPr sz="11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Operatörleri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&lt;&lt;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&gt;&gt;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tr-TR" sz="1100" dirty="0" smtClean="0">
                          <a:latin typeface="Tahoma"/>
                          <a:cs typeface="Tahoma"/>
                        </a:rPr>
                        <a:t>Soldan sağa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b="1" spc="-5" dirty="0">
                          <a:latin typeface="Tahoma"/>
                          <a:cs typeface="Tahoma"/>
                        </a:rPr>
                        <a:t>İlişkisel 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ve </a:t>
                      </a:r>
                      <a:r>
                        <a:rPr sz="1100" b="1" spc="-5" dirty="0">
                          <a:latin typeface="Tahoma"/>
                          <a:cs typeface="Tahoma"/>
                        </a:rPr>
                        <a:t>Tür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 Testi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&lt;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&gt;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&lt;=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 </a:t>
                      </a:r>
                      <a:r>
                        <a:rPr sz="1100" dirty="0" smtClean="0">
                          <a:latin typeface="Tahoma"/>
                          <a:cs typeface="Tahoma"/>
                        </a:rPr>
                        <a:t>&gt;=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tr-TR" sz="1100" dirty="0" smtClean="0">
                          <a:latin typeface="Tahoma"/>
                          <a:cs typeface="Tahoma"/>
                        </a:rPr>
                        <a:t>Soldan sağa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b="1" spc="-5" dirty="0">
                          <a:latin typeface="Tahoma"/>
                          <a:cs typeface="Tahoma"/>
                        </a:rPr>
                        <a:t>Eşitlik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 Operatörleri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==,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!=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tr-TR" sz="1100" dirty="0" smtClean="0">
                          <a:latin typeface="Tahoma"/>
                          <a:cs typeface="Tahoma"/>
                        </a:rPr>
                        <a:t>Soldan sağa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b="1" spc="-5" dirty="0">
                          <a:latin typeface="Tahoma"/>
                          <a:cs typeface="Tahoma"/>
                        </a:rPr>
                        <a:t>Mantıksal 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VE</a:t>
                      </a:r>
                      <a:r>
                        <a:rPr sz="11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(AND)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&amp;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tr-TR" sz="1100" dirty="0" smtClean="0">
                          <a:latin typeface="Tahoma"/>
                          <a:cs typeface="Tahoma"/>
                        </a:rPr>
                        <a:t>Soldan sağa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9119">
                <a:tc>
                  <a:txBody>
                    <a:bodyPr/>
                    <a:lstStyle/>
                    <a:p>
                      <a:pPr marL="90805" marR="51244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b="1" spc="-5" dirty="0">
                          <a:latin typeface="Tahoma"/>
                          <a:cs typeface="Tahoma"/>
                        </a:rPr>
                        <a:t>Mantıksal </a:t>
                      </a:r>
                      <a:r>
                        <a:rPr sz="1100" b="1" spc="10" dirty="0">
                          <a:latin typeface="Tahoma"/>
                          <a:cs typeface="Tahoma"/>
                        </a:rPr>
                        <a:t>Özel</a:t>
                      </a:r>
                      <a:r>
                        <a:rPr sz="1100" b="1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Veya  (XOR)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^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tr-TR" sz="1100" dirty="0" smtClean="0">
                          <a:latin typeface="Tahoma"/>
                          <a:cs typeface="Tahoma"/>
                        </a:rPr>
                        <a:t>Soldan sağa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b="1" spc="-5" dirty="0">
                          <a:latin typeface="Tahoma"/>
                          <a:cs typeface="Tahoma"/>
                        </a:rPr>
                        <a:t>Mantıksal 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VEYA (OR)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|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tr-TR" sz="1100" dirty="0" smtClean="0">
                          <a:latin typeface="Tahoma"/>
                          <a:cs typeface="Tahoma"/>
                        </a:rPr>
                        <a:t>Soldan sağa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b="1" spc="-5" dirty="0">
                          <a:latin typeface="Tahoma"/>
                          <a:cs typeface="Tahoma"/>
                        </a:rPr>
                        <a:t>Koşul</a:t>
                      </a:r>
                      <a:r>
                        <a:rPr sz="11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VE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&amp;&amp;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tr-TR" sz="1100" dirty="0" smtClean="0">
                          <a:latin typeface="Tahoma"/>
                          <a:cs typeface="Tahoma"/>
                        </a:rPr>
                        <a:t>Soldan sağa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b="1" spc="-5" dirty="0">
                          <a:latin typeface="Tahoma"/>
                          <a:cs typeface="Tahoma"/>
                        </a:rPr>
                        <a:t>Koşul</a:t>
                      </a:r>
                      <a:r>
                        <a:rPr sz="11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VEYA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spc="-5" dirty="0">
                          <a:latin typeface="Tahoma"/>
                          <a:cs typeface="Tahoma"/>
                        </a:rPr>
                        <a:t>||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tr-TR" sz="1100" dirty="0" smtClean="0">
                          <a:latin typeface="Tahoma"/>
                          <a:cs typeface="Tahoma"/>
                        </a:rPr>
                        <a:t>Soldan sağa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b="1" dirty="0">
                          <a:latin typeface="Tahoma"/>
                          <a:cs typeface="Tahoma"/>
                        </a:rPr>
                        <a:t>Koşul</a:t>
                      </a:r>
                      <a:r>
                        <a:rPr sz="11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Operatörü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?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: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tr-TR" sz="1100" dirty="0" smtClean="0">
                          <a:latin typeface="Tahoma"/>
                          <a:cs typeface="Tahoma"/>
                        </a:rPr>
                        <a:t>Sağdan sola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b="1" dirty="0">
                          <a:latin typeface="Tahoma"/>
                          <a:cs typeface="Tahoma"/>
                        </a:rPr>
                        <a:t>Atama ve </a:t>
                      </a:r>
                      <a:r>
                        <a:rPr sz="1100" b="1" spc="-5" dirty="0">
                          <a:latin typeface="Tahoma"/>
                          <a:cs typeface="Tahoma"/>
                        </a:rPr>
                        <a:t>İşlemli</a:t>
                      </a:r>
                      <a:r>
                        <a:rPr sz="11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Atama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=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 *= , /= ,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%=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+=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 -= ,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&lt;&lt;=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&gt;&gt;=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&amp;=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^=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,</a:t>
                      </a:r>
                      <a:r>
                        <a:rPr sz="1100" spc="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|=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tr-TR" sz="1100" dirty="0" smtClean="0">
                          <a:latin typeface="Tahoma"/>
                          <a:cs typeface="Tahoma"/>
                        </a:rPr>
                        <a:t>Sağdan sola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723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İşlem Önceliği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ÖR: </a:t>
            </a:r>
            <a:r>
              <a:rPr lang="es-ES" b="1" dirty="0"/>
              <a:t>y = </a:t>
            </a:r>
            <a:r>
              <a:rPr lang="es-ES" b="1" dirty="0" smtClean="0"/>
              <a:t>2 </a:t>
            </a:r>
            <a:r>
              <a:rPr lang="es-ES" b="1" dirty="0"/>
              <a:t>* 5 * 5 + </a:t>
            </a:r>
            <a:r>
              <a:rPr lang="tr-TR" b="1" dirty="0" smtClean="0"/>
              <a:t>15</a:t>
            </a:r>
            <a:r>
              <a:rPr lang="es-ES" b="1" dirty="0" smtClean="0"/>
              <a:t> </a:t>
            </a:r>
            <a:r>
              <a:rPr lang="tr-TR" b="1" dirty="0"/>
              <a:t>/</a:t>
            </a:r>
            <a:r>
              <a:rPr lang="es-ES" b="1" dirty="0" smtClean="0"/>
              <a:t> </a:t>
            </a:r>
            <a:r>
              <a:rPr lang="es-ES" b="1" dirty="0"/>
              <a:t>5 </a:t>
            </a:r>
            <a:r>
              <a:rPr lang="tr-TR" b="1" dirty="0" smtClean="0"/>
              <a:t>-</a:t>
            </a:r>
            <a:r>
              <a:rPr lang="es-ES" b="1" dirty="0" smtClean="0"/>
              <a:t> 7</a:t>
            </a:r>
            <a:r>
              <a:rPr lang="tr-TR" b="1" dirty="0" smtClean="0"/>
              <a:t> </a:t>
            </a:r>
            <a:r>
              <a:rPr lang="tr-TR" sz="2000" dirty="0" smtClean="0"/>
              <a:t>işleminin sonucu nedir?</a:t>
            </a:r>
          </a:p>
          <a:p>
            <a:endParaRPr lang="tr-TR" sz="2000" dirty="0"/>
          </a:p>
          <a:p>
            <a:r>
              <a:rPr lang="tr-TR" sz="2000" dirty="0" smtClean="0"/>
              <a:t>Çözüm: y = (2 * 5) * 5 + 15 </a:t>
            </a:r>
            <a:r>
              <a:rPr lang="tr-TR" sz="2000" dirty="0"/>
              <a:t>/</a:t>
            </a:r>
            <a:r>
              <a:rPr lang="tr-TR" sz="2000" dirty="0" smtClean="0"/>
              <a:t> 5 - 7</a:t>
            </a:r>
          </a:p>
          <a:p>
            <a:r>
              <a:rPr lang="tr-TR" sz="2000" dirty="0"/>
              <a:t> </a:t>
            </a:r>
            <a:r>
              <a:rPr lang="tr-TR" sz="2000" dirty="0" smtClean="0"/>
              <a:t>               = (10 * 5) + (15 </a:t>
            </a:r>
            <a:r>
              <a:rPr lang="tr-TR" sz="2000" dirty="0"/>
              <a:t>/</a:t>
            </a:r>
            <a:r>
              <a:rPr lang="tr-TR" sz="2000" dirty="0" smtClean="0"/>
              <a:t> 5) - 7</a:t>
            </a:r>
          </a:p>
          <a:p>
            <a:r>
              <a:rPr lang="tr-TR" sz="2000" dirty="0"/>
              <a:t>	 </a:t>
            </a:r>
            <a:r>
              <a:rPr lang="tr-TR" sz="2000" dirty="0" smtClean="0"/>
              <a:t>   = (50 + 3) </a:t>
            </a:r>
            <a:r>
              <a:rPr lang="tr-TR" sz="2000" dirty="0"/>
              <a:t>-</a:t>
            </a:r>
            <a:r>
              <a:rPr lang="tr-TR" sz="2000" dirty="0" smtClean="0"/>
              <a:t> 7</a:t>
            </a:r>
          </a:p>
          <a:p>
            <a:r>
              <a:rPr lang="tr-TR" sz="2000" dirty="0"/>
              <a:t>	 </a:t>
            </a:r>
            <a:r>
              <a:rPr lang="tr-TR" sz="2000" dirty="0" smtClean="0"/>
              <a:t>   = 53 + 7</a:t>
            </a:r>
          </a:p>
          <a:p>
            <a:r>
              <a:rPr lang="tr-TR" sz="2000" dirty="0"/>
              <a:t> </a:t>
            </a:r>
            <a:r>
              <a:rPr lang="tr-TR" sz="2000" dirty="0" smtClean="0"/>
              <a:t>               = 46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2229092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C# </a:t>
            </a:r>
            <a:r>
              <a:rPr lang="tr-TR" dirty="0"/>
              <a:t>Aritmetik 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391400" cy="5001344"/>
          </a:xfrm>
        </p:spPr>
        <p:txBody>
          <a:bodyPr>
            <a:normAutofit fontScale="62500" lnSpcReduction="20000"/>
          </a:bodyPr>
          <a:lstStyle/>
          <a:p>
            <a:r>
              <a:rPr lang="tr-T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ÖR Kod:</a:t>
            </a:r>
          </a:p>
          <a:p>
            <a:endParaRPr lang="tr-TR" dirty="0" smtClean="0"/>
          </a:p>
          <a:p>
            <a:r>
              <a:rPr lang="en-GB" dirty="0"/>
              <a:t>using System;</a:t>
            </a:r>
          </a:p>
          <a:p>
            <a:endParaRPr lang="en-GB" dirty="0"/>
          </a:p>
          <a:p>
            <a:r>
              <a:rPr lang="en-GB" dirty="0"/>
              <a:t>namespace </a:t>
            </a:r>
            <a:r>
              <a:rPr lang="en-GB" dirty="0" err="1"/>
              <a:t>OperatorOncelikSirasi</a:t>
            </a:r>
            <a:endParaRPr lang="en-GB" dirty="0"/>
          </a:p>
          <a:p>
            <a:r>
              <a:rPr lang="en-GB" dirty="0"/>
              <a:t>{</a:t>
            </a:r>
          </a:p>
          <a:p>
            <a:r>
              <a:rPr lang="en-GB" dirty="0"/>
              <a:t>    class Program</a:t>
            </a:r>
          </a:p>
          <a:p>
            <a:r>
              <a:rPr lang="en-GB" dirty="0"/>
              <a:t>    {</a:t>
            </a:r>
          </a:p>
          <a:p>
            <a:r>
              <a:rPr lang="en-GB" dirty="0"/>
              <a:t>        static void Main(string[] </a:t>
            </a:r>
            <a:r>
              <a:rPr lang="en-GB" dirty="0" err="1"/>
              <a:t>args</a:t>
            </a:r>
            <a:r>
              <a:rPr lang="en-GB" dirty="0"/>
              <a:t>)</a:t>
            </a:r>
          </a:p>
          <a:p>
            <a:r>
              <a:rPr lang="en-GB" dirty="0"/>
              <a:t>        {</a:t>
            </a:r>
          </a:p>
          <a:p>
            <a:r>
              <a:rPr lang="en-GB" dirty="0"/>
              <a:t>            </a:t>
            </a:r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= 5 * 4 / 6; </a:t>
            </a:r>
          </a:p>
          <a:p>
            <a:r>
              <a:rPr lang="en-GB" dirty="0"/>
              <a:t>            </a:t>
            </a:r>
            <a:r>
              <a:rPr lang="en-GB" dirty="0" err="1"/>
              <a:t>Console.WriteLine</a:t>
            </a:r>
            <a:r>
              <a:rPr lang="en-GB" dirty="0"/>
              <a:t>(</a:t>
            </a:r>
            <a:r>
              <a:rPr lang="en-GB" dirty="0" err="1"/>
              <a:t>i</a:t>
            </a:r>
            <a:r>
              <a:rPr lang="en-GB" dirty="0"/>
              <a:t>);</a:t>
            </a:r>
          </a:p>
          <a:p>
            <a:r>
              <a:rPr lang="en-GB" dirty="0"/>
              <a:t>            </a:t>
            </a:r>
            <a:r>
              <a:rPr lang="en-GB" dirty="0" err="1"/>
              <a:t>i</a:t>
            </a:r>
            <a:r>
              <a:rPr lang="en-GB" dirty="0"/>
              <a:t> = 5 * (4 / 6); </a:t>
            </a:r>
          </a:p>
          <a:p>
            <a:r>
              <a:rPr lang="en-GB" dirty="0"/>
              <a:t>            </a:t>
            </a:r>
            <a:r>
              <a:rPr lang="en-GB" dirty="0" err="1"/>
              <a:t>Console.WriteLine</a:t>
            </a:r>
            <a:r>
              <a:rPr lang="en-GB" dirty="0"/>
              <a:t>(</a:t>
            </a:r>
            <a:r>
              <a:rPr lang="en-GB" dirty="0" err="1"/>
              <a:t>i</a:t>
            </a:r>
            <a:r>
              <a:rPr lang="en-GB" dirty="0"/>
              <a:t>);</a:t>
            </a:r>
          </a:p>
          <a:p>
            <a:r>
              <a:rPr lang="en-GB" dirty="0"/>
              <a:t>            </a:t>
            </a:r>
            <a:r>
              <a:rPr lang="en-GB" dirty="0" err="1"/>
              <a:t>Console.ReadKey</a:t>
            </a:r>
            <a:r>
              <a:rPr lang="en-GB" dirty="0"/>
              <a:t>();</a:t>
            </a:r>
          </a:p>
          <a:p>
            <a:r>
              <a:rPr lang="en-GB" dirty="0"/>
              <a:t>        }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}</a:t>
            </a:r>
            <a:endParaRPr lang="en-GB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0" y="5517232"/>
            <a:ext cx="4943475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534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C# </a:t>
            </a:r>
            <a:r>
              <a:rPr lang="tr-TR" dirty="0"/>
              <a:t>Aritmetik 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tr-T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ÖR Kod</a:t>
            </a:r>
            <a:r>
              <a:rPr lang="tr-T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tr-TR" dirty="0" smtClean="0"/>
          </a:p>
          <a:p>
            <a:r>
              <a:rPr lang="en-GB" dirty="0" smtClean="0"/>
              <a:t>using </a:t>
            </a:r>
            <a:r>
              <a:rPr lang="en-GB" dirty="0"/>
              <a:t>System;</a:t>
            </a:r>
          </a:p>
          <a:p>
            <a:endParaRPr lang="en-GB" dirty="0"/>
          </a:p>
          <a:p>
            <a:r>
              <a:rPr lang="en-GB" dirty="0"/>
              <a:t>namespace </a:t>
            </a:r>
            <a:r>
              <a:rPr lang="en-GB" dirty="0" err="1"/>
              <a:t>OperatorOncelikSirasi</a:t>
            </a:r>
            <a:endParaRPr lang="en-GB" dirty="0"/>
          </a:p>
          <a:p>
            <a:r>
              <a:rPr lang="en-GB" dirty="0"/>
              <a:t>{</a:t>
            </a:r>
          </a:p>
          <a:p>
            <a:r>
              <a:rPr lang="en-GB" dirty="0"/>
              <a:t>    class Program</a:t>
            </a:r>
          </a:p>
          <a:p>
            <a:r>
              <a:rPr lang="en-GB" dirty="0"/>
              <a:t>    {</a:t>
            </a:r>
          </a:p>
          <a:p>
            <a:r>
              <a:rPr lang="en-GB" dirty="0"/>
              <a:t>        static void Main(string[] </a:t>
            </a:r>
            <a:r>
              <a:rPr lang="en-GB" dirty="0" err="1"/>
              <a:t>args</a:t>
            </a:r>
            <a:r>
              <a:rPr lang="en-GB" dirty="0"/>
              <a:t>)</a:t>
            </a:r>
          </a:p>
          <a:p>
            <a:r>
              <a:rPr lang="en-GB" dirty="0"/>
              <a:t>        </a:t>
            </a:r>
            <a:r>
              <a:rPr lang="en-GB" dirty="0" smtClean="0"/>
              <a:t>{</a:t>
            </a:r>
            <a:endParaRPr lang="en-GB" dirty="0"/>
          </a:p>
          <a:p>
            <a:r>
              <a:rPr lang="en-GB" dirty="0"/>
              <a:t>            </a:t>
            </a:r>
            <a:r>
              <a:rPr lang="en-GB" dirty="0" err="1"/>
              <a:t>int</a:t>
            </a:r>
            <a:r>
              <a:rPr lang="en-GB" dirty="0"/>
              <a:t> </a:t>
            </a:r>
            <a:r>
              <a:rPr lang="tr-TR" dirty="0" smtClean="0"/>
              <a:t>i</a:t>
            </a:r>
            <a:r>
              <a:rPr lang="en-GB" dirty="0" smtClean="0"/>
              <a:t> </a:t>
            </a:r>
            <a:r>
              <a:rPr lang="en-GB" dirty="0"/>
              <a:t>= 4 + -6;</a:t>
            </a:r>
          </a:p>
          <a:p>
            <a:r>
              <a:rPr lang="en-GB" dirty="0"/>
              <a:t>            </a:t>
            </a:r>
            <a:r>
              <a:rPr lang="en-GB" dirty="0" err="1" smtClean="0"/>
              <a:t>Console.WriteLine</a:t>
            </a:r>
            <a:r>
              <a:rPr lang="en-GB" dirty="0" smtClean="0"/>
              <a:t>(</a:t>
            </a:r>
            <a:r>
              <a:rPr lang="tr-TR" dirty="0" smtClean="0"/>
              <a:t>i</a:t>
            </a:r>
            <a:r>
              <a:rPr lang="en-GB" dirty="0" smtClean="0"/>
              <a:t>);</a:t>
            </a:r>
            <a:endParaRPr lang="en-GB" dirty="0"/>
          </a:p>
          <a:p>
            <a:endParaRPr lang="en-GB" dirty="0"/>
          </a:p>
          <a:p>
            <a:r>
              <a:rPr lang="en-GB" dirty="0"/>
              <a:t>            </a:t>
            </a:r>
            <a:r>
              <a:rPr lang="en-GB" dirty="0" err="1"/>
              <a:t>Console.ReadKey</a:t>
            </a:r>
            <a:r>
              <a:rPr lang="en-GB" dirty="0"/>
              <a:t>();</a:t>
            </a:r>
          </a:p>
          <a:p>
            <a:r>
              <a:rPr lang="en-GB" dirty="0"/>
              <a:t>        }</a:t>
            </a:r>
          </a:p>
          <a:p>
            <a:r>
              <a:rPr lang="en-GB" dirty="0"/>
              <a:t>    }</a:t>
            </a:r>
          </a:p>
          <a:p>
            <a:r>
              <a:rPr lang="en-GB" dirty="0"/>
              <a:t>}</a:t>
            </a:r>
            <a:endParaRPr lang="en-GB" sz="2000" dirty="0">
              <a:latin typeface="Courier New"/>
              <a:cs typeface="Courier New"/>
            </a:endParaRPr>
          </a:p>
          <a:p>
            <a:endParaRPr lang="tr-TR" sz="20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100" y="5373216"/>
            <a:ext cx="425767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55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C# </a:t>
            </a:r>
            <a:r>
              <a:rPr lang="tr-TR" dirty="0"/>
              <a:t>Aritmetik 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43000" y="1524000"/>
            <a:ext cx="7391400" cy="5217368"/>
          </a:xfrm>
        </p:spPr>
        <p:txBody>
          <a:bodyPr>
            <a:noAutofit/>
          </a:bodyPr>
          <a:lstStyle/>
          <a:p>
            <a:r>
              <a:rPr lang="tr-T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ÖR Kod</a:t>
            </a:r>
            <a:r>
              <a:rPr lang="tr-TR" sz="1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tr-TR" sz="1600" dirty="0" smtClean="0"/>
          </a:p>
          <a:p>
            <a:r>
              <a:rPr lang="en-GB" sz="1400" dirty="0"/>
              <a:t>using System</a:t>
            </a:r>
            <a:r>
              <a:rPr lang="en-GB" sz="1400" dirty="0" smtClean="0"/>
              <a:t>;</a:t>
            </a:r>
            <a:endParaRPr lang="en-GB" sz="1400" dirty="0"/>
          </a:p>
          <a:p>
            <a:r>
              <a:rPr lang="en-GB" sz="1400" dirty="0"/>
              <a:t>namespace </a:t>
            </a:r>
            <a:r>
              <a:rPr lang="en-GB" sz="1400" dirty="0" err="1"/>
              <a:t>OperatorOncelikSirasi</a:t>
            </a:r>
            <a:endParaRPr lang="en-GB" sz="1400" dirty="0"/>
          </a:p>
          <a:p>
            <a:r>
              <a:rPr lang="en-GB" sz="1400" dirty="0"/>
              <a:t>{</a:t>
            </a:r>
          </a:p>
          <a:p>
            <a:r>
              <a:rPr lang="en-GB" sz="1400" dirty="0"/>
              <a:t>    class Program</a:t>
            </a:r>
          </a:p>
          <a:p>
            <a:r>
              <a:rPr lang="en-GB" sz="1400" dirty="0"/>
              <a:t>    {</a:t>
            </a:r>
          </a:p>
          <a:p>
            <a:r>
              <a:rPr lang="en-GB" sz="1400" dirty="0"/>
              <a:t>        static void Main(string[] </a:t>
            </a:r>
            <a:r>
              <a:rPr lang="en-GB" sz="1400" dirty="0" err="1"/>
              <a:t>args</a:t>
            </a:r>
            <a:r>
              <a:rPr lang="en-GB" sz="1400" dirty="0"/>
              <a:t>)</a:t>
            </a:r>
          </a:p>
          <a:p>
            <a:r>
              <a:rPr lang="en-GB" sz="1400" dirty="0"/>
              <a:t>        {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int</a:t>
            </a:r>
            <a:r>
              <a:rPr lang="en-GB" sz="1400" dirty="0"/>
              <a:t> </a:t>
            </a:r>
            <a:r>
              <a:rPr lang="en-GB" sz="1400" dirty="0" err="1"/>
              <a:t>i</a:t>
            </a:r>
            <a:r>
              <a:rPr lang="en-GB" sz="1400" dirty="0"/>
              <a:t> = 5 / 4;</a:t>
            </a:r>
          </a:p>
          <a:p>
            <a:r>
              <a:rPr lang="en-GB" sz="1400" dirty="0"/>
              <a:t>            float f1 = 5 / 4; </a:t>
            </a:r>
          </a:p>
          <a:p>
            <a:r>
              <a:rPr lang="en-GB" sz="1400" dirty="0"/>
              <a:t>            float f2 = 5f / 4f;</a:t>
            </a:r>
          </a:p>
          <a:p>
            <a:endParaRPr lang="en-GB" sz="1400" dirty="0"/>
          </a:p>
          <a:p>
            <a:r>
              <a:rPr lang="en-GB" sz="1400" dirty="0"/>
              <a:t>            </a:t>
            </a:r>
            <a:r>
              <a:rPr lang="en-GB" sz="1400" dirty="0" err="1"/>
              <a:t>Console.WriteLine</a:t>
            </a:r>
            <a:r>
              <a:rPr lang="en-GB" sz="1400" dirty="0"/>
              <a:t>(</a:t>
            </a:r>
            <a:r>
              <a:rPr lang="en-GB" sz="1400" dirty="0" err="1"/>
              <a:t>i</a:t>
            </a:r>
            <a:r>
              <a:rPr lang="en-GB" sz="1400" dirty="0"/>
              <a:t>); 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Console.WriteLine</a:t>
            </a:r>
            <a:r>
              <a:rPr lang="en-GB" sz="1400" dirty="0"/>
              <a:t>(f1); </a:t>
            </a:r>
          </a:p>
          <a:p>
            <a:r>
              <a:rPr lang="en-GB" sz="1400" dirty="0"/>
              <a:t>            </a:t>
            </a:r>
            <a:r>
              <a:rPr lang="en-GB" sz="1400" dirty="0" err="1"/>
              <a:t>Console.WriteLine</a:t>
            </a:r>
            <a:r>
              <a:rPr lang="en-GB" sz="1400" dirty="0"/>
              <a:t>(f2</a:t>
            </a:r>
            <a:r>
              <a:rPr lang="en-GB" sz="1400" dirty="0" smtClean="0"/>
              <a:t>);</a:t>
            </a:r>
            <a:endParaRPr lang="en-GB" sz="1400" dirty="0"/>
          </a:p>
          <a:p>
            <a:r>
              <a:rPr lang="en-GB" sz="1400" dirty="0"/>
              <a:t>            </a:t>
            </a:r>
            <a:r>
              <a:rPr lang="en-GB" sz="1400" dirty="0" err="1"/>
              <a:t>Console.ReadKey</a:t>
            </a:r>
            <a:r>
              <a:rPr lang="en-GB" sz="1400" dirty="0"/>
              <a:t>();</a:t>
            </a:r>
          </a:p>
          <a:p>
            <a:r>
              <a:rPr lang="en-GB" sz="1400" dirty="0"/>
              <a:t>        }</a:t>
            </a:r>
          </a:p>
          <a:p>
            <a:r>
              <a:rPr lang="en-GB" sz="1400" dirty="0"/>
              <a:t>    }</a:t>
            </a:r>
          </a:p>
          <a:p>
            <a:r>
              <a:rPr lang="en-GB" sz="1400" dirty="0"/>
              <a:t>}</a:t>
            </a:r>
            <a:endParaRPr lang="tr-TR" sz="10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0" y="5445224"/>
            <a:ext cx="431482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23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Özel Amaçlı Operatörler</a:t>
            </a:r>
            <a:endParaRPr lang="en-GB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>
              <a:buFont typeface="Wingdings" panose="05000000000000000000" pitchFamily="2" charset="2"/>
              <a:buChar char="q"/>
            </a:pPr>
            <a:r>
              <a:rPr lang="tr-T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Operatörü</a:t>
            </a:r>
          </a:p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sz="2000" dirty="0" smtClean="0"/>
              <a:t>Bir sınıfın ya da yapının elemanlarına ulaşmak için kullanılır.</a:t>
            </a:r>
          </a:p>
          <a:p>
            <a:pPr marL="1149350" lvl="1" indent="-457200">
              <a:buFont typeface="Wingdings" panose="05000000000000000000" pitchFamily="2" charset="2"/>
              <a:buChar char="Ø"/>
            </a:pPr>
            <a:r>
              <a:rPr lang="tr-TR" sz="1700" dirty="0" err="1" smtClean="0"/>
              <a:t>Console.WriteLine</a:t>
            </a:r>
            <a:r>
              <a:rPr lang="tr-TR" sz="1700" dirty="0" smtClean="0"/>
              <a:t>();</a:t>
            </a:r>
          </a:p>
          <a:p>
            <a:pPr marL="502920" indent="-457200">
              <a:buFont typeface="Wingdings" panose="05000000000000000000" pitchFamily="2" charset="2"/>
              <a:buChar char="q"/>
            </a:pPr>
            <a:r>
              <a:rPr lang="tr-T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 Operatörü</a:t>
            </a:r>
          </a:p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sz="2000" dirty="0" smtClean="0"/>
              <a:t>Yeni nesne tanımlamak için kullanılır.</a:t>
            </a:r>
          </a:p>
          <a:p>
            <a:pPr marL="1149350" lvl="1" indent="-457200">
              <a:buFont typeface="Wingdings" panose="05000000000000000000" pitchFamily="2" charset="2"/>
              <a:buChar char="Ø"/>
            </a:pPr>
            <a:r>
              <a:rPr lang="tr-TR" sz="1700" dirty="0" err="1"/>
              <a:t>int</a:t>
            </a:r>
            <a:r>
              <a:rPr lang="tr-TR" sz="1700" dirty="0"/>
              <a:t>[] </a:t>
            </a:r>
            <a:r>
              <a:rPr lang="tr-TR" sz="1700" dirty="0" err="1"/>
              <a:t>arr</a:t>
            </a:r>
            <a:r>
              <a:rPr lang="tr-TR" sz="1700" dirty="0"/>
              <a:t>= </a:t>
            </a:r>
            <a:r>
              <a:rPr lang="tr-TR" sz="1700" dirty="0" err="1"/>
              <a:t>new</a:t>
            </a:r>
            <a:r>
              <a:rPr lang="tr-TR" sz="1700" dirty="0"/>
              <a:t> </a:t>
            </a:r>
            <a:r>
              <a:rPr lang="tr-TR" sz="1700" dirty="0" err="1"/>
              <a:t>int</a:t>
            </a:r>
            <a:r>
              <a:rPr lang="tr-TR" sz="1700" dirty="0"/>
              <a:t>[10</a:t>
            </a:r>
            <a:r>
              <a:rPr lang="tr-TR" sz="1700" dirty="0" smtClean="0"/>
              <a:t>];</a:t>
            </a:r>
          </a:p>
          <a:p>
            <a:pPr marL="502920" indent="-457200">
              <a:buFont typeface="Wingdings" panose="05000000000000000000" pitchFamily="2" charset="2"/>
              <a:buChar char="q"/>
            </a:pPr>
            <a:r>
              <a:rPr lang="en-GB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checked </a:t>
            </a:r>
            <a:r>
              <a:rPr lang="en-GB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</a:t>
            </a:r>
            <a:r>
              <a:rPr lang="en-GB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unchecked </a:t>
            </a:r>
            <a:r>
              <a:rPr lang="en-GB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Operatörleri</a:t>
            </a:r>
            <a:endParaRPr lang="en-GB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02920" indent="-457200">
              <a:buFont typeface="Wingdings" panose="05000000000000000000" pitchFamily="2" charset="2"/>
              <a:buChar char="Ø"/>
            </a:pPr>
            <a:r>
              <a:rPr lang="tr-TR" sz="2000" dirty="0" smtClean="0"/>
              <a:t>Veri türünü daha küçük tiplere dönüştürürken veri kaybı olduğunda hata vermesini istiyorsak </a:t>
            </a:r>
            <a:r>
              <a:rPr lang="tr-TR" sz="2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checked</a:t>
            </a:r>
            <a:r>
              <a:rPr lang="tr-TR" sz="2000" dirty="0" smtClean="0"/>
              <a:t>; istemiyorsak </a:t>
            </a:r>
            <a:r>
              <a:rPr lang="tr-TR" sz="2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unchecked</a:t>
            </a:r>
            <a:r>
              <a:rPr lang="tr-TR" sz="2000" dirty="0" smtClean="0"/>
              <a:t> kullanılır.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2071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BF7E1A-4726-4A4D-936E-1547410B3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>
                <a:latin typeface="Arial" panose="020B0604020202020204" pitchFamily="34" charset="0"/>
              </a:rPr>
              <a:t>Teşekkürler</a:t>
            </a:r>
            <a:endParaRPr lang="tr-TR" dirty="0">
              <a:latin typeface="Arial" panose="020B0604020202020204" pitchFamily="34" charset="0"/>
            </a:endParaRPr>
          </a:p>
        </p:txBody>
      </p:sp>
      <p:sp>
        <p:nvSpPr>
          <p:cNvPr id="4" name="Metin Yer Tutucusu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717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tış eğitimi sunusu">
  <a:themeElements>
    <a:clrScheme name="Sales Training_final2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Sales Training_final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692150" marR="0" indent="-347663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70000"/>
          <a:buFont typeface="Wingdings" pitchFamily="2" charset="2"/>
          <a:buChar char="l"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692150" marR="0" indent="-347663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70000"/>
          <a:buFont typeface="Wingdings" pitchFamily="2" charset="2"/>
          <a:buChar char="l"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les Training_final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les Training_final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les Training_final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_26714067_TF02819076" id="{E31F1C6B-7E02-4139-9FF8-9E6BFA94BC44}" vid="{1FD1549A-4032-4B7C-9579-369478E37A3B}"/>
    </a:ext>
  </a:ext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Satış eğitimi slaytları</Template>
  <TotalTime>7928</TotalTime>
  <Words>2063</Words>
  <Application>Microsoft Office PowerPoint</Application>
  <PresentationFormat>Ekran Gösterisi (4:3)</PresentationFormat>
  <Paragraphs>437</Paragraphs>
  <Slides>42</Slides>
  <Notes>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11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42</vt:i4>
      </vt:variant>
    </vt:vector>
  </HeadingPairs>
  <TitlesOfParts>
    <vt:vector size="54" baseType="lpstr">
      <vt:lpstr>Arial</vt:lpstr>
      <vt:lpstr>Barlow Condensed ExtraLight</vt:lpstr>
      <vt:lpstr>Cambria</vt:lpstr>
      <vt:lpstr>Cambria Math</vt:lpstr>
      <vt:lpstr>Carlito</vt:lpstr>
      <vt:lpstr>Courier New</vt:lpstr>
      <vt:lpstr>Haettenschweiler</vt:lpstr>
      <vt:lpstr>Tahoma</vt:lpstr>
      <vt:lpstr>Times New Roman</vt:lpstr>
      <vt:lpstr>Trebuchet MS</vt:lpstr>
      <vt:lpstr>Wingdings</vt:lpstr>
      <vt:lpstr>Satış eğitimi sunusu</vt:lpstr>
      <vt:lpstr>BM201 Görsel  Programlamaya Giriş</vt:lpstr>
      <vt:lpstr>Amaç</vt:lpstr>
      <vt:lpstr>C# (Si-Şarp) nedir?</vt:lpstr>
      <vt:lpstr>C# Nitelikleri</vt:lpstr>
      <vt:lpstr>C#’ın Başlıca Uygulamaları</vt:lpstr>
      <vt:lpstr>Çalıştırılabilir Kod Oluşturma</vt:lpstr>
      <vt:lpstr>«Merhaba Dünya» Console Uygulaması</vt:lpstr>
      <vt:lpstr>«Merhaba Dünya» Form Uygulaması</vt:lpstr>
      <vt:lpstr>C# Veri Türleri</vt:lpstr>
      <vt:lpstr>C# Veri Türleri</vt:lpstr>
      <vt:lpstr>C# Veri Türleri</vt:lpstr>
      <vt:lpstr>C# Veri Türleri</vt:lpstr>
      <vt:lpstr>C# Veri Türleri</vt:lpstr>
      <vt:lpstr>C# Operatörleri</vt:lpstr>
      <vt:lpstr>C# Operatörler Çeşitleri (Görevlerine Göre)</vt:lpstr>
      <vt:lpstr>Aritmetik Operatörler</vt:lpstr>
      <vt:lpstr>Aritmetik Operatörler</vt:lpstr>
      <vt:lpstr>Aritmetik Operatörler</vt:lpstr>
      <vt:lpstr>Aritmetik Operatörler</vt:lpstr>
      <vt:lpstr>Aritmetik Operatörler</vt:lpstr>
      <vt:lpstr>Karşılaştırma Operatörler</vt:lpstr>
      <vt:lpstr>Karşılaştırma Operatörler</vt:lpstr>
      <vt:lpstr>Karşılaştırma Operatörler</vt:lpstr>
      <vt:lpstr>Mantıksal Operatörler</vt:lpstr>
      <vt:lpstr>Mantıksal Operatörler</vt:lpstr>
      <vt:lpstr>Mantıksal Operatörler</vt:lpstr>
      <vt:lpstr>Mantıksal Operatörler</vt:lpstr>
      <vt:lpstr>Bitsel Operatörler</vt:lpstr>
      <vt:lpstr>Bitsel Operatörler</vt:lpstr>
      <vt:lpstr>Bitsel Operatörler</vt:lpstr>
      <vt:lpstr>Bitsel Operatörler</vt:lpstr>
      <vt:lpstr>Bitsel Operatörler</vt:lpstr>
      <vt:lpstr>Atama ve İşlemli Atama Operatörler</vt:lpstr>
      <vt:lpstr>Atama ve İşlemli Atama Operatörler</vt:lpstr>
      <vt:lpstr>C# Operatör Önceliği</vt:lpstr>
      <vt:lpstr>Operatör Öncelik Tablosu</vt:lpstr>
      <vt:lpstr>İşlem Önceliği</vt:lpstr>
      <vt:lpstr>C# Aritmetik Operatörler</vt:lpstr>
      <vt:lpstr>C# Aritmetik Operatörler</vt:lpstr>
      <vt:lpstr>C# Aritmetik Operatörler</vt:lpstr>
      <vt:lpstr>Özel Amaçlı Operatörler</vt:lpstr>
      <vt:lpstr>Teşekkürler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BM108 Bilgisayar Mühendisliğine Giriş</dc:title>
  <dc:creator>user</dc:creator>
  <cp:lastModifiedBy>user</cp:lastModifiedBy>
  <cp:revision>274</cp:revision>
  <dcterms:created xsi:type="dcterms:W3CDTF">2020-10-09T08:01:48Z</dcterms:created>
  <dcterms:modified xsi:type="dcterms:W3CDTF">2024-09-24T09:43:03Z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