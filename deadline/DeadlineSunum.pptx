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Garet Bold" charset="1" panose="00000000000000000000"/>
      <p:regular r:id="rId37"/>
    </p:embeddedFont>
    <p:embeddedFont>
      <p:font typeface="Poppins Ultra-Bold" charset="1" panose="00000900000000000000"/>
      <p:regular r:id="rId38"/>
    </p:embeddedFont>
    <p:embeddedFont>
      <p:font typeface="Garet" charset="1" panose="00000000000000000000"/>
      <p:regular r:id="rId39"/>
    </p:embeddedFont>
    <p:embeddedFont>
      <p:font typeface="Montserrat Bold" charset="1" panose="00000800000000000000"/>
      <p:regular r:id="rId40"/>
    </p:embeddedFont>
    <p:embeddedFont>
      <p:font typeface="Open Sans Bold" charset="1" panose="020B0806030504020204"/>
      <p:regular r:id="rId41"/>
    </p:embeddedFont>
    <p:embeddedFont>
      <p:font typeface="Open Sans" charset="1" panose="020B0606030504020204"/>
      <p:regular r:id="rId42"/>
    </p:embeddedFont>
    <p:embeddedFont>
      <p:font typeface="Garet Ultra-Bold" charset="1" panose="00000000000000000000"/>
      <p:regular r:id="rId43"/>
    </p:embeddedFont>
    <p:embeddedFont>
      <p:font typeface="Garet Italics" charset="1" panose="00000000000000000000"/>
      <p:regular r:id="rId44"/>
    </p:embeddedFont>
    <p:embeddedFont>
      <p:font typeface="Garet Bold Italics"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embeddings/oleObject1.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11" Target="../media/image29.png" Type="http://schemas.openxmlformats.org/officeDocument/2006/relationships/image"/><Relationship Id="rId12" Target="../media/image27.png" Type="http://schemas.openxmlformats.org/officeDocument/2006/relationships/image"/><Relationship Id="rId13" Target="../media/image30.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8.jpe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2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44.png" Type="http://schemas.openxmlformats.org/officeDocument/2006/relationships/image"/><Relationship Id="rId8" Target="../embeddings/oleObject2.bin" Type="http://schemas.openxmlformats.org/officeDocument/2006/relationships/oleObjec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2959104" y="-2431022"/>
            <a:ext cx="12718022" cy="12718022"/>
          </a:xfrm>
          <a:custGeom>
            <a:avLst/>
            <a:gdLst/>
            <a:ahLst/>
            <a:cxnLst/>
            <a:rect r="r" b="b" t="t" l="l"/>
            <a:pathLst>
              <a:path h="12718022" w="12718022">
                <a:moveTo>
                  <a:pt x="0" y="0"/>
                </a:moveTo>
                <a:lnTo>
                  <a:pt x="12718022" y="0"/>
                </a:lnTo>
                <a:lnTo>
                  <a:pt x="12718022" y="12718022"/>
                </a:lnTo>
                <a:lnTo>
                  <a:pt x="0" y="12718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50525" y="1042955"/>
            <a:ext cx="2996328" cy="3213221"/>
          </a:xfrm>
          <a:custGeom>
            <a:avLst/>
            <a:gdLst/>
            <a:ahLst/>
            <a:cxnLst/>
            <a:rect r="r" b="b" t="t" l="l"/>
            <a:pathLst>
              <a:path h="3213221" w="2996328">
                <a:moveTo>
                  <a:pt x="0" y="0"/>
                </a:moveTo>
                <a:lnTo>
                  <a:pt x="2996329" y="0"/>
                </a:lnTo>
                <a:lnTo>
                  <a:pt x="2996329" y="3213221"/>
                </a:lnTo>
                <a:lnTo>
                  <a:pt x="0" y="3213221"/>
                </a:lnTo>
                <a:lnTo>
                  <a:pt x="0" y="0"/>
                </a:lnTo>
                <a:close/>
              </a:path>
            </a:pathLst>
          </a:custGeom>
          <a:blipFill>
            <a:blip r:embed="rId4"/>
            <a:stretch>
              <a:fillRect l="0" t="0" r="0" b="0"/>
            </a:stretch>
          </a:blipFill>
        </p:spPr>
      </p:sp>
      <p:sp>
        <p:nvSpPr>
          <p:cNvPr name="Freeform 4" id="4"/>
          <p:cNvSpPr/>
          <p:nvPr/>
        </p:nvSpPr>
        <p:spPr>
          <a:xfrm flipH="false" flipV="false" rot="0">
            <a:off x="4844842" y="4535453"/>
            <a:ext cx="4666656" cy="4299157"/>
          </a:xfrm>
          <a:custGeom>
            <a:avLst/>
            <a:gdLst/>
            <a:ahLst/>
            <a:cxnLst/>
            <a:rect r="r" b="b" t="t" l="l"/>
            <a:pathLst>
              <a:path h="4299157" w="4666656">
                <a:moveTo>
                  <a:pt x="0" y="0"/>
                </a:moveTo>
                <a:lnTo>
                  <a:pt x="4666656" y="0"/>
                </a:lnTo>
                <a:lnTo>
                  <a:pt x="4666656" y="4299156"/>
                </a:lnTo>
                <a:lnTo>
                  <a:pt x="0" y="4299156"/>
                </a:lnTo>
                <a:lnTo>
                  <a:pt x="0" y="0"/>
                </a:lnTo>
                <a:close/>
              </a:path>
            </a:pathLst>
          </a:custGeom>
          <a:blipFill>
            <a:blip r:embed="rId5"/>
            <a:stretch>
              <a:fillRect l="0" t="0" r="0" b="0"/>
            </a:stretch>
          </a:blipFill>
        </p:spPr>
      </p:sp>
      <p:sp>
        <p:nvSpPr>
          <p:cNvPr name="Freeform 5" id="5"/>
          <p:cNvSpPr/>
          <p:nvPr/>
        </p:nvSpPr>
        <p:spPr>
          <a:xfrm flipH="false" flipV="false" rot="0">
            <a:off x="332526" y="-723354"/>
            <a:ext cx="2031814" cy="1871809"/>
          </a:xfrm>
          <a:custGeom>
            <a:avLst/>
            <a:gdLst/>
            <a:ahLst/>
            <a:cxnLst/>
            <a:rect r="r" b="b" t="t" l="l"/>
            <a:pathLst>
              <a:path h="1871809" w="2031814">
                <a:moveTo>
                  <a:pt x="0" y="0"/>
                </a:moveTo>
                <a:lnTo>
                  <a:pt x="2031814" y="0"/>
                </a:lnTo>
                <a:lnTo>
                  <a:pt x="2031814" y="1871809"/>
                </a:lnTo>
                <a:lnTo>
                  <a:pt x="0" y="1871809"/>
                </a:lnTo>
                <a:lnTo>
                  <a:pt x="0" y="0"/>
                </a:lnTo>
                <a:close/>
              </a:path>
            </a:pathLst>
          </a:custGeom>
          <a:blipFill>
            <a:blip r:embed="rId5"/>
            <a:stretch>
              <a:fillRect l="0" t="0" r="0" b="0"/>
            </a:stretch>
          </a:blipFill>
        </p:spPr>
      </p:sp>
      <p:sp>
        <p:nvSpPr>
          <p:cNvPr name="Freeform 6" id="6"/>
          <p:cNvSpPr/>
          <p:nvPr/>
        </p:nvSpPr>
        <p:spPr>
          <a:xfrm flipH="false" flipV="false" rot="0">
            <a:off x="-1015907" y="1493773"/>
            <a:ext cx="2031814" cy="1871809"/>
          </a:xfrm>
          <a:custGeom>
            <a:avLst/>
            <a:gdLst/>
            <a:ahLst/>
            <a:cxnLst/>
            <a:rect r="r" b="b" t="t" l="l"/>
            <a:pathLst>
              <a:path h="1871809" w="2031814">
                <a:moveTo>
                  <a:pt x="0" y="0"/>
                </a:moveTo>
                <a:lnTo>
                  <a:pt x="2031814" y="0"/>
                </a:lnTo>
                <a:lnTo>
                  <a:pt x="2031814" y="1871809"/>
                </a:lnTo>
                <a:lnTo>
                  <a:pt x="0" y="1871809"/>
                </a:lnTo>
                <a:lnTo>
                  <a:pt x="0" y="0"/>
                </a:lnTo>
                <a:close/>
              </a:path>
            </a:pathLst>
          </a:custGeom>
          <a:blipFill>
            <a:blip r:embed="rId5"/>
            <a:stretch>
              <a:fillRect l="0" t="0" r="0" b="0"/>
            </a:stretch>
          </a:blipFill>
        </p:spPr>
      </p:sp>
      <p:sp>
        <p:nvSpPr>
          <p:cNvPr name="Freeform 7" id="7"/>
          <p:cNvSpPr/>
          <p:nvPr/>
        </p:nvSpPr>
        <p:spPr>
          <a:xfrm flipH="false" flipV="false" rot="0">
            <a:off x="17259300" y="6411399"/>
            <a:ext cx="2031814" cy="1871809"/>
          </a:xfrm>
          <a:custGeom>
            <a:avLst/>
            <a:gdLst/>
            <a:ahLst/>
            <a:cxnLst/>
            <a:rect r="r" b="b" t="t" l="l"/>
            <a:pathLst>
              <a:path h="1871809" w="2031814">
                <a:moveTo>
                  <a:pt x="0" y="0"/>
                </a:moveTo>
                <a:lnTo>
                  <a:pt x="2031814" y="0"/>
                </a:lnTo>
                <a:lnTo>
                  <a:pt x="2031814" y="1871809"/>
                </a:lnTo>
                <a:lnTo>
                  <a:pt x="0" y="1871809"/>
                </a:lnTo>
                <a:lnTo>
                  <a:pt x="0" y="0"/>
                </a:lnTo>
                <a:close/>
              </a:path>
            </a:pathLst>
          </a:custGeom>
          <a:blipFill>
            <a:blip r:embed="rId5"/>
            <a:stretch>
              <a:fillRect l="0" t="0" r="0" b="0"/>
            </a:stretch>
          </a:blipFill>
        </p:spPr>
      </p:sp>
      <p:sp>
        <p:nvSpPr>
          <p:cNvPr name="Freeform 8" id="8"/>
          <p:cNvSpPr/>
          <p:nvPr/>
        </p:nvSpPr>
        <p:spPr>
          <a:xfrm flipH="false" flipV="false" rot="0">
            <a:off x="16243393" y="9258300"/>
            <a:ext cx="2031814" cy="1871809"/>
          </a:xfrm>
          <a:custGeom>
            <a:avLst/>
            <a:gdLst/>
            <a:ahLst/>
            <a:cxnLst/>
            <a:rect r="r" b="b" t="t" l="l"/>
            <a:pathLst>
              <a:path h="1871809" w="2031814">
                <a:moveTo>
                  <a:pt x="0" y="0"/>
                </a:moveTo>
                <a:lnTo>
                  <a:pt x="2031814" y="0"/>
                </a:lnTo>
                <a:lnTo>
                  <a:pt x="2031814" y="1871809"/>
                </a:lnTo>
                <a:lnTo>
                  <a:pt x="0" y="1871809"/>
                </a:lnTo>
                <a:lnTo>
                  <a:pt x="0" y="0"/>
                </a:lnTo>
                <a:close/>
              </a:path>
            </a:pathLst>
          </a:custGeom>
          <a:blipFill>
            <a:blip r:embed="rId5"/>
            <a:stretch>
              <a:fillRect l="0" t="0" r="0" b="0"/>
            </a:stretch>
          </a:blipFill>
        </p:spPr>
      </p:sp>
      <p:sp>
        <p:nvSpPr>
          <p:cNvPr name="Freeform 9" id="9"/>
          <p:cNvSpPr/>
          <p:nvPr/>
        </p:nvSpPr>
        <p:spPr>
          <a:xfrm flipH="false" flipV="false" rot="0">
            <a:off x="11587106" y="1148455"/>
            <a:ext cx="1255598" cy="2562444"/>
          </a:xfrm>
          <a:custGeom>
            <a:avLst/>
            <a:gdLst/>
            <a:ahLst/>
            <a:cxnLst/>
            <a:rect r="r" b="b" t="t" l="l"/>
            <a:pathLst>
              <a:path h="2562444" w="1255598">
                <a:moveTo>
                  <a:pt x="0" y="0"/>
                </a:moveTo>
                <a:lnTo>
                  <a:pt x="1255598" y="0"/>
                </a:lnTo>
                <a:lnTo>
                  <a:pt x="1255598" y="2562445"/>
                </a:lnTo>
                <a:lnTo>
                  <a:pt x="0" y="2562445"/>
                </a:lnTo>
                <a:lnTo>
                  <a:pt x="0" y="0"/>
                </a:lnTo>
                <a:close/>
              </a:path>
            </a:pathLst>
          </a:custGeom>
          <a:blipFill>
            <a:blip r:embed="rId6"/>
            <a:stretch>
              <a:fillRect l="0" t="0" r="0" b="0"/>
            </a:stretch>
          </a:blipFill>
        </p:spPr>
      </p:sp>
      <p:sp>
        <p:nvSpPr>
          <p:cNvPr name="Freeform 10" id="10"/>
          <p:cNvSpPr/>
          <p:nvPr/>
        </p:nvSpPr>
        <p:spPr>
          <a:xfrm flipH="false" flipV="false" rot="0">
            <a:off x="15615594" y="-1519489"/>
            <a:ext cx="1255598" cy="2562444"/>
          </a:xfrm>
          <a:custGeom>
            <a:avLst/>
            <a:gdLst/>
            <a:ahLst/>
            <a:cxnLst/>
            <a:rect r="r" b="b" t="t" l="l"/>
            <a:pathLst>
              <a:path h="2562444" w="1255598">
                <a:moveTo>
                  <a:pt x="0" y="0"/>
                </a:moveTo>
                <a:lnTo>
                  <a:pt x="1255598" y="0"/>
                </a:lnTo>
                <a:lnTo>
                  <a:pt x="1255598" y="2562444"/>
                </a:lnTo>
                <a:lnTo>
                  <a:pt x="0" y="2562444"/>
                </a:lnTo>
                <a:lnTo>
                  <a:pt x="0" y="0"/>
                </a:lnTo>
                <a:close/>
              </a:path>
            </a:pathLst>
          </a:custGeom>
          <a:blipFill>
            <a:blip r:embed="rId6"/>
            <a:stretch>
              <a:fillRect l="0" t="0" r="0" b="0"/>
            </a:stretch>
          </a:blipFill>
        </p:spPr>
      </p:sp>
      <p:sp>
        <p:nvSpPr>
          <p:cNvPr name="Freeform 11" id="11"/>
          <p:cNvSpPr/>
          <p:nvPr/>
        </p:nvSpPr>
        <p:spPr>
          <a:xfrm flipH="false" flipV="false" rot="4586856">
            <a:off x="1496420" y="8887631"/>
            <a:ext cx="1255598" cy="2562444"/>
          </a:xfrm>
          <a:custGeom>
            <a:avLst/>
            <a:gdLst/>
            <a:ahLst/>
            <a:cxnLst/>
            <a:rect r="r" b="b" t="t" l="l"/>
            <a:pathLst>
              <a:path h="2562444" w="1255598">
                <a:moveTo>
                  <a:pt x="0" y="0"/>
                </a:moveTo>
                <a:lnTo>
                  <a:pt x="1255597" y="0"/>
                </a:lnTo>
                <a:lnTo>
                  <a:pt x="1255597" y="2562444"/>
                </a:lnTo>
                <a:lnTo>
                  <a:pt x="0" y="2562444"/>
                </a:lnTo>
                <a:lnTo>
                  <a:pt x="0" y="0"/>
                </a:lnTo>
                <a:close/>
              </a:path>
            </a:pathLst>
          </a:custGeom>
          <a:blipFill>
            <a:blip r:embed="rId6"/>
            <a:stretch>
              <a:fillRect l="0" t="0" r="0" b="0"/>
            </a:stretch>
          </a:blipFill>
        </p:spPr>
      </p:sp>
      <p:sp>
        <p:nvSpPr>
          <p:cNvPr name="TextBox 12" id="12"/>
          <p:cNvSpPr txBox="true"/>
          <p:nvPr/>
        </p:nvSpPr>
        <p:spPr>
          <a:xfrm rot="0">
            <a:off x="3399907" y="-35099"/>
            <a:ext cx="10534508" cy="2223135"/>
          </a:xfrm>
          <a:prstGeom prst="rect">
            <a:avLst/>
          </a:prstGeom>
        </p:spPr>
        <p:txBody>
          <a:bodyPr anchor="t" rtlCol="false" tIns="0" lIns="0" bIns="0" rIns="0">
            <a:spAutoFit/>
          </a:bodyPr>
          <a:lstStyle/>
          <a:p>
            <a:pPr algn="ctr">
              <a:lnSpc>
                <a:spcPts val="18164"/>
              </a:lnSpc>
            </a:pPr>
            <a:r>
              <a:rPr lang="en-US" b="true" sz="12975">
                <a:solidFill>
                  <a:srgbClr val="D7D5DC"/>
                </a:solidFill>
                <a:latin typeface="Garet Bold"/>
                <a:ea typeface="Garet Bold"/>
                <a:cs typeface="Garet Bold"/>
                <a:sym typeface="Garet Bold"/>
              </a:rPr>
              <a:t> "DEADLINE" </a:t>
            </a:r>
          </a:p>
        </p:txBody>
      </p:sp>
      <p:sp>
        <p:nvSpPr>
          <p:cNvPr name="TextBox 13" id="13"/>
          <p:cNvSpPr txBox="true"/>
          <p:nvPr/>
        </p:nvSpPr>
        <p:spPr>
          <a:xfrm rot="0">
            <a:off x="3992902" y="6297238"/>
            <a:ext cx="9768055" cy="2223135"/>
          </a:xfrm>
          <a:prstGeom prst="rect">
            <a:avLst/>
          </a:prstGeom>
        </p:spPr>
        <p:txBody>
          <a:bodyPr anchor="t" rtlCol="false" tIns="0" lIns="0" bIns="0" rIns="0">
            <a:spAutoFit/>
          </a:bodyPr>
          <a:lstStyle/>
          <a:p>
            <a:pPr algn="ctr">
              <a:lnSpc>
                <a:spcPts val="18164"/>
              </a:lnSpc>
            </a:pPr>
            <a:r>
              <a:rPr lang="en-US" b="true" sz="12975">
                <a:solidFill>
                  <a:srgbClr val="DBE442"/>
                </a:solidFill>
                <a:latin typeface="Garet Bold"/>
                <a:ea typeface="Garet Bold"/>
                <a:cs typeface="Garet Bold"/>
                <a:sym typeface="Garet Bold"/>
              </a:rPr>
              <a:t>PROJESİ</a:t>
            </a:r>
          </a:p>
        </p:txBody>
      </p:sp>
      <p:sp>
        <p:nvSpPr>
          <p:cNvPr name="TextBox 14" id="14"/>
          <p:cNvSpPr txBox="true"/>
          <p:nvPr/>
        </p:nvSpPr>
        <p:spPr>
          <a:xfrm rot="0">
            <a:off x="1111556" y="1868259"/>
            <a:ext cx="15111209" cy="4528185"/>
          </a:xfrm>
          <a:prstGeom prst="rect">
            <a:avLst/>
          </a:prstGeom>
        </p:spPr>
        <p:txBody>
          <a:bodyPr anchor="t" rtlCol="false" tIns="0" lIns="0" bIns="0" rIns="0">
            <a:spAutoFit/>
          </a:bodyPr>
          <a:lstStyle/>
          <a:p>
            <a:pPr algn="ctr">
              <a:lnSpc>
                <a:spcPts val="18164"/>
              </a:lnSpc>
            </a:pPr>
            <a:r>
              <a:rPr lang="en-US" b="true" sz="12975">
                <a:solidFill>
                  <a:srgbClr val="D7D5DC"/>
                </a:solidFill>
                <a:latin typeface="Garet Bold"/>
                <a:ea typeface="Garet Bold"/>
                <a:cs typeface="Garet Bold"/>
                <a:sym typeface="Garet Bold"/>
              </a:rPr>
              <a:t>RESTORAN OTOMASYONU</a:t>
            </a:r>
          </a:p>
        </p:txBody>
      </p:sp>
      <p:sp>
        <p:nvSpPr>
          <p:cNvPr name="Freeform 15" id="15"/>
          <p:cNvSpPr/>
          <p:nvPr/>
        </p:nvSpPr>
        <p:spPr>
          <a:xfrm flipH="false" flipV="false" rot="0">
            <a:off x="10983272" y="6411399"/>
            <a:ext cx="2951143" cy="3078115"/>
          </a:xfrm>
          <a:custGeom>
            <a:avLst/>
            <a:gdLst/>
            <a:ahLst/>
            <a:cxnLst/>
            <a:rect r="r" b="b" t="t" l="l"/>
            <a:pathLst>
              <a:path h="3078115" w="2951143">
                <a:moveTo>
                  <a:pt x="0" y="0"/>
                </a:moveTo>
                <a:lnTo>
                  <a:pt x="2951143" y="0"/>
                </a:lnTo>
                <a:lnTo>
                  <a:pt x="2951143" y="3078115"/>
                </a:lnTo>
                <a:lnTo>
                  <a:pt x="0" y="3078115"/>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777A4A"/>
        </a:solidFill>
      </p:bgPr>
    </p:bg>
    <p:spTree>
      <p:nvGrpSpPr>
        <p:cNvPr id="1" name=""/>
        <p:cNvGrpSpPr/>
        <p:nvPr/>
      </p:nvGrpSpPr>
      <p:grpSpPr>
        <a:xfrm>
          <a:off x="0" y="0"/>
          <a:ext cx="0" cy="0"/>
          <a:chOff x="0" y="0"/>
          <a:chExt cx="0" cy="0"/>
        </a:xfrm>
      </p:grpSpPr>
      <p:grpSp>
        <p:nvGrpSpPr>
          <p:cNvPr name="Group 2" id="2"/>
          <p:cNvGrpSpPr/>
          <p:nvPr/>
        </p:nvGrpSpPr>
        <p:grpSpPr>
          <a:xfrm rot="212924">
            <a:off x="-419948" y="4805978"/>
            <a:ext cx="19793060" cy="6358648"/>
            <a:chOff x="0" y="0"/>
            <a:chExt cx="10206206" cy="3278809"/>
          </a:xfrm>
        </p:grpSpPr>
        <p:sp>
          <p:nvSpPr>
            <p:cNvPr name="Freeform 3" id="3"/>
            <p:cNvSpPr/>
            <p:nvPr/>
          </p:nvSpPr>
          <p:spPr>
            <a:xfrm flipH="false" flipV="false" rot="0">
              <a:off x="0" y="0"/>
              <a:ext cx="10206206" cy="3278810"/>
            </a:xfrm>
            <a:custGeom>
              <a:avLst/>
              <a:gdLst/>
              <a:ahLst/>
              <a:cxnLst/>
              <a:rect r="r" b="b" t="t" l="l"/>
              <a:pathLst>
                <a:path h="3278810" w="10206206">
                  <a:moveTo>
                    <a:pt x="0" y="0"/>
                  </a:moveTo>
                  <a:lnTo>
                    <a:pt x="10206206" y="0"/>
                  </a:lnTo>
                  <a:lnTo>
                    <a:pt x="10206206" y="3278810"/>
                  </a:lnTo>
                  <a:lnTo>
                    <a:pt x="0" y="3278810"/>
                  </a:lnTo>
                  <a:close/>
                </a:path>
              </a:pathLst>
            </a:custGeom>
            <a:solidFill>
              <a:srgbClr val="3D3D47"/>
            </a:solidFill>
          </p:spPr>
        </p:sp>
        <p:sp>
          <p:nvSpPr>
            <p:cNvPr name="TextBox 4" id="4"/>
            <p:cNvSpPr txBox="true"/>
            <p:nvPr/>
          </p:nvSpPr>
          <p:spPr>
            <a:xfrm>
              <a:off x="0" y="0"/>
              <a:ext cx="10206206" cy="3278809"/>
            </a:xfrm>
            <a:prstGeom prst="rect">
              <a:avLst/>
            </a:prstGeom>
          </p:spPr>
          <p:txBody>
            <a:bodyPr anchor="ctr" rtlCol="false" tIns="24546" lIns="24546" bIns="24546" rIns="24546"/>
            <a:lstStyle/>
            <a:p>
              <a:pPr algn="ctr">
                <a:lnSpc>
                  <a:spcPts val="1113"/>
                </a:lnSpc>
              </a:pPr>
            </a:p>
          </p:txBody>
        </p:sp>
      </p:grpSp>
      <p:grpSp>
        <p:nvGrpSpPr>
          <p:cNvPr name="Group 5" id="5"/>
          <p:cNvGrpSpPr/>
          <p:nvPr/>
        </p:nvGrpSpPr>
        <p:grpSpPr>
          <a:xfrm rot="-135871">
            <a:off x="1419765" y="3051655"/>
            <a:ext cx="3904453" cy="1071128"/>
            <a:chOff x="0" y="0"/>
            <a:chExt cx="1035392" cy="284044"/>
          </a:xfrm>
        </p:grpSpPr>
        <p:sp>
          <p:nvSpPr>
            <p:cNvPr name="Freeform 6" id="6"/>
            <p:cNvSpPr/>
            <p:nvPr/>
          </p:nvSpPr>
          <p:spPr>
            <a:xfrm flipH="false" flipV="false" rot="0">
              <a:off x="0" y="0"/>
              <a:ext cx="1035392" cy="284044"/>
            </a:xfrm>
            <a:custGeom>
              <a:avLst/>
              <a:gdLst/>
              <a:ahLst/>
              <a:cxnLst/>
              <a:rect r="r" b="b" t="t" l="l"/>
              <a:pathLst>
                <a:path h="284044" w="1035392">
                  <a:moveTo>
                    <a:pt x="0" y="0"/>
                  </a:moveTo>
                  <a:lnTo>
                    <a:pt x="1035392" y="0"/>
                  </a:lnTo>
                  <a:lnTo>
                    <a:pt x="1035392" y="284044"/>
                  </a:lnTo>
                  <a:lnTo>
                    <a:pt x="0" y="284044"/>
                  </a:lnTo>
                  <a:close/>
                </a:path>
              </a:pathLst>
            </a:custGeom>
            <a:solidFill>
              <a:srgbClr val="3D3D47"/>
            </a:solidFill>
          </p:spPr>
        </p:sp>
        <p:sp>
          <p:nvSpPr>
            <p:cNvPr name="TextBox 7" id="7"/>
            <p:cNvSpPr txBox="true"/>
            <p:nvPr/>
          </p:nvSpPr>
          <p:spPr>
            <a:xfrm>
              <a:off x="0" y="-66675"/>
              <a:ext cx="1035392" cy="350719"/>
            </a:xfrm>
            <a:prstGeom prst="rect">
              <a:avLst/>
            </a:prstGeom>
          </p:spPr>
          <p:txBody>
            <a:bodyPr anchor="ctr" rtlCol="false" tIns="41438" lIns="41438" bIns="41438" rIns="41438"/>
            <a:lstStyle/>
            <a:p>
              <a:pPr algn="ctr">
                <a:lnSpc>
                  <a:spcPts val="3654"/>
                </a:lnSpc>
              </a:pPr>
            </a:p>
          </p:txBody>
        </p:sp>
      </p:grpSp>
      <p:sp>
        <p:nvSpPr>
          <p:cNvPr name="TextBox 8" id="8"/>
          <p:cNvSpPr txBox="true"/>
          <p:nvPr/>
        </p:nvSpPr>
        <p:spPr>
          <a:xfrm rot="0">
            <a:off x="1599586" y="1883669"/>
            <a:ext cx="14512529" cy="2083803"/>
          </a:xfrm>
          <a:prstGeom prst="rect">
            <a:avLst/>
          </a:prstGeom>
        </p:spPr>
        <p:txBody>
          <a:bodyPr anchor="t" rtlCol="false" tIns="0" lIns="0" bIns="0" rIns="0">
            <a:spAutoFit/>
          </a:bodyPr>
          <a:lstStyle/>
          <a:p>
            <a:pPr algn="l" marL="0" indent="0" lvl="0">
              <a:lnSpc>
                <a:spcPts val="7789"/>
              </a:lnSpc>
              <a:spcBef>
                <a:spcPct val="0"/>
              </a:spcBef>
            </a:pPr>
            <a:r>
              <a:rPr lang="en-US" b="true" sz="7789">
                <a:solidFill>
                  <a:srgbClr val="D7D5DC"/>
                </a:solidFill>
                <a:latin typeface="Poppins Ultra-Bold"/>
                <a:ea typeface="Poppins Ultra-Bold"/>
                <a:cs typeface="Poppins Ultra-Bold"/>
                <a:sym typeface="Poppins Ultra-Bold"/>
              </a:rPr>
              <a:t>Proje Kavramı ve Deadline Otomasyonu</a:t>
            </a:r>
          </a:p>
        </p:txBody>
      </p:sp>
      <p:sp>
        <p:nvSpPr>
          <p:cNvPr name="TextBox 9" id="9"/>
          <p:cNvSpPr txBox="true"/>
          <p:nvPr/>
        </p:nvSpPr>
        <p:spPr>
          <a:xfrm rot="0">
            <a:off x="1599586" y="5914541"/>
            <a:ext cx="14809386" cy="3011170"/>
          </a:xfrm>
          <a:prstGeom prst="rect">
            <a:avLst/>
          </a:prstGeom>
        </p:spPr>
        <p:txBody>
          <a:bodyPr anchor="t" rtlCol="false" tIns="0" lIns="0" bIns="0" rIns="0">
            <a:spAutoFit/>
          </a:bodyPr>
          <a:lstStyle/>
          <a:p>
            <a:pPr algn="l" marL="669288" indent="-334644" lvl="1">
              <a:lnSpc>
                <a:spcPts val="3409"/>
              </a:lnSpc>
              <a:buFont typeface="Arial"/>
              <a:buChar char="•"/>
            </a:pPr>
            <a:r>
              <a:rPr lang="en-US" sz="3099">
                <a:solidFill>
                  <a:srgbClr val="D7D5DC"/>
                </a:solidFill>
                <a:latin typeface="Garet"/>
                <a:ea typeface="Garet"/>
                <a:cs typeface="Garet"/>
                <a:sym typeface="Garet"/>
              </a:rPr>
              <a:t>Proje Nedir? Belirli kaynaklarla, belirli bir zaman içinde tamamlanması gereken, tekrarlanmayan ve özgün bir ürün/hizmet elde edilen süreçtir.</a:t>
            </a:r>
          </a:p>
          <a:p>
            <a:pPr algn="l" marL="669288" indent="-334644" lvl="1">
              <a:lnSpc>
                <a:spcPts val="3409"/>
              </a:lnSpc>
              <a:buFont typeface="Arial"/>
              <a:buChar char="•"/>
            </a:pPr>
            <a:r>
              <a:rPr lang="en-US" sz="3099">
                <a:solidFill>
                  <a:srgbClr val="D7D5DC"/>
                </a:solidFill>
                <a:latin typeface="Garet"/>
                <a:ea typeface="Garet"/>
                <a:cs typeface="Garet"/>
                <a:sym typeface="Garet"/>
              </a:rPr>
              <a:t>Deadline Projesi: Sipariş, mutfak, stok ve kasa süreçlerini tek merkezden yöneten uçtan uca otomasyon çözümüdür.</a:t>
            </a:r>
          </a:p>
          <a:p>
            <a:pPr algn="l" marL="669288" indent="-334644" lvl="1">
              <a:lnSpc>
                <a:spcPts val="3409"/>
              </a:lnSpc>
              <a:buFont typeface="Arial"/>
              <a:buChar char="•"/>
            </a:pPr>
            <a:r>
              <a:rPr lang="en-US" sz="3099">
                <a:solidFill>
                  <a:srgbClr val="D7D5DC"/>
                </a:solidFill>
                <a:latin typeface="Garet"/>
                <a:ea typeface="Garet"/>
                <a:cs typeface="Garet"/>
                <a:sym typeface="Garet"/>
              </a:rPr>
              <a:t>Proje Türü: Süresi kısa (11 hafta) ve teknolojisi mevcut (C türü proje).</a:t>
            </a:r>
          </a:p>
          <a:p>
            <a:pPr algn="l">
              <a:lnSpc>
                <a:spcPts val="3409"/>
              </a:lnSpc>
            </a:pP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bg>
      <p:bgPr>
        <a:solidFill>
          <a:srgbClr val="777A4A"/>
        </a:solidFill>
      </p:bgPr>
    </p:bg>
    <p:spTree>
      <p:nvGrpSpPr>
        <p:cNvPr id="1" name=""/>
        <p:cNvGrpSpPr/>
        <p:nvPr/>
      </p:nvGrpSpPr>
      <p:grpSpPr>
        <a:xfrm>
          <a:off x="0" y="0"/>
          <a:ext cx="0" cy="0"/>
          <a:chOff x="0" y="0"/>
          <a:chExt cx="0" cy="0"/>
        </a:xfrm>
      </p:grpSpPr>
      <p:grpSp>
        <p:nvGrpSpPr>
          <p:cNvPr name="Group 2" id="2"/>
          <p:cNvGrpSpPr/>
          <p:nvPr/>
        </p:nvGrpSpPr>
        <p:grpSpPr>
          <a:xfrm rot="116297">
            <a:off x="-883358" y="6538363"/>
            <a:ext cx="19322230" cy="7546070"/>
            <a:chOff x="0" y="0"/>
            <a:chExt cx="8308366" cy="3244735"/>
          </a:xfrm>
        </p:grpSpPr>
        <p:sp>
          <p:nvSpPr>
            <p:cNvPr name="Freeform 3" id="3"/>
            <p:cNvSpPr/>
            <p:nvPr/>
          </p:nvSpPr>
          <p:spPr>
            <a:xfrm flipH="false" flipV="false" rot="0">
              <a:off x="0" y="0"/>
              <a:ext cx="8308366" cy="3244735"/>
            </a:xfrm>
            <a:custGeom>
              <a:avLst/>
              <a:gdLst/>
              <a:ahLst/>
              <a:cxnLst/>
              <a:rect r="r" b="b" t="t" l="l"/>
              <a:pathLst>
                <a:path h="3244735" w="8308366">
                  <a:moveTo>
                    <a:pt x="0" y="0"/>
                  </a:moveTo>
                  <a:lnTo>
                    <a:pt x="8308366" y="0"/>
                  </a:lnTo>
                  <a:lnTo>
                    <a:pt x="8308366" y="3244735"/>
                  </a:lnTo>
                  <a:lnTo>
                    <a:pt x="0" y="3244735"/>
                  </a:lnTo>
                  <a:close/>
                </a:path>
              </a:pathLst>
            </a:custGeom>
            <a:solidFill>
              <a:srgbClr val="3D3D47"/>
            </a:solidFill>
          </p:spPr>
        </p:sp>
        <p:sp>
          <p:nvSpPr>
            <p:cNvPr name="TextBox 4" id="4"/>
            <p:cNvSpPr txBox="true"/>
            <p:nvPr/>
          </p:nvSpPr>
          <p:spPr>
            <a:xfrm>
              <a:off x="0" y="0"/>
              <a:ext cx="8308366" cy="3244735"/>
            </a:xfrm>
            <a:prstGeom prst="rect">
              <a:avLst/>
            </a:prstGeom>
          </p:spPr>
          <p:txBody>
            <a:bodyPr anchor="ctr" rtlCol="false" tIns="29435" lIns="29435" bIns="29435" rIns="29435"/>
            <a:lstStyle/>
            <a:p>
              <a:pPr algn="ctr">
                <a:lnSpc>
                  <a:spcPts val="1334"/>
                </a:lnSpc>
              </a:pPr>
            </a:p>
          </p:txBody>
        </p:sp>
      </p:grpSp>
      <p:grpSp>
        <p:nvGrpSpPr>
          <p:cNvPr name="Group 5" id="5"/>
          <p:cNvGrpSpPr/>
          <p:nvPr/>
        </p:nvGrpSpPr>
        <p:grpSpPr>
          <a:xfrm rot="0">
            <a:off x="500770" y="0"/>
            <a:ext cx="17787230" cy="1524405"/>
            <a:chOff x="0" y="0"/>
            <a:chExt cx="5979359" cy="512444"/>
          </a:xfrm>
        </p:grpSpPr>
        <p:sp>
          <p:nvSpPr>
            <p:cNvPr name="Freeform 6" id="6"/>
            <p:cNvSpPr/>
            <p:nvPr/>
          </p:nvSpPr>
          <p:spPr>
            <a:xfrm flipH="false" flipV="false" rot="0">
              <a:off x="0" y="0"/>
              <a:ext cx="5979359" cy="512444"/>
            </a:xfrm>
            <a:custGeom>
              <a:avLst/>
              <a:gdLst/>
              <a:ahLst/>
              <a:cxnLst/>
              <a:rect r="r" b="b" t="t" l="l"/>
              <a:pathLst>
                <a:path h="512444" w="5979359">
                  <a:moveTo>
                    <a:pt x="0" y="0"/>
                  </a:moveTo>
                  <a:lnTo>
                    <a:pt x="5979359" y="0"/>
                  </a:lnTo>
                  <a:lnTo>
                    <a:pt x="5979359" y="512444"/>
                  </a:lnTo>
                  <a:lnTo>
                    <a:pt x="0" y="512444"/>
                  </a:lnTo>
                  <a:close/>
                </a:path>
              </a:pathLst>
            </a:custGeom>
            <a:solidFill>
              <a:srgbClr val="777A4A"/>
            </a:solidFill>
            <a:ln w="9525" cap="sq">
              <a:solidFill>
                <a:srgbClr val="FBFDFF"/>
              </a:solidFill>
              <a:prstDash val="solid"/>
              <a:miter/>
            </a:ln>
          </p:spPr>
        </p:sp>
        <p:sp>
          <p:nvSpPr>
            <p:cNvPr name="TextBox 7" id="7"/>
            <p:cNvSpPr txBox="true"/>
            <p:nvPr/>
          </p:nvSpPr>
          <p:spPr>
            <a:xfrm>
              <a:off x="0" y="38100"/>
              <a:ext cx="5979359" cy="474344"/>
            </a:xfrm>
            <a:prstGeom prst="rect">
              <a:avLst/>
            </a:prstGeom>
          </p:spPr>
          <p:txBody>
            <a:bodyPr anchor="ctr" rtlCol="false" tIns="50800" lIns="50800" bIns="50800" rIns="50800"/>
            <a:lstStyle/>
            <a:p>
              <a:pPr algn="ctr">
                <a:lnSpc>
                  <a:spcPts val="1679"/>
                </a:lnSpc>
              </a:pPr>
            </a:p>
          </p:txBody>
        </p:sp>
      </p:grpSp>
      <p:sp>
        <p:nvSpPr>
          <p:cNvPr name="TextBox 8" id="8"/>
          <p:cNvSpPr txBox="true"/>
          <p:nvPr/>
        </p:nvSpPr>
        <p:spPr>
          <a:xfrm rot="0">
            <a:off x="1028700" y="7161890"/>
            <a:ext cx="11877745" cy="1959610"/>
          </a:xfrm>
          <a:prstGeom prst="rect">
            <a:avLst/>
          </a:prstGeom>
        </p:spPr>
        <p:txBody>
          <a:bodyPr anchor="t" rtlCol="false" tIns="0" lIns="0" bIns="0" rIns="0">
            <a:spAutoFit/>
          </a:bodyPr>
          <a:lstStyle/>
          <a:p>
            <a:pPr algn="l">
              <a:lnSpc>
                <a:spcPts val="3079"/>
              </a:lnSpc>
            </a:pPr>
            <a:r>
              <a:rPr lang="en-US" sz="2799">
                <a:solidFill>
                  <a:srgbClr val="FBFDFF"/>
                </a:solidFill>
                <a:latin typeface="Garet"/>
                <a:ea typeface="Garet"/>
                <a:cs typeface="Garet"/>
                <a:sym typeface="Garet"/>
              </a:rPr>
              <a:t>Temel Hedefler (Kritik Başarı Faktörleri):</a:t>
            </a:r>
          </a:p>
          <a:p>
            <a:pPr algn="l" marL="604519" indent="-302260" lvl="1">
              <a:lnSpc>
                <a:spcPts val="3079"/>
              </a:lnSpc>
              <a:buFont typeface="Arial"/>
              <a:buChar char="•"/>
            </a:pPr>
            <a:r>
              <a:rPr lang="en-US" sz="2799">
                <a:solidFill>
                  <a:srgbClr val="FBFDFF"/>
                </a:solidFill>
                <a:latin typeface="Garet"/>
                <a:ea typeface="Garet"/>
                <a:cs typeface="Garet"/>
                <a:sym typeface="Garet"/>
              </a:rPr>
              <a:t>Sipariş alma süresini 30 saniyeye düşürmek.</a:t>
            </a:r>
          </a:p>
          <a:p>
            <a:pPr algn="l" marL="604519" indent="-302260" lvl="1">
              <a:lnSpc>
                <a:spcPts val="3079"/>
              </a:lnSpc>
              <a:buFont typeface="Arial"/>
              <a:buChar char="•"/>
            </a:pPr>
            <a:r>
              <a:rPr lang="en-US" sz="2799">
                <a:solidFill>
                  <a:srgbClr val="FBFDFF"/>
                </a:solidFill>
                <a:latin typeface="Garet"/>
                <a:ea typeface="Garet"/>
                <a:cs typeface="Garet"/>
                <a:sym typeface="Garet"/>
              </a:rPr>
              <a:t>Adisyon (sipariş) hatalarını %0'a indirmek.</a:t>
            </a:r>
          </a:p>
          <a:p>
            <a:pPr algn="l" marL="604519" indent="-302260" lvl="1">
              <a:lnSpc>
                <a:spcPts val="3079"/>
              </a:lnSpc>
              <a:buFont typeface="Arial"/>
              <a:buChar char="•"/>
            </a:pPr>
            <a:r>
              <a:rPr lang="en-US" sz="2799">
                <a:solidFill>
                  <a:srgbClr val="FBFDFF"/>
                </a:solidFill>
                <a:latin typeface="Garet"/>
                <a:ea typeface="Garet"/>
                <a:cs typeface="Garet"/>
                <a:sym typeface="Garet"/>
              </a:rPr>
              <a:t>Personel eğitimini 1 günden kısa sürede tamamlamak.</a:t>
            </a:r>
          </a:p>
          <a:p>
            <a:pPr algn="l">
              <a:lnSpc>
                <a:spcPts val="3079"/>
              </a:lnSpc>
            </a:pPr>
          </a:p>
        </p:txBody>
      </p:sp>
      <p:sp>
        <p:nvSpPr>
          <p:cNvPr name="TextBox 9" id="9"/>
          <p:cNvSpPr txBox="true"/>
          <p:nvPr/>
        </p:nvSpPr>
        <p:spPr>
          <a:xfrm rot="0">
            <a:off x="2091625" y="426143"/>
            <a:ext cx="14104750" cy="605443"/>
          </a:xfrm>
          <a:prstGeom prst="rect">
            <a:avLst/>
          </a:prstGeom>
        </p:spPr>
        <p:txBody>
          <a:bodyPr anchor="t" rtlCol="false" tIns="0" lIns="0" bIns="0" rIns="0">
            <a:spAutoFit/>
          </a:bodyPr>
          <a:lstStyle/>
          <a:p>
            <a:pPr algn="ctr">
              <a:lnSpc>
                <a:spcPts val="4954"/>
              </a:lnSpc>
            </a:pPr>
            <a:r>
              <a:rPr lang="en-US" b="true" sz="3538">
                <a:solidFill>
                  <a:srgbClr val="F1EEE9"/>
                </a:solidFill>
                <a:latin typeface="Montserrat Bold"/>
                <a:ea typeface="Montserrat Bold"/>
                <a:cs typeface="Montserrat Bold"/>
                <a:sym typeface="Montserrat Bold"/>
              </a:rPr>
              <a:t>Vizyon, Misyon ve Hedefler</a:t>
            </a:r>
          </a:p>
        </p:txBody>
      </p:sp>
      <p:sp>
        <p:nvSpPr>
          <p:cNvPr name="TextBox 10" id="10"/>
          <p:cNvSpPr txBox="true"/>
          <p:nvPr/>
        </p:nvSpPr>
        <p:spPr>
          <a:xfrm rot="0">
            <a:off x="1028700" y="2358846"/>
            <a:ext cx="16633657" cy="2929231"/>
          </a:xfrm>
          <a:prstGeom prst="rect">
            <a:avLst/>
          </a:prstGeom>
        </p:spPr>
        <p:txBody>
          <a:bodyPr anchor="t" rtlCol="false" tIns="0" lIns="0" bIns="0" rIns="0">
            <a:spAutoFit/>
          </a:bodyPr>
          <a:lstStyle/>
          <a:p>
            <a:pPr algn="l">
              <a:lnSpc>
                <a:spcPts val="5750"/>
              </a:lnSpc>
            </a:pPr>
            <a:r>
              <a:rPr lang="en-US" sz="5227" b="true">
                <a:solidFill>
                  <a:srgbClr val="FBFDFF"/>
                </a:solidFill>
                <a:latin typeface="Garet Bold"/>
                <a:ea typeface="Garet Bold"/>
                <a:cs typeface="Garet Bold"/>
                <a:sym typeface="Garet Bold"/>
              </a:rPr>
              <a:t>Vizyon/Misyon:</a:t>
            </a:r>
            <a:r>
              <a:rPr lang="en-US" sz="5227" b="true">
                <a:solidFill>
                  <a:srgbClr val="FBFDFF"/>
                </a:solidFill>
                <a:latin typeface="Garet Bold"/>
                <a:ea typeface="Garet Bold"/>
                <a:cs typeface="Garet Bold"/>
                <a:sym typeface="Garet Bold"/>
              </a:rPr>
              <a:t> </a:t>
            </a:r>
          </a:p>
          <a:p>
            <a:pPr algn="l">
              <a:lnSpc>
                <a:spcPts val="5750"/>
              </a:lnSpc>
            </a:pPr>
            <a:r>
              <a:rPr lang="en-US" sz="5227" b="true">
                <a:solidFill>
                  <a:srgbClr val="FBFDFF"/>
                </a:solidFill>
                <a:latin typeface="Garet Bold"/>
                <a:ea typeface="Garet Bold"/>
                <a:cs typeface="Garet Bold"/>
                <a:sym typeface="Garet Bold"/>
              </a:rPr>
              <a:t>Geleneksel restoran işletmeciliğini dijitalleştirerek hatasız, hızlı ve raporlanabilir bir yapı oluşturmak</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D3D47"/>
        </a:solidFill>
      </p:bgPr>
    </p:bg>
    <p:spTree>
      <p:nvGrpSpPr>
        <p:cNvPr id="1" name=""/>
        <p:cNvGrpSpPr/>
        <p:nvPr/>
      </p:nvGrpSpPr>
      <p:grpSpPr>
        <a:xfrm>
          <a:off x="0" y="0"/>
          <a:ext cx="0" cy="0"/>
          <a:chOff x="0" y="0"/>
          <a:chExt cx="0" cy="0"/>
        </a:xfrm>
      </p:grpSpPr>
      <p:sp>
        <p:nvSpPr>
          <p:cNvPr name="Freeform 2" id="2"/>
          <p:cNvSpPr/>
          <p:nvPr/>
        </p:nvSpPr>
        <p:spPr>
          <a:xfrm flipH="false" flipV="false" rot="0">
            <a:off x="-367851" y="-2165180"/>
            <a:ext cx="12718022" cy="12718022"/>
          </a:xfrm>
          <a:custGeom>
            <a:avLst/>
            <a:gdLst/>
            <a:ahLst/>
            <a:cxnLst/>
            <a:rect r="r" b="b" t="t" l="l"/>
            <a:pathLst>
              <a:path h="12718022" w="12718022">
                <a:moveTo>
                  <a:pt x="0" y="0"/>
                </a:moveTo>
                <a:lnTo>
                  <a:pt x="12718022" y="0"/>
                </a:lnTo>
                <a:lnTo>
                  <a:pt x="12718022" y="12718022"/>
                </a:lnTo>
                <a:lnTo>
                  <a:pt x="0" y="12718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16297">
            <a:off x="-517115" y="3216990"/>
            <a:ext cx="19322230" cy="7546070"/>
            <a:chOff x="0" y="0"/>
            <a:chExt cx="8308366" cy="3244735"/>
          </a:xfrm>
        </p:grpSpPr>
        <p:sp>
          <p:nvSpPr>
            <p:cNvPr name="Freeform 4" id="4"/>
            <p:cNvSpPr/>
            <p:nvPr/>
          </p:nvSpPr>
          <p:spPr>
            <a:xfrm flipH="false" flipV="false" rot="0">
              <a:off x="0" y="0"/>
              <a:ext cx="8308366" cy="3244735"/>
            </a:xfrm>
            <a:custGeom>
              <a:avLst/>
              <a:gdLst/>
              <a:ahLst/>
              <a:cxnLst/>
              <a:rect r="r" b="b" t="t" l="l"/>
              <a:pathLst>
                <a:path h="3244735" w="8308366">
                  <a:moveTo>
                    <a:pt x="0" y="0"/>
                  </a:moveTo>
                  <a:lnTo>
                    <a:pt x="8308366" y="0"/>
                  </a:lnTo>
                  <a:lnTo>
                    <a:pt x="8308366" y="3244735"/>
                  </a:lnTo>
                  <a:lnTo>
                    <a:pt x="0" y="3244735"/>
                  </a:lnTo>
                  <a:close/>
                </a:path>
              </a:pathLst>
            </a:custGeom>
            <a:solidFill>
              <a:srgbClr val="919462"/>
            </a:solidFill>
          </p:spPr>
        </p:sp>
        <p:sp>
          <p:nvSpPr>
            <p:cNvPr name="TextBox 5" id="5"/>
            <p:cNvSpPr txBox="true"/>
            <p:nvPr/>
          </p:nvSpPr>
          <p:spPr>
            <a:xfrm>
              <a:off x="0" y="0"/>
              <a:ext cx="8308366" cy="3244735"/>
            </a:xfrm>
            <a:prstGeom prst="rect">
              <a:avLst/>
            </a:prstGeom>
          </p:spPr>
          <p:txBody>
            <a:bodyPr anchor="ctr" rtlCol="false" tIns="29435" lIns="29435" bIns="29435" rIns="29435"/>
            <a:lstStyle/>
            <a:p>
              <a:pPr algn="ctr">
                <a:lnSpc>
                  <a:spcPts val="1334"/>
                </a:lnSpc>
              </a:pPr>
            </a:p>
          </p:txBody>
        </p:sp>
      </p:grpSp>
      <p:sp>
        <p:nvSpPr>
          <p:cNvPr name="TextBox 6" id="6"/>
          <p:cNvSpPr txBox="true"/>
          <p:nvPr/>
        </p:nvSpPr>
        <p:spPr>
          <a:xfrm rot="0">
            <a:off x="604246" y="3767001"/>
            <a:ext cx="5386914" cy="1804035"/>
          </a:xfrm>
          <a:prstGeom prst="rect">
            <a:avLst/>
          </a:prstGeom>
        </p:spPr>
        <p:txBody>
          <a:bodyPr anchor="t" rtlCol="false" tIns="0" lIns="0" bIns="0" rIns="0">
            <a:spAutoFit/>
          </a:bodyPr>
          <a:lstStyle/>
          <a:p>
            <a:pPr algn="l">
              <a:lnSpc>
                <a:spcPts val="3600"/>
              </a:lnSpc>
            </a:pPr>
            <a:r>
              <a:rPr lang="en-US" sz="2400">
                <a:solidFill>
                  <a:srgbClr val="E5E3E6"/>
                </a:solidFill>
                <a:latin typeface="Garet"/>
                <a:ea typeface="Garet"/>
                <a:cs typeface="Garet"/>
                <a:sym typeface="Garet"/>
              </a:rPr>
              <a:t>GÜÇLÜ YÖNLER (Strengths)</a:t>
            </a:r>
          </a:p>
          <a:p>
            <a:pPr algn="l">
              <a:lnSpc>
                <a:spcPts val="3600"/>
              </a:lnSpc>
            </a:pPr>
            <a:r>
              <a:rPr lang="en-US" sz="2400">
                <a:solidFill>
                  <a:srgbClr val="E5E3E6"/>
                </a:solidFill>
                <a:latin typeface="Garet"/>
                <a:ea typeface="Garet"/>
                <a:cs typeface="Garet"/>
                <a:sym typeface="Garet"/>
              </a:rPr>
              <a:t> Hata payını minimize etmesi.</a:t>
            </a:r>
          </a:p>
          <a:p>
            <a:pPr algn="l">
              <a:lnSpc>
                <a:spcPts val="3600"/>
              </a:lnSpc>
            </a:pPr>
            <a:r>
              <a:rPr lang="en-US" sz="2400">
                <a:solidFill>
                  <a:srgbClr val="E5E3E6"/>
                </a:solidFill>
                <a:latin typeface="Garet"/>
                <a:ea typeface="Garet"/>
                <a:cs typeface="Garet"/>
                <a:sym typeface="Garet"/>
              </a:rPr>
              <a:t> Anlık rapor sunabilmesi.</a:t>
            </a:r>
          </a:p>
          <a:p>
            <a:pPr algn="l" marL="0" indent="0" lvl="0">
              <a:lnSpc>
                <a:spcPts val="3600"/>
              </a:lnSpc>
              <a:spcBef>
                <a:spcPct val="0"/>
              </a:spcBef>
            </a:pPr>
            <a:r>
              <a:rPr lang="en-US" sz="2400">
                <a:solidFill>
                  <a:srgbClr val="E5E3E6"/>
                </a:solidFill>
                <a:latin typeface="Garet"/>
                <a:ea typeface="Garet"/>
                <a:cs typeface="Garet"/>
                <a:sym typeface="Garet"/>
              </a:rPr>
              <a:t> Kullanıcı dostu arayüzü.</a:t>
            </a:r>
          </a:p>
        </p:txBody>
      </p:sp>
      <p:sp>
        <p:nvSpPr>
          <p:cNvPr name="TextBox 7" id="7"/>
          <p:cNvSpPr txBox="true"/>
          <p:nvPr/>
        </p:nvSpPr>
        <p:spPr>
          <a:xfrm rot="0">
            <a:off x="745024" y="347763"/>
            <a:ext cx="15751481" cy="2544617"/>
          </a:xfrm>
          <a:prstGeom prst="rect">
            <a:avLst/>
          </a:prstGeom>
        </p:spPr>
        <p:txBody>
          <a:bodyPr anchor="t" rtlCol="false" tIns="0" lIns="0" bIns="0" rIns="0">
            <a:spAutoFit/>
          </a:bodyPr>
          <a:lstStyle/>
          <a:p>
            <a:pPr algn="l" marL="0" indent="0" lvl="0">
              <a:lnSpc>
                <a:spcPts val="9806"/>
              </a:lnSpc>
            </a:pPr>
            <a:r>
              <a:rPr lang="en-US" sz="9806">
                <a:solidFill>
                  <a:srgbClr val="E5E3E6"/>
                </a:solidFill>
                <a:latin typeface="Garet"/>
                <a:ea typeface="Garet"/>
                <a:cs typeface="Garet"/>
                <a:sym typeface="Garet"/>
              </a:rPr>
              <a:t>Stratejik Karar Alma - SWOT Analizi</a:t>
            </a:r>
          </a:p>
        </p:txBody>
      </p:sp>
      <p:sp>
        <p:nvSpPr>
          <p:cNvPr name="TextBox 8" id="8"/>
          <p:cNvSpPr txBox="true"/>
          <p:nvPr/>
        </p:nvSpPr>
        <p:spPr>
          <a:xfrm rot="0">
            <a:off x="604246" y="6760970"/>
            <a:ext cx="5386914" cy="1346835"/>
          </a:xfrm>
          <a:prstGeom prst="rect">
            <a:avLst/>
          </a:prstGeom>
        </p:spPr>
        <p:txBody>
          <a:bodyPr anchor="t" rtlCol="false" tIns="0" lIns="0" bIns="0" rIns="0">
            <a:spAutoFit/>
          </a:bodyPr>
          <a:lstStyle/>
          <a:p>
            <a:pPr algn="l">
              <a:lnSpc>
                <a:spcPts val="3600"/>
              </a:lnSpc>
            </a:pPr>
            <a:r>
              <a:rPr lang="en-US" sz="2400">
                <a:solidFill>
                  <a:srgbClr val="E5E3E6"/>
                </a:solidFill>
                <a:latin typeface="Garet"/>
                <a:ea typeface="Garet"/>
                <a:cs typeface="Garet"/>
                <a:sym typeface="Garet"/>
              </a:rPr>
              <a:t>ZAYIF YÖNLER (Weaknesses)</a:t>
            </a:r>
          </a:p>
          <a:p>
            <a:pPr algn="l" marL="0" indent="0" lvl="0">
              <a:lnSpc>
                <a:spcPts val="3600"/>
              </a:lnSpc>
              <a:spcBef>
                <a:spcPct val="0"/>
              </a:spcBef>
            </a:pPr>
            <a:r>
              <a:rPr lang="en-US" sz="2400">
                <a:solidFill>
                  <a:srgbClr val="E5E3E6"/>
                </a:solidFill>
                <a:latin typeface="Garet"/>
                <a:ea typeface="Garet"/>
                <a:cs typeface="Garet"/>
                <a:sym typeface="Garet"/>
              </a:rPr>
              <a:t> Sistemin yerel ağ altyapısına doğrudan bağımlı olması.</a:t>
            </a:r>
          </a:p>
        </p:txBody>
      </p:sp>
      <p:sp>
        <p:nvSpPr>
          <p:cNvPr name="TextBox 9" id="9"/>
          <p:cNvSpPr txBox="true"/>
          <p:nvPr/>
        </p:nvSpPr>
        <p:spPr>
          <a:xfrm rot="0">
            <a:off x="7125981" y="3581758"/>
            <a:ext cx="5386914" cy="2261235"/>
          </a:xfrm>
          <a:prstGeom prst="rect">
            <a:avLst/>
          </a:prstGeom>
        </p:spPr>
        <p:txBody>
          <a:bodyPr anchor="t" rtlCol="false" tIns="0" lIns="0" bIns="0" rIns="0">
            <a:spAutoFit/>
          </a:bodyPr>
          <a:lstStyle/>
          <a:p>
            <a:pPr algn="l" marL="0" indent="0" lvl="0">
              <a:lnSpc>
                <a:spcPts val="3600"/>
              </a:lnSpc>
              <a:spcBef>
                <a:spcPct val="0"/>
              </a:spcBef>
            </a:pPr>
            <a:r>
              <a:rPr lang="en-US" sz="2400">
                <a:solidFill>
                  <a:srgbClr val="E5E3E6"/>
                </a:solidFill>
                <a:latin typeface="Garet"/>
                <a:ea typeface="Garet"/>
                <a:cs typeface="Garet"/>
                <a:sym typeface="Garet"/>
              </a:rPr>
              <a:t>FIRSATLAR (Opportunities)</a:t>
            </a:r>
            <a:r>
              <a:rPr lang="en-US" sz="2400">
                <a:solidFill>
                  <a:srgbClr val="E5E3E6"/>
                </a:solidFill>
                <a:latin typeface="Garet"/>
                <a:ea typeface="Garet"/>
                <a:cs typeface="Garet"/>
                <a:sym typeface="Garet"/>
              </a:rPr>
              <a:t> Restoran sektöründe manuel işleyen süreçlerin (kağıt adisyon vb.) dijitalleşmeye duyduğu yoğun ihtiyaç.</a:t>
            </a:r>
          </a:p>
        </p:txBody>
      </p:sp>
      <p:sp>
        <p:nvSpPr>
          <p:cNvPr name="TextBox 10" id="10"/>
          <p:cNvSpPr txBox="true"/>
          <p:nvPr/>
        </p:nvSpPr>
        <p:spPr>
          <a:xfrm rot="0">
            <a:off x="7125981" y="6760970"/>
            <a:ext cx="5386914" cy="1804035"/>
          </a:xfrm>
          <a:prstGeom prst="rect">
            <a:avLst/>
          </a:prstGeom>
        </p:spPr>
        <p:txBody>
          <a:bodyPr anchor="t" rtlCol="false" tIns="0" lIns="0" bIns="0" rIns="0">
            <a:spAutoFit/>
          </a:bodyPr>
          <a:lstStyle/>
          <a:p>
            <a:pPr algn="l">
              <a:lnSpc>
                <a:spcPts val="3600"/>
              </a:lnSpc>
            </a:pPr>
            <a:r>
              <a:rPr lang="en-US" sz="2400">
                <a:solidFill>
                  <a:srgbClr val="E5E3E6"/>
                </a:solidFill>
                <a:latin typeface="Garet"/>
                <a:ea typeface="Garet"/>
                <a:cs typeface="Garet"/>
                <a:sym typeface="Garet"/>
              </a:rPr>
              <a:t>TEHDİTLER (Threats)</a:t>
            </a:r>
          </a:p>
          <a:p>
            <a:pPr algn="l">
              <a:lnSpc>
                <a:spcPts val="3600"/>
              </a:lnSpc>
            </a:pPr>
            <a:r>
              <a:rPr lang="en-US" sz="2400">
                <a:solidFill>
                  <a:srgbClr val="E5E3E6"/>
                </a:solidFill>
                <a:latin typeface="Garet"/>
                <a:ea typeface="Garet"/>
                <a:cs typeface="Garet"/>
                <a:sym typeface="Garet"/>
              </a:rPr>
              <a:t> Olası internet veya yerel ağ </a:t>
            </a:r>
          </a:p>
          <a:p>
            <a:pPr algn="l" marL="0" indent="0" lvl="0">
              <a:lnSpc>
                <a:spcPts val="3600"/>
              </a:lnSpc>
              <a:spcBef>
                <a:spcPct val="0"/>
              </a:spcBef>
            </a:pPr>
            <a:r>
              <a:rPr lang="en-US" sz="2400">
                <a:solidFill>
                  <a:srgbClr val="E5E3E6"/>
                </a:solidFill>
                <a:latin typeface="Garet"/>
                <a:ea typeface="Garet"/>
                <a:cs typeface="Garet"/>
                <a:sym typeface="Garet"/>
              </a:rPr>
              <a:t>(Wi-Fi) kesintilerinin operasyonu durdurma riski.</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1924537" y="4543508"/>
            <a:ext cx="14264912" cy="5474160"/>
          </a:xfrm>
          <a:custGeom>
            <a:avLst/>
            <a:gdLst/>
            <a:ahLst/>
            <a:cxnLst/>
            <a:rect r="r" b="b" t="t" l="l"/>
            <a:pathLst>
              <a:path h="5474160" w="14264912">
                <a:moveTo>
                  <a:pt x="0" y="0"/>
                </a:moveTo>
                <a:lnTo>
                  <a:pt x="14264912" y="0"/>
                </a:lnTo>
                <a:lnTo>
                  <a:pt x="14264912" y="5474160"/>
                </a:lnTo>
                <a:lnTo>
                  <a:pt x="0" y="5474160"/>
                </a:lnTo>
                <a:lnTo>
                  <a:pt x="0" y="0"/>
                </a:lnTo>
                <a:close/>
              </a:path>
            </a:pathLst>
          </a:custGeom>
          <a:blipFill>
            <a:blip r:embed="rId2"/>
            <a:stretch>
              <a:fillRect l="0" t="0" r="0" b="0"/>
            </a:stretch>
          </a:blipFill>
        </p:spPr>
      </p:sp>
      <p:sp>
        <p:nvSpPr>
          <p:cNvPr name="TextBox 3" id="3"/>
          <p:cNvSpPr txBox="true"/>
          <p:nvPr/>
        </p:nvSpPr>
        <p:spPr>
          <a:xfrm rot="0">
            <a:off x="689390" y="0"/>
            <a:ext cx="17175382" cy="2438400"/>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FAF9F8"/>
                </a:solidFill>
                <a:latin typeface="Open Sans Bold"/>
                <a:ea typeface="Open Sans Bold"/>
                <a:cs typeface="Open Sans Bold"/>
                <a:sym typeface="Open Sans Bold"/>
              </a:rPr>
              <a:t> Kök Ne</a:t>
            </a:r>
            <a:r>
              <a:rPr lang="en-US" b="true" sz="8000">
                <a:solidFill>
                  <a:srgbClr val="FAF9F8"/>
                </a:solidFill>
                <a:latin typeface="Open Sans Bold"/>
                <a:ea typeface="Open Sans Bold"/>
                <a:cs typeface="Open Sans Bold"/>
                <a:sym typeface="Open Sans Bold"/>
              </a:rPr>
              <a:t>den Analizi: Balık Kılçığı (Ishikawa) Diyagramı</a:t>
            </a:r>
          </a:p>
        </p:txBody>
      </p:sp>
      <p:sp>
        <p:nvSpPr>
          <p:cNvPr name="TextBox 4" id="4"/>
          <p:cNvSpPr txBox="true"/>
          <p:nvPr/>
        </p:nvSpPr>
        <p:spPr>
          <a:xfrm rot="0">
            <a:off x="1218826" y="2476500"/>
            <a:ext cx="15850347" cy="1758315"/>
          </a:xfrm>
          <a:prstGeom prst="rect">
            <a:avLst/>
          </a:prstGeom>
        </p:spPr>
        <p:txBody>
          <a:bodyPr anchor="t" rtlCol="false" tIns="0" lIns="0" bIns="0" rIns="0">
            <a:spAutoFit/>
          </a:bodyPr>
          <a:lstStyle/>
          <a:p>
            <a:pPr algn="ctr">
              <a:lnSpc>
                <a:spcPts val="4620"/>
              </a:lnSpc>
            </a:pPr>
            <a:r>
              <a:rPr lang="en-US" b="true" sz="4200" spc="-84">
                <a:solidFill>
                  <a:srgbClr val="FAF9F8"/>
                </a:solidFill>
                <a:latin typeface="Open Sans Bold"/>
                <a:ea typeface="Open Sans Bold"/>
                <a:cs typeface="Open Sans Bold"/>
                <a:sym typeface="Open Sans Bold"/>
              </a:rPr>
              <a:t>Restoranda yaşanan mevcut problemlerin kök nedenlerini bulmak için 1943'te Kaoru Ishikawa tarafından geliştirilen Balık Kılçığı Diyagramını kullanıyoruz</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p:cSld>
    <p:bg>
      <p:bgPr>
        <a:solidFill>
          <a:srgbClr val="777A4A"/>
        </a:solidFill>
      </p:bgPr>
    </p:bg>
    <p:spTree>
      <p:nvGrpSpPr>
        <p:cNvPr id="1" name=""/>
        <p:cNvGrpSpPr/>
        <p:nvPr/>
      </p:nvGrpSpPr>
      <p:grpSpPr>
        <a:xfrm>
          <a:off x="0" y="0"/>
          <a:ext cx="0" cy="0"/>
          <a:chOff x="0" y="0"/>
          <a:chExt cx="0" cy="0"/>
        </a:xfrm>
      </p:grpSpPr>
      <p:sp>
        <p:nvSpPr>
          <p:cNvPr name="TextBox 2" id="2"/>
          <p:cNvSpPr txBox="true"/>
          <p:nvPr/>
        </p:nvSpPr>
        <p:spPr>
          <a:xfrm rot="0">
            <a:off x="1755768" y="637471"/>
            <a:ext cx="14776464" cy="1219200"/>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FAF9F8"/>
                </a:solidFill>
                <a:latin typeface="Open Sans Bold"/>
                <a:ea typeface="Open Sans Bold"/>
                <a:cs typeface="Open Sans Bold"/>
                <a:sym typeface="Open Sans Bold"/>
              </a:rPr>
              <a:t> Portföy A</a:t>
            </a:r>
            <a:r>
              <a:rPr lang="en-US" b="true" sz="8000">
                <a:solidFill>
                  <a:srgbClr val="FAF9F8"/>
                </a:solidFill>
                <a:latin typeface="Open Sans Bold"/>
                <a:ea typeface="Open Sans Bold"/>
                <a:cs typeface="Open Sans Bold"/>
                <a:sym typeface="Open Sans Bold"/>
              </a:rPr>
              <a:t>nalizi (BCG Matrisi)</a:t>
            </a:r>
          </a:p>
        </p:txBody>
      </p:sp>
      <p:sp>
        <p:nvSpPr>
          <p:cNvPr name="TextBox 3" id="3"/>
          <p:cNvSpPr txBox="true"/>
          <p:nvPr/>
        </p:nvSpPr>
        <p:spPr>
          <a:xfrm rot="0">
            <a:off x="1396093" y="3621009"/>
            <a:ext cx="4580058" cy="3501390"/>
          </a:xfrm>
          <a:prstGeom prst="rect">
            <a:avLst/>
          </a:prstGeom>
        </p:spPr>
        <p:txBody>
          <a:bodyPr anchor="t" rtlCol="false" tIns="0" lIns="0" bIns="0" rIns="0">
            <a:spAutoFit/>
          </a:bodyPr>
          <a:lstStyle/>
          <a:p>
            <a:pPr algn="ctr">
              <a:lnSpc>
                <a:spcPts val="4620"/>
              </a:lnSpc>
            </a:pPr>
            <a:r>
              <a:rPr lang="en-US" b="true" sz="4200" spc="-84">
                <a:solidFill>
                  <a:srgbClr val="FAF9F8"/>
                </a:solidFill>
                <a:latin typeface="Open Sans Bold"/>
                <a:ea typeface="Open Sans Bold"/>
                <a:cs typeface="Open Sans Bold"/>
                <a:sym typeface="Open Sans Bold"/>
              </a:rPr>
              <a:t>Yıldızlar (Kapsam İçi Odak):</a:t>
            </a:r>
          </a:p>
          <a:p>
            <a:pPr algn="ctr">
              <a:lnSpc>
                <a:spcPts val="4620"/>
              </a:lnSpc>
            </a:pPr>
            <a:r>
              <a:rPr lang="en-US" b="true" sz="4200" spc="-84">
                <a:solidFill>
                  <a:srgbClr val="FAF9F8"/>
                </a:solidFill>
                <a:latin typeface="Open Sans Bold"/>
                <a:ea typeface="Open Sans Bold"/>
                <a:cs typeface="Open Sans Bold"/>
                <a:sym typeface="Open Sans Bold"/>
              </a:rPr>
              <a:t> Hızlı Satış (POS), Masa Yönetimi, Dijital Mutfak Paneli</a:t>
            </a:r>
          </a:p>
        </p:txBody>
      </p:sp>
      <p:sp>
        <p:nvSpPr>
          <p:cNvPr name="TextBox 4" id="4"/>
          <p:cNvSpPr txBox="true"/>
          <p:nvPr/>
        </p:nvSpPr>
        <p:spPr>
          <a:xfrm rot="0">
            <a:off x="6732371" y="3621009"/>
            <a:ext cx="4580058" cy="5825490"/>
          </a:xfrm>
          <a:prstGeom prst="rect">
            <a:avLst/>
          </a:prstGeom>
        </p:spPr>
        <p:txBody>
          <a:bodyPr anchor="t" rtlCol="false" tIns="0" lIns="0" bIns="0" rIns="0">
            <a:spAutoFit/>
          </a:bodyPr>
          <a:lstStyle/>
          <a:p>
            <a:pPr algn="ctr" marL="0" indent="0" lvl="0">
              <a:lnSpc>
                <a:spcPts val="4620"/>
              </a:lnSpc>
              <a:spcBef>
                <a:spcPct val="0"/>
              </a:spcBef>
            </a:pPr>
            <a:r>
              <a:rPr lang="en-US" b="true" sz="4200" spc="-84">
                <a:solidFill>
                  <a:srgbClr val="FAF9F8"/>
                </a:solidFill>
                <a:latin typeface="Open Sans Bold"/>
                <a:ea typeface="Open Sans Bold"/>
                <a:cs typeface="Open Sans Bold"/>
                <a:sym typeface="Open Sans Bold"/>
              </a:rPr>
              <a:t>Soru İşaretleri (Kapsam Dışı): Dış sipariş entegrasyonları (</a:t>
            </a:r>
            <a:r>
              <a:rPr lang="en-US" b="true" sz="4200" spc="-84">
                <a:solidFill>
                  <a:srgbClr val="FAF9F8"/>
                </a:solidFill>
                <a:latin typeface="Open Sans Bold"/>
                <a:ea typeface="Open Sans Bold"/>
                <a:cs typeface="Open Sans Bold"/>
                <a:sym typeface="Open Sans Bold"/>
              </a:rPr>
              <a:t>Getir/Yemeksepeti vb.) ve müşteriler için mobil uygulama bu projeye dahil değildir.</a:t>
            </a:r>
          </a:p>
        </p:txBody>
      </p:sp>
      <p:sp>
        <p:nvSpPr>
          <p:cNvPr name="TextBox 5" id="5"/>
          <p:cNvSpPr txBox="true"/>
          <p:nvPr/>
        </p:nvSpPr>
        <p:spPr>
          <a:xfrm rot="0">
            <a:off x="12802746" y="3621009"/>
            <a:ext cx="4580058" cy="4082415"/>
          </a:xfrm>
          <a:prstGeom prst="rect">
            <a:avLst/>
          </a:prstGeom>
        </p:spPr>
        <p:txBody>
          <a:bodyPr anchor="t" rtlCol="false" tIns="0" lIns="0" bIns="0" rIns="0">
            <a:spAutoFit/>
          </a:bodyPr>
          <a:lstStyle/>
          <a:p>
            <a:pPr algn="ctr" marL="0" indent="0" lvl="0">
              <a:lnSpc>
                <a:spcPts val="4620"/>
              </a:lnSpc>
              <a:spcBef>
                <a:spcPct val="0"/>
              </a:spcBef>
            </a:pPr>
            <a:r>
              <a:rPr lang="en-US" b="true" sz="4200" spc="-84">
                <a:solidFill>
                  <a:srgbClr val="FAF9F8"/>
                </a:solidFill>
                <a:latin typeface="Open Sans Bold"/>
                <a:ea typeface="Open Sans Bold"/>
                <a:cs typeface="Open Sans Bold"/>
                <a:sym typeface="Open Sans Bold"/>
              </a:rPr>
              <a:t>Hantal kağıt sistemlerini yok edecek ,sektörü daha hareketli ve hızlı bir hale getirecek sistemimizdir.</a:t>
            </a:r>
          </a:p>
        </p:txBody>
      </p:sp>
      <p:sp>
        <p:nvSpPr>
          <p:cNvPr name="TextBox 6" id="6"/>
          <p:cNvSpPr txBox="true"/>
          <p:nvPr/>
        </p:nvSpPr>
        <p:spPr>
          <a:xfrm rot="0">
            <a:off x="2069504" y="2148298"/>
            <a:ext cx="14148993" cy="596265"/>
          </a:xfrm>
          <a:prstGeom prst="rect">
            <a:avLst/>
          </a:prstGeom>
        </p:spPr>
        <p:txBody>
          <a:bodyPr anchor="t" rtlCol="false" tIns="0" lIns="0" bIns="0" rIns="0">
            <a:spAutoFit/>
          </a:bodyPr>
          <a:lstStyle/>
          <a:p>
            <a:pPr algn="ctr">
              <a:lnSpc>
                <a:spcPts val="4620"/>
              </a:lnSpc>
            </a:pPr>
            <a:r>
              <a:rPr lang="en-US" b="true" sz="4200" spc="-84">
                <a:solidFill>
                  <a:srgbClr val="FAF9F8"/>
                </a:solidFill>
                <a:latin typeface="Open Sans Bold"/>
                <a:ea typeface="Open Sans Bold"/>
                <a:cs typeface="Open Sans Bold"/>
                <a:sym typeface="Open Sans Bold"/>
              </a:rPr>
              <a:t>Odak Noktalarımız ve Kapsam Sınırları</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grpSp>
        <p:nvGrpSpPr>
          <p:cNvPr name="Group 2" id="2"/>
          <p:cNvGrpSpPr/>
          <p:nvPr/>
        </p:nvGrpSpPr>
        <p:grpSpPr>
          <a:xfrm rot="0">
            <a:off x="1779900" y="2349500"/>
            <a:ext cx="15214600" cy="6908800"/>
            <a:chOff x="0" y="0"/>
            <a:chExt cx="1789953" cy="812800"/>
          </a:xfrm>
        </p:grpSpPr>
        <p:sp>
          <p:nvSpPr>
            <p:cNvPr name="Freeform 3" id="3"/>
            <p:cNvSpPr/>
            <p:nvPr/>
          </p:nvSpPr>
          <p:spPr>
            <a:xfrm flipH="false" flipV="false" rot="0">
              <a:off x="0" y="0"/>
              <a:ext cx="1789953" cy="812800"/>
            </a:xfrm>
            <a:custGeom>
              <a:avLst/>
              <a:gdLst/>
              <a:ahLst/>
              <a:cxnLst/>
              <a:rect r="r" b="b" t="t" l="l"/>
              <a:pathLst>
                <a:path h="812800" w="1789953">
                  <a:moveTo>
                    <a:pt x="0" y="0"/>
                  </a:moveTo>
                  <a:lnTo>
                    <a:pt x="1789953" y="0"/>
                  </a:lnTo>
                  <a:lnTo>
                    <a:pt x="1789953" y="812800"/>
                  </a:lnTo>
                  <a:lnTo>
                    <a:pt x="0" y="812800"/>
                  </a:lnTo>
                  <a:close/>
                </a:path>
              </a:pathLst>
            </a:custGeom>
            <a:blipFill>
              <a:blip r:embed="rId2"/>
              <a:stretch>
                <a:fillRect l="-1601" t="0" r="-1601" b="0"/>
              </a:stretch>
            </a:blipFill>
          </p:spPr>
        </p:sp>
      </p:grpSp>
      <p:sp>
        <p:nvSpPr>
          <p:cNvPr name="TextBox 4" id="4"/>
          <p:cNvSpPr txBox="true"/>
          <p:nvPr/>
        </p:nvSpPr>
        <p:spPr>
          <a:xfrm rot="0">
            <a:off x="1378135" y="675958"/>
            <a:ext cx="14659066" cy="753110"/>
          </a:xfrm>
          <a:prstGeom prst="rect">
            <a:avLst/>
          </a:prstGeom>
        </p:spPr>
        <p:txBody>
          <a:bodyPr anchor="t" rtlCol="false" tIns="0" lIns="0" bIns="0" rIns="0">
            <a:spAutoFit/>
          </a:bodyPr>
          <a:lstStyle/>
          <a:p>
            <a:pPr algn="ctr">
              <a:lnSpc>
                <a:spcPts val="5829"/>
              </a:lnSpc>
              <a:spcBef>
                <a:spcPct val="0"/>
              </a:spcBef>
            </a:pPr>
            <a:r>
              <a:rPr lang="en-US" b="true" sz="5299" spc="-105">
                <a:solidFill>
                  <a:srgbClr val="FAF9F8"/>
                </a:solidFill>
                <a:latin typeface="Open Sans Bold"/>
                <a:ea typeface="Open Sans Bold"/>
                <a:cs typeface="Open Sans Bold"/>
                <a:sym typeface="Open Sans Bold"/>
              </a:rPr>
              <a:t> Yüklenici İstihdamı: </a:t>
            </a:r>
            <a:r>
              <a:rPr lang="en-US" b="true" sz="5299" spc="-105">
                <a:solidFill>
                  <a:srgbClr val="FAF9F8"/>
                </a:solidFill>
                <a:latin typeface="Open Sans Bold"/>
                <a:ea typeface="Open Sans Bold"/>
                <a:cs typeface="Open Sans Bold"/>
                <a:sym typeface="Open Sans Bold"/>
              </a:rPr>
              <a:t>Proje Ekibimiz</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777A4A"/>
        </a:solidFill>
      </p:bgPr>
    </p:bg>
    <p:spTree>
      <p:nvGrpSpPr>
        <p:cNvPr id="1" name=""/>
        <p:cNvGrpSpPr/>
        <p:nvPr/>
      </p:nvGrpSpPr>
      <p:grpSpPr>
        <a:xfrm>
          <a:off x="0" y="0"/>
          <a:ext cx="0" cy="0"/>
          <a:chOff x="0" y="0"/>
          <a:chExt cx="0" cy="0"/>
        </a:xfrm>
      </p:grpSpPr>
      <p:grpSp>
        <p:nvGrpSpPr>
          <p:cNvPr name="Group 2" id="2"/>
          <p:cNvGrpSpPr/>
          <p:nvPr/>
        </p:nvGrpSpPr>
        <p:grpSpPr>
          <a:xfrm rot="212924">
            <a:off x="-242967" y="5997625"/>
            <a:ext cx="19793060" cy="6358648"/>
            <a:chOff x="0" y="0"/>
            <a:chExt cx="10206206" cy="3278809"/>
          </a:xfrm>
        </p:grpSpPr>
        <p:sp>
          <p:nvSpPr>
            <p:cNvPr name="Freeform 3" id="3"/>
            <p:cNvSpPr/>
            <p:nvPr/>
          </p:nvSpPr>
          <p:spPr>
            <a:xfrm flipH="false" flipV="false" rot="0">
              <a:off x="0" y="0"/>
              <a:ext cx="10206206" cy="3278810"/>
            </a:xfrm>
            <a:custGeom>
              <a:avLst/>
              <a:gdLst/>
              <a:ahLst/>
              <a:cxnLst/>
              <a:rect r="r" b="b" t="t" l="l"/>
              <a:pathLst>
                <a:path h="3278810" w="10206206">
                  <a:moveTo>
                    <a:pt x="0" y="0"/>
                  </a:moveTo>
                  <a:lnTo>
                    <a:pt x="10206206" y="0"/>
                  </a:lnTo>
                  <a:lnTo>
                    <a:pt x="10206206" y="3278810"/>
                  </a:lnTo>
                  <a:lnTo>
                    <a:pt x="0" y="3278810"/>
                  </a:lnTo>
                  <a:close/>
                </a:path>
              </a:pathLst>
            </a:custGeom>
            <a:solidFill>
              <a:srgbClr val="3D3D47"/>
            </a:solidFill>
          </p:spPr>
        </p:sp>
        <p:sp>
          <p:nvSpPr>
            <p:cNvPr name="TextBox 4" id="4"/>
            <p:cNvSpPr txBox="true"/>
            <p:nvPr/>
          </p:nvSpPr>
          <p:spPr>
            <a:xfrm>
              <a:off x="0" y="0"/>
              <a:ext cx="10206206" cy="3278809"/>
            </a:xfrm>
            <a:prstGeom prst="rect">
              <a:avLst/>
            </a:prstGeom>
          </p:spPr>
          <p:txBody>
            <a:bodyPr anchor="ctr" rtlCol="false" tIns="24546" lIns="24546" bIns="24546" rIns="24546"/>
            <a:lstStyle/>
            <a:p>
              <a:pPr algn="ctr">
                <a:lnSpc>
                  <a:spcPts val="1113"/>
                </a:lnSpc>
              </a:pPr>
            </a:p>
          </p:txBody>
        </p:sp>
      </p:grpSp>
      <p:sp>
        <p:nvSpPr>
          <p:cNvPr name="TextBox 5" id="5"/>
          <p:cNvSpPr txBox="true"/>
          <p:nvPr/>
        </p:nvSpPr>
        <p:spPr>
          <a:xfrm rot="0">
            <a:off x="270988" y="412166"/>
            <a:ext cx="8519049" cy="9917962"/>
          </a:xfrm>
          <a:prstGeom prst="rect">
            <a:avLst/>
          </a:prstGeom>
        </p:spPr>
        <p:txBody>
          <a:bodyPr anchor="t" rtlCol="false" tIns="0" lIns="0" bIns="0" rIns="0">
            <a:spAutoFit/>
          </a:bodyPr>
          <a:lstStyle/>
          <a:p>
            <a:pPr algn="l">
              <a:lnSpc>
                <a:spcPts val="4104"/>
              </a:lnSpc>
            </a:pPr>
            <a:r>
              <a:rPr lang="en-US" sz="2736" b="true">
                <a:solidFill>
                  <a:srgbClr val="E5E3E6"/>
                </a:solidFill>
                <a:latin typeface="Garet Bold"/>
                <a:ea typeface="Garet Bold"/>
                <a:cs typeface="Garet Bold"/>
                <a:sym typeface="Garet Bold"/>
              </a:rPr>
              <a:t>Proje Kapsam Yönetimi: Ürün ve Proje Kapsamı Ayrımı, Kapsamın Yönetim Aşamaları</a:t>
            </a:r>
          </a:p>
          <a:p>
            <a:pPr algn="l" marL="569118" indent="-284559" lvl="1">
              <a:lnSpc>
                <a:spcPts val="3954"/>
              </a:lnSpc>
              <a:buFont typeface="Arial"/>
              <a:buChar char="•"/>
            </a:pPr>
            <a:r>
              <a:rPr lang="en-US" sz="2636">
                <a:solidFill>
                  <a:srgbClr val="E5E3E6"/>
                </a:solidFill>
                <a:latin typeface="Garet"/>
                <a:ea typeface="Garet"/>
                <a:cs typeface="Garet"/>
                <a:sym typeface="Garet"/>
              </a:rPr>
              <a:t>Ürün Kapsamı (Product Scope): Geliştirdiğimiz "Deadline: Restoran Otomasyon Sistemi" yazılımının teknik ve fonksiyonel özellikleridir. Garsonların sipariş girdiği POS, mutfaktaki dijital ekran KDS, reçete tabanlı otomatik Stok &amp; Envanter kontrolü ve müşteri sadakat modülü CRM bu kapsamdadır.</a:t>
            </a:r>
          </a:p>
          <a:p>
            <a:pPr algn="l">
              <a:lnSpc>
                <a:spcPts val="3954"/>
              </a:lnSpc>
            </a:pPr>
          </a:p>
          <a:p>
            <a:pPr algn="l" marL="569118" indent="-284559" lvl="1">
              <a:lnSpc>
                <a:spcPts val="3954"/>
              </a:lnSpc>
              <a:buFont typeface="Arial"/>
              <a:buChar char="•"/>
            </a:pPr>
            <a:r>
              <a:rPr lang="en-US" sz="2636">
                <a:solidFill>
                  <a:srgbClr val="E5E3E6"/>
                </a:solidFill>
                <a:latin typeface="Garet"/>
                <a:ea typeface="Garet"/>
                <a:cs typeface="Garet"/>
                <a:sym typeface="Garet"/>
              </a:rPr>
              <a:t>Proje Kapsamı (Project Scope): Bu ürünü teslim etmek için yapılması gereken tüm yönetimsel, mühendislik ve operasyonel çalışmalardır. 11 haftalık zaman, donanım bütçesi ve 5 bilgisayar mühendisinden oluşan insan kaynağı kısıtı altında; analiz, tasarım, kodlama, entegrasyon ve test süreçlerinin tamamını kapsar.</a:t>
            </a:r>
          </a:p>
          <a:p>
            <a:pPr algn="l">
              <a:lnSpc>
                <a:spcPts val="3954"/>
              </a:lnSpc>
              <a:spcBef>
                <a:spcPct val="0"/>
              </a:spcBef>
            </a:pPr>
          </a:p>
        </p:txBody>
      </p:sp>
      <p:sp>
        <p:nvSpPr>
          <p:cNvPr name="TextBox 6" id="6"/>
          <p:cNvSpPr txBox="true"/>
          <p:nvPr/>
        </p:nvSpPr>
        <p:spPr>
          <a:xfrm rot="0">
            <a:off x="9321723" y="-191112"/>
            <a:ext cx="8643909" cy="10478112"/>
          </a:xfrm>
          <a:prstGeom prst="rect">
            <a:avLst/>
          </a:prstGeom>
        </p:spPr>
        <p:txBody>
          <a:bodyPr anchor="t" rtlCol="false" tIns="0" lIns="0" bIns="0" rIns="0">
            <a:spAutoFit/>
          </a:bodyPr>
          <a:lstStyle/>
          <a:p>
            <a:pPr algn="l">
              <a:lnSpc>
                <a:spcPts val="3812"/>
              </a:lnSpc>
            </a:pPr>
          </a:p>
          <a:p>
            <a:pPr algn="l" marL="548739" indent="-274370" lvl="1">
              <a:lnSpc>
                <a:spcPts val="3812"/>
              </a:lnSpc>
              <a:buFont typeface="Arial"/>
              <a:buChar char="•"/>
            </a:pPr>
            <a:r>
              <a:rPr lang="en-US" sz="2541">
                <a:solidFill>
                  <a:srgbClr val="E5E3E6"/>
                </a:solidFill>
                <a:latin typeface="Garet"/>
                <a:ea typeface="Garet"/>
                <a:cs typeface="Garet"/>
                <a:sym typeface="Garet"/>
              </a:rPr>
              <a:t>Kapsamın Tanımlanması ve Planlanması: Kont</a:t>
            </a:r>
            <a:r>
              <a:rPr lang="en-US" sz="2541">
                <a:solidFill>
                  <a:srgbClr val="E5E3E6"/>
                </a:solidFill>
                <a:latin typeface="Garet"/>
                <a:ea typeface="Garet"/>
                <a:cs typeface="Garet"/>
                <a:sym typeface="Garet"/>
              </a:rPr>
              <a:t>rolsüz büyüme riski olan "Kapsam Sapması" (Scope Creep) tehlikesine karşı projenin sınırları net olarak çizilmiştir.</a:t>
            </a:r>
          </a:p>
          <a:p>
            <a:pPr algn="l" marL="1097479" indent="-365826" lvl="2">
              <a:lnSpc>
                <a:spcPts val="3812"/>
              </a:lnSpc>
              <a:buFont typeface="Arial"/>
              <a:buChar char="⚬"/>
            </a:pPr>
            <a:r>
              <a:rPr lang="en-US" sz="2541">
                <a:solidFill>
                  <a:srgbClr val="E5E3E6"/>
                </a:solidFill>
                <a:latin typeface="Garet"/>
                <a:ea typeface="Garet"/>
                <a:cs typeface="Garet"/>
                <a:sym typeface="Garet"/>
              </a:rPr>
              <a:t>Kapsam İçi (Teslimatlar): SQL tabanlı ilişkisel veri şeması, Node.js RESTful API backend servisi, React Native garson/mutfak arayüzleri ve UAT test raporları.</a:t>
            </a:r>
          </a:p>
          <a:p>
            <a:pPr algn="l" marL="1097479" indent="-365826" lvl="2">
              <a:lnSpc>
                <a:spcPts val="3812"/>
              </a:lnSpc>
              <a:buFont typeface="Arial"/>
              <a:buChar char="⚬"/>
            </a:pPr>
            <a:r>
              <a:rPr lang="en-US" sz="2541">
                <a:solidFill>
                  <a:srgbClr val="E5E3E6"/>
                </a:solidFill>
                <a:latin typeface="Garet"/>
                <a:ea typeface="Garet"/>
                <a:cs typeface="Garet"/>
                <a:sym typeface="Garet"/>
              </a:rPr>
              <a:t>Kapsam Dışı (Out of Scope): Üçüncü parti paket servis (Getir, Yemeksepeti vb.) API entegrasyonları, harici mobil sadakat uygulamaları ve muhasebe modülleri.</a:t>
            </a:r>
          </a:p>
          <a:p>
            <a:pPr algn="l" marL="548739" indent="-274370" lvl="1">
              <a:lnSpc>
                <a:spcPts val="3812"/>
              </a:lnSpc>
              <a:buFont typeface="Arial"/>
              <a:buChar char="•"/>
            </a:pPr>
            <a:r>
              <a:rPr lang="en-US" sz="2541">
                <a:solidFill>
                  <a:srgbClr val="E5E3E6"/>
                </a:solidFill>
                <a:latin typeface="Garet"/>
                <a:ea typeface="Garet"/>
                <a:cs typeface="Garet"/>
                <a:sym typeface="Garet"/>
              </a:rPr>
              <a:t>Kapsamın Doğrulanması (Müşteri Onayı) ve Değişiklik Kontrolü: Kapsamda yapılacak herhangi bir değişiklik, raporda oluşturulan İletişim RACI Matrisi'ndeki kurallara bağlanmıştır. Değişiklik istekleri değerlendirilirken Proje Yöneticisi (Mehmet) yürütücü (P), Müşteri/Sponsor ise nihai onay merci (A) olarak belirlenmiştir.</a:t>
            </a:r>
          </a:p>
          <a:p>
            <a:pPr algn="l">
              <a:lnSpc>
                <a:spcPts val="381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646444" cy="793540"/>
          </a:xfrm>
          <a:custGeom>
            <a:avLst/>
            <a:gdLst/>
            <a:ahLst/>
            <a:cxnLst/>
            <a:rect r="r" b="b" t="t" l="l"/>
            <a:pathLst>
              <a:path h="793540" w="1646444">
                <a:moveTo>
                  <a:pt x="0" y="0"/>
                </a:moveTo>
                <a:lnTo>
                  <a:pt x="1646444" y="0"/>
                </a:lnTo>
                <a:lnTo>
                  <a:pt x="1646444" y="793540"/>
                </a:lnTo>
                <a:lnTo>
                  <a:pt x="0" y="793540"/>
                </a:lnTo>
                <a:lnTo>
                  <a:pt x="0" y="0"/>
                </a:lnTo>
                <a:close/>
              </a:path>
            </a:pathLst>
          </a:custGeom>
          <a:blipFill>
            <a:blip r:embed="rId2">
              <a:extLst>
                <a:ext uri="{96DAC541-7B7A-43D3-8B79-37D633B846F1}">
                  <asvg:svgBlip xmlns:asvg="http://schemas.microsoft.com/office/drawing/2016/SVG/main" r:embed="rId3"/>
                </a:ext>
              </a:extLst>
            </a:blip>
            <a:stretch>
              <a:fillRect l="0" t="0" r="0" b="-107480"/>
            </a:stretch>
          </a:blipFill>
        </p:spPr>
      </p:sp>
      <p:sp>
        <p:nvSpPr>
          <p:cNvPr name="Freeform 3" id="3"/>
          <p:cNvSpPr/>
          <p:nvPr/>
        </p:nvSpPr>
        <p:spPr>
          <a:xfrm flipH="false" flipV="false" rot="0">
            <a:off x="1399712" y="0"/>
            <a:ext cx="1646444" cy="793540"/>
          </a:xfrm>
          <a:custGeom>
            <a:avLst/>
            <a:gdLst/>
            <a:ahLst/>
            <a:cxnLst/>
            <a:rect r="r" b="b" t="t" l="l"/>
            <a:pathLst>
              <a:path h="793540" w="1646444">
                <a:moveTo>
                  <a:pt x="0" y="0"/>
                </a:moveTo>
                <a:lnTo>
                  <a:pt x="1646444" y="0"/>
                </a:lnTo>
                <a:lnTo>
                  <a:pt x="1646444" y="793540"/>
                </a:lnTo>
                <a:lnTo>
                  <a:pt x="0" y="793540"/>
                </a:lnTo>
                <a:lnTo>
                  <a:pt x="0" y="0"/>
                </a:lnTo>
                <a:close/>
              </a:path>
            </a:pathLst>
          </a:custGeom>
          <a:blipFill>
            <a:blip r:embed="rId4">
              <a:extLst>
                <a:ext uri="{96DAC541-7B7A-43D3-8B79-37D633B846F1}">
                  <asvg:svgBlip xmlns:asvg="http://schemas.microsoft.com/office/drawing/2016/SVG/main" r:embed="rId5"/>
                </a:ext>
              </a:extLst>
            </a:blip>
            <a:stretch>
              <a:fillRect l="0" t="0" r="0" b="-107480"/>
            </a:stretch>
          </a:blipFill>
        </p:spPr>
      </p:sp>
      <p:sp>
        <p:nvSpPr>
          <p:cNvPr name="Freeform 4" id="4"/>
          <p:cNvSpPr/>
          <p:nvPr/>
        </p:nvSpPr>
        <p:spPr>
          <a:xfrm flipH="false" flipV="false" rot="0">
            <a:off x="15822282" y="8018889"/>
            <a:ext cx="2465718" cy="2479241"/>
          </a:xfrm>
          <a:custGeom>
            <a:avLst/>
            <a:gdLst/>
            <a:ahLst/>
            <a:cxnLst/>
            <a:rect r="r" b="b" t="t" l="l"/>
            <a:pathLst>
              <a:path h="2479241" w="2465718">
                <a:moveTo>
                  <a:pt x="0" y="0"/>
                </a:moveTo>
                <a:lnTo>
                  <a:pt x="2465718" y="0"/>
                </a:lnTo>
                <a:lnTo>
                  <a:pt x="2465718" y="2479242"/>
                </a:lnTo>
                <a:lnTo>
                  <a:pt x="0" y="24792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046156" y="707815"/>
            <a:ext cx="12571998" cy="9256673"/>
          </a:xfrm>
          <a:prstGeom prst="rect">
            <a:avLst/>
          </a:prstGeom>
        </p:spPr>
        <p:txBody>
          <a:bodyPr anchor="t" rtlCol="false" tIns="0" lIns="0" bIns="0" rIns="0">
            <a:spAutoFit/>
          </a:bodyPr>
          <a:lstStyle/>
          <a:p>
            <a:pPr algn="l">
              <a:lnSpc>
                <a:spcPts val="4264"/>
              </a:lnSpc>
            </a:pPr>
            <a:r>
              <a:rPr lang="en-US" sz="2842" b="true">
                <a:solidFill>
                  <a:srgbClr val="E5E3E6"/>
                </a:solidFill>
                <a:latin typeface="Garet Bold"/>
                <a:ea typeface="Garet Bold"/>
                <a:cs typeface="Garet Bold"/>
                <a:sym typeface="Garet Bold"/>
              </a:rPr>
              <a:t>İş Kırılım Yapısı (WBS): Az ve Aşırı Detaylandırma Dengesi</a:t>
            </a:r>
          </a:p>
          <a:p>
            <a:pPr algn="l" marL="592150" indent="-296075" lvl="1">
              <a:lnSpc>
                <a:spcPts val="4114"/>
              </a:lnSpc>
              <a:buFont typeface="Arial"/>
              <a:buChar char="•"/>
            </a:pPr>
            <a:r>
              <a:rPr lang="en-US" sz="2742">
                <a:solidFill>
                  <a:srgbClr val="E5E3E6"/>
                </a:solidFill>
                <a:latin typeface="Garet"/>
                <a:ea typeface="Garet"/>
                <a:cs typeface="Garet"/>
                <a:sym typeface="Garet"/>
              </a:rPr>
              <a:t>Az Detaylandırma (Görevleri Atlama) Hatasından Kaçınma: Projenin tüm teslimatları hiyerarşik ol</a:t>
            </a:r>
            <a:r>
              <a:rPr lang="en-US" sz="2742">
                <a:solidFill>
                  <a:srgbClr val="E5E3E6"/>
                </a:solidFill>
                <a:latin typeface="Garet"/>
                <a:ea typeface="Garet"/>
                <a:cs typeface="Garet"/>
                <a:sym typeface="Garet"/>
              </a:rPr>
              <a:t>arak organize edilmiş ve hiçbir kritik adım atlanmamıştır. Toplam 8 ana faaliyet (Analiz, Mimari, Backend, UI/UX, Entegrasyon, Donanım Kurulumu, Sistem Testleri, Final Teslimat) alt iş paketlerine kadar kırılmıştır. Örneğin, donanım kurulumu tek bir blok olarak bırakılmamış; Tablet kurulumu (1.6.1), Ağ altyapısı (1.6.2) ve Termal yazıcı kurulumu (1.6.3) şeklinde eksiksiz detaylandırılmıştır.</a:t>
            </a:r>
          </a:p>
          <a:p>
            <a:pPr algn="l">
              <a:lnSpc>
                <a:spcPts val="4114"/>
              </a:lnSpc>
            </a:pPr>
          </a:p>
          <a:p>
            <a:pPr algn="l" marL="592150" indent="-296075" lvl="1">
              <a:lnSpc>
                <a:spcPts val="4114"/>
              </a:lnSpc>
              <a:buFont typeface="Arial"/>
              <a:buChar char="•"/>
            </a:pPr>
            <a:r>
              <a:rPr lang="en-US" sz="2742">
                <a:solidFill>
                  <a:srgbClr val="E5E3E6"/>
                </a:solidFill>
                <a:latin typeface="Garet"/>
                <a:ea typeface="Garet"/>
                <a:cs typeface="Garet"/>
                <a:sym typeface="Garet"/>
              </a:rPr>
              <a:t>Aşırı Detaylandırma (</a:t>
            </a:r>
            <a:r>
              <a:rPr lang="en-US" sz="2742">
                <a:solidFill>
                  <a:srgbClr val="E5E3E6"/>
                </a:solidFill>
                <a:latin typeface="Garet"/>
                <a:ea typeface="Garet"/>
                <a:cs typeface="Garet"/>
                <a:sym typeface="Garet"/>
              </a:rPr>
              <a:t>Mikro Yönetim ve Moral Bozukluğu) Hatasından Kaçınma: Projede WBS yönetimsel bir ilke olarak "Süre Kuralı" ile dizayn edilmiştir. Hiçbir iş paketi ekibi boğacak veya moral bozacak şekilde saatlik veya günlük mikro görevlere (Örn: "Arayüz buton renginin değiştirilmesi" gibi) bölünmemiştir. Kontrolü kolaylaştırmak adına iş paketleri makul süre sınırları (en fazla 4 hafta) içinde tutulmuştur.</a:t>
            </a:r>
          </a:p>
          <a:p>
            <a:pPr algn="l">
              <a:lnSpc>
                <a:spcPts val="4114"/>
              </a:lnSpc>
              <a:spcBef>
                <a:spcPct val="0"/>
              </a:spcBef>
            </a:pPr>
          </a:p>
        </p:txBody>
      </p:sp>
      <p:sp>
        <p:nvSpPr>
          <p:cNvPr name="Freeform 6" id="6"/>
          <p:cNvSpPr/>
          <p:nvPr/>
        </p:nvSpPr>
        <p:spPr>
          <a:xfrm flipH="false" flipV="false" rot="0">
            <a:off x="-298453" y="8617712"/>
            <a:ext cx="4468545" cy="4468545"/>
          </a:xfrm>
          <a:custGeom>
            <a:avLst/>
            <a:gdLst/>
            <a:ahLst/>
            <a:cxnLst/>
            <a:rect r="r" b="b" t="t" l="l"/>
            <a:pathLst>
              <a:path h="4468545" w="4468545">
                <a:moveTo>
                  <a:pt x="0" y="0"/>
                </a:moveTo>
                <a:lnTo>
                  <a:pt x="4468544" y="0"/>
                </a:lnTo>
                <a:lnTo>
                  <a:pt x="4468544" y="4468545"/>
                </a:lnTo>
                <a:lnTo>
                  <a:pt x="0" y="44685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2161675" y="780094"/>
            <a:ext cx="15097625" cy="8559877"/>
          </a:xfrm>
          <a:prstGeom prst="rect">
            <a:avLst/>
          </a:prstGeom>
        </p:spPr>
        <p:txBody>
          <a:bodyPr anchor="t" rtlCol="false" tIns="0" lIns="0" bIns="0" rIns="0">
            <a:spAutoFit/>
          </a:bodyPr>
          <a:lstStyle/>
          <a:p>
            <a:pPr algn="l">
              <a:lnSpc>
                <a:spcPts val="4696"/>
              </a:lnSpc>
            </a:pPr>
            <a:r>
              <a:rPr lang="en-US" sz="3131" b="true">
                <a:solidFill>
                  <a:srgbClr val="E5E3E6"/>
                </a:solidFill>
                <a:latin typeface="Garet Bold"/>
                <a:ea typeface="Garet Bold"/>
                <a:cs typeface="Garet Bold"/>
                <a:sym typeface="Garet Bold"/>
              </a:rPr>
              <a:t>WBS Sözlüğü ve İş Paketleri: MIL-STD-881A Standartları ve Çıktı Odaklılık</a:t>
            </a:r>
          </a:p>
          <a:p>
            <a:pPr algn="l">
              <a:lnSpc>
                <a:spcPts val="4546"/>
              </a:lnSpc>
            </a:pPr>
            <a:r>
              <a:rPr lang="en-US" sz="3031">
                <a:solidFill>
                  <a:srgbClr val="E5E3E6"/>
                </a:solidFill>
                <a:latin typeface="Garet"/>
                <a:ea typeface="Garet"/>
                <a:cs typeface="Garet"/>
                <a:sym typeface="Garet"/>
              </a:rPr>
              <a:t>Akademik Vurgu: Projedeki her bir iş p</a:t>
            </a:r>
            <a:r>
              <a:rPr lang="en-US" sz="3031">
                <a:solidFill>
                  <a:srgbClr val="E5E3E6"/>
                </a:solidFill>
                <a:latin typeface="Garet"/>
                <a:ea typeface="Garet"/>
                <a:cs typeface="Garet"/>
                <a:sym typeface="Garet"/>
              </a:rPr>
              <a:t>aketinin hedefi, bütçesi ve içeriği MIL-STD-881A gibi uluslararası standartların mantığı gözetilerek "Çıktı Odaklı" tanımlanmıştır. İş kırılım yapısında yer almayan hiçbir iş, proje kapsamında kabul edilmemiştir.</a:t>
            </a:r>
          </a:p>
          <a:p>
            <a:pPr algn="l" marL="654462" indent="-327231" lvl="1">
              <a:lnSpc>
                <a:spcPts val="4546"/>
              </a:lnSpc>
              <a:buFont typeface="Arial"/>
              <a:buChar char="•"/>
            </a:pPr>
            <a:r>
              <a:rPr lang="en-US" sz="3031">
                <a:solidFill>
                  <a:srgbClr val="E5E3E6"/>
                </a:solidFill>
                <a:latin typeface="Garet"/>
                <a:ea typeface="Garet"/>
                <a:cs typeface="Garet"/>
                <a:sym typeface="Garet"/>
              </a:rPr>
              <a:t>WBS 1.2.1 - Veritabanı Tasarımı (2 Gün): Hedef, sistemin veri mimarisini kurmaktır. Girdi olarak gereksinim analiz raporunu alır, somut çıktı olarak ise jüriye sunulacak olan ER </a:t>
            </a:r>
            <a:r>
              <a:rPr lang="en-US" sz="3031">
                <a:solidFill>
                  <a:srgbClr val="E5E3E6"/>
                </a:solidFill>
                <a:latin typeface="Garet"/>
                <a:ea typeface="Garet"/>
                <a:cs typeface="Garet"/>
                <a:sym typeface="Garet"/>
              </a:rPr>
              <a:t>Ver</a:t>
            </a:r>
            <a:r>
              <a:rPr lang="en-US" sz="3031">
                <a:solidFill>
                  <a:srgbClr val="E5E3E6"/>
                </a:solidFill>
                <a:latin typeface="Garet"/>
                <a:ea typeface="Garet"/>
                <a:cs typeface="Garet"/>
                <a:sym typeface="Garet"/>
              </a:rPr>
              <a:t>itabanı Şeması üretilir.</a:t>
            </a:r>
          </a:p>
          <a:p>
            <a:pPr algn="l" marL="654462" indent="-327231" lvl="1">
              <a:lnSpc>
                <a:spcPts val="4546"/>
              </a:lnSpc>
              <a:buFont typeface="Arial"/>
              <a:buChar char="•"/>
            </a:pPr>
            <a:r>
              <a:rPr lang="en-US" sz="3031">
                <a:solidFill>
                  <a:srgbClr val="E5E3E6"/>
                </a:solidFill>
                <a:latin typeface="Garet"/>
                <a:ea typeface="Garet"/>
                <a:cs typeface="Garet"/>
                <a:sym typeface="Garet"/>
              </a:rPr>
              <a:t>WBS 1.3.1 - POS Modülü API Servisleri (4 Gün): Sipariş ve m</a:t>
            </a:r>
            <a:r>
              <a:rPr lang="en-US" sz="3031">
                <a:solidFill>
                  <a:srgbClr val="E5E3E6"/>
                </a:solidFill>
                <a:latin typeface="Garet"/>
                <a:ea typeface="Garet"/>
                <a:cs typeface="Garet"/>
                <a:sym typeface="Garet"/>
              </a:rPr>
              <a:t>asa</a:t>
            </a:r>
            <a:r>
              <a:rPr lang="en-US" sz="3031">
                <a:solidFill>
                  <a:srgbClr val="E5E3E6"/>
                </a:solidFill>
                <a:latin typeface="Garet"/>
                <a:ea typeface="Garet"/>
                <a:cs typeface="Garet"/>
                <a:sym typeface="Garet"/>
              </a:rPr>
              <a:t> takibi fonksiyonlarının backendini Express.js ile kodlamayı hedefler. Çıktısı Çalışan Backend API Servisi Kodlarıdır.</a:t>
            </a:r>
          </a:p>
          <a:p>
            <a:pPr algn="l" marL="654462" indent="-327231" lvl="1">
              <a:lnSpc>
                <a:spcPts val="4546"/>
              </a:lnSpc>
              <a:buFont typeface="Arial"/>
              <a:buChar char="•"/>
            </a:pPr>
            <a:r>
              <a:rPr lang="en-US" sz="3031">
                <a:solidFill>
                  <a:srgbClr val="E5E3E6"/>
                </a:solidFill>
                <a:latin typeface="Garet"/>
                <a:ea typeface="Garet"/>
                <a:cs typeface="Garet"/>
                <a:sym typeface="Garet"/>
              </a:rPr>
              <a:t>WBS 1.6.2 - Ağ Altyapısı ve Lokal Server Kurulumu (2 Gün): İnternet kesildiğinde sistemin lokal ağda en az 24 saat veri kayıpsız çalışmasını hedefler. Çıktısı Fiziksel Kurulum ve Sinyal Test Raporudur.</a:t>
            </a:r>
          </a:p>
          <a:p>
            <a:pPr algn="l">
              <a:lnSpc>
                <a:spcPts val="4546"/>
              </a:lnSpc>
              <a:spcBef>
                <a:spcPct val="0"/>
              </a:spcBef>
            </a:pP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p:cSld>
    <p:bg>
      <p:bgPr>
        <a:gradFill rotWithShape="true">
          <a:gsLst>
            <a:gs pos="0">
              <a:srgbClr val="7A7D46">
                <a:alpha val="100000"/>
              </a:srgbClr>
            </a:gs>
            <a:gs pos="50000">
              <a:srgbClr val="777B41">
                <a:alpha val="100000"/>
              </a:srgbClr>
            </a:gs>
            <a:gs pos="100000">
              <a:srgbClr val="3D3D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19359" y="667978"/>
            <a:ext cx="16849282" cy="9436674"/>
          </a:xfrm>
          <a:prstGeom prst="rect">
            <a:avLst/>
          </a:prstGeom>
        </p:spPr>
        <p:txBody>
          <a:bodyPr anchor="t" rtlCol="false" tIns="0" lIns="0" bIns="0" rIns="0">
            <a:spAutoFit/>
          </a:bodyPr>
          <a:lstStyle/>
          <a:p>
            <a:pPr algn="l">
              <a:lnSpc>
                <a:spcPts val="4302"/>
              </a:lnSpc>
            </a:pPr>
            <a:r>
              <a:rPr lang="en-US" sz="2868" b="true">
                <a:solidFill>
                  <a:srgbClr val="E5E3E6"/>
                </a:solidFill>
                <a:latin typeface="Garet Bold"/>
                <a:ea typeface="Garet Bold"/>
                <a:cs typeface="Garet Bold"/>
                <a:sym typeface="Garet Bold"/>
              </a:rPr>
              <a:t>Sorumluluk Atama Matrisi (LRC / RAM): S</a:t>
            </a:r>
            <a:r>
              <a:rPr lang="en-US" sz="2868" b="true">
                <a:solidFill>
                  <a:srgbClr val="E5E3E6"/>
                </a:solidFill>
                <a:latin typeface="Garet Bold"/>
                <a:ea typeface="Garet Bold"/>
                <a:cs typeface="Garet Bold"/>
                <a:sym typeface="Garet Bold"/>
              </a:rPr>
              <a:t>ahipsiz Alanların Yok Edilmesi</a:t>
            </a:r>
          </a:p>
          <a:p>
            <a:pPr algn="l" marL="597672" indent="-298836" lvl="1">
              <a:lnSpc>
                <a:spcPts val="4152"/>
              </a:lnSpc>
              <a:buFont typeface="Arial"/>
              <a:buChar char="•"/>
            </a:pPr>
            <a:r>
              <a:rPr lang="en-US" sz="2768">
                <a:solidFill>
                  <a:srgbClr val="E5E3E6"/>
                </a:solidFill>
                <a:latin typeface="Garet"/>
                <a:ea typeface="Garet"/>
                <a:cs typeface="Garet"/>
                <a:sym typeface="Garet"/>
              </a:rPr>
              <a:t>Organizasyonel Entegrasyon (WBS ve OBS Eşleşmesi): Tanımlanan iş paket</a:t>
            </a:r>
            <a:r>
              <a:rPr lang="en-US" sz="2768">
                <a:solidFill>
                  <a:srgbClr val="E5E3E6"/>
                </a:solidFill>
                <a:latin typeface="Garet"/>
                <a:ea typeface="Garet"/>
                <a:cs typeface="Garet"/>
                <a:sym typeface="Garet"/>
              </a:rPr>
              <a:t>leri (WBS), projenin organizasyon yapısındaki (OBS) 5 bilgisayar mühendisiyle (Mehmet, Hüsne, Özlem, Bektaş, Yunus Emre) mantıksal olarak eşleştirilmiştir.</a:t>
            </a:r>
            <a:r>
              <a:rPr lang="en-US" sz="2768">
                <a:solidFill>
                  <a:srgbClr val="E5E3E6"/>
                </a:solidFill>
                <a:latin typeface="Garet"/>
                <a:ea typeface="Garet"/>
                <a:cs typeface="Garet"/>
                <a:sym typeface="Garet"/>
              </a:rPr>
              <a:t> Roller; P (Birincil Sorumlu), A (Onay Yetkilisi), R (İnceleyen) ve I (Girdi Sağlayan) sembolleriyle dağıtılmıştır.</a:t>
            </a:r>
          </a:p>
          <a:p>
            <a:pPr algn="l">
              <a:lnSpc>
                <a:spcPts val="4152"/>
              </a:lnSpc>
            </a:pPr>
          </a:p>
          <a:p>
            <a:pPr algn="l" marL="597672" indent="-298836" lvl="1">
              <a:lnSpc>
                <a:spcPts val="4152"/>
              </a:lnSpc>
              <a:buFont typeface="Arial"/>
              <a:buChar char="•"/>
            </a:pPr>
            <a:r>
              <a:rPr lang="en-US" sz="2768">
                <a:solidFill>
                  <a:srgbClr val="E5E3E6"/>
                </a:solidFill>
                <a:latin typeface="Garet"/>
                <a:ea typeface="Garet"/>
                <a:cs typeface="Garet"/>
                <a:sym typeface="Garet"/>
              </a:rPr>
              <a:t>"Sahipsiz Alanların" Yok Edilmesi: Proje yönetiminde işlerin ortada kalmasını engellemek adına matrisin her satırında kesinlikle en az ve en fazla bir adet P (Birincil Sorumlu) bulunması sağlanmıştır. Böylece hesap verebilirlik netleştirilmiştir.</a:t>
            </a:r>
          </a:p>
          <a:p>
            <a:pPr algn="l">
              <a:lnSpc>
                <a:spcPts val="4152"/>
              </a:lnSpc>
            </a:pPr>
          </a:p>
          <a:p>
            <a:pPr algn="l" marL="597672" indent="-298836" lvl="1">
              <a:lnSpc>
                <a:spcPts val="4152"/>
              </a:lnSpc>
              <a:buFont typeface="Arial"/>
              <a:buChar char="•"/>
            </a:pPr>
            <a:r>
              <a:rPr lang="en-US" sz="2768">
                <a:solidFill>
                  <a:srgbClr val="E5E3E6"/>
                </a:solidFill>
                <a:latin typeface="Garet"/>
                <a:ea typeface="Garet"/>
                <a:cs typeface="Garet"/>
                <a:sym typeface="Garet"/>
              </a:rPr>
              <a:t>*** Görev Dağılımından Örnekler:</a:t>
            </a:r>
          </a:p>
          <a:p>
            <a:pPr algn="l" marL="1195347" indent="-398449" lvl="2">
              <a:lnSpc>
                <a:spcPts val="4152"/>
              </a:lnSpc>
              <a:buFont typeface="Arial"/>
              <a:buChar char="⚬"/>
            </a:pPr>
            <a:r>
              <a:rPr lang="en-US" sz="2768">
                <a:solidFill>
                  <a:srgbClr val="E5E3E6"/>
                </a:solidFill>
                <a:latin typeface="Garet"/>
                <a:ea typeface="Garet"/>
                <a:cs typeface="Garet"/>
                <a:sym typeface="Garet"/>
              </a:rPr>
              <a:t>Veritabanı Tasarımı (1.2): Sorumluluğum gereği birincil yürütücü P (Bektaş K.) olarak benimdir; analistimiz Yunus Emre ise onay (A) yetkisindedir.</a:t>
            </a:r>
          </a:p>
          <a:p>
            <a:pPr algn="l" marL="1195343" indent="-398448" lvl="2">
              <a:lnSpc>
                <a:spcPts val="4152"/>
              </a:lnSpc>
              <a:buFont typeface="Arial"/>
              <a:buChar char="⚬"/>
            </a:pPr>
            <a:r>
              <a:rPr lang="en-US" sz="2768">
                <a:solidFill>
                  <a:srgbClr val="E5E3E6"/>
                </a:solidFill>
                <a:latin typeface="Garet"/>
                <a:ea typeface="Garet"/>
                <a:cs typeface="Garet"/>
                <a:sym typeface="Garet"/>
              </a:rPr>
              <a:t>Backend Geliştirme (1.4): Birincil yürütücü P (Hüsne Nur) iken, ben bu sürece teknik veritabanı desteği sağlamak için girdi (I) rolündeyim.</a:t>
            </a:r>
          </a:p>
          <a:p>
            <a:pPr algn="l" marL="1195343" indent="-398448" lvl="2">
              <a:lnSpc>
                <a:spcPts val="4152"/>
              </a:lnSpc>
              <a:buFont typeface="Arial"/>
              <a:buChar char="⚬"/>
            </a:pPr>
            <a:r>
              <a:rPr lang="en-US" sz="2768">
                <a:solidFill>
                  <a:srgbClr val="E5E3E6"/>
                </a:solidFill>
                <a:latin typeface="Garet"/>
                <a:ea typeface="Garet"/>
                <a:cs typeface="Garet"/>
                <a:sym typeface="Garet"/>
              </a:rPr>
              <a:t>UI/UX Tasarımı (1.5): Birincil yürütücü P (Özlem C.) iken, benim rolüm veritabanı yansıması açısından bilgilendirilecek (N) paydaş olmaktır.</a:t>
            </a:r>
          </a:p>
          <a:p>
            <a:pPr algn="l">
              <a:lnSpc>
                <a:spcPts val="4152"/>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7A7D46">
                <a:alpha val="100000"/>
              </a:srgbClr>
            </a:gs>
            <a:gs pos="50000">
              <a:srgbClr val="777B41">
                <a:alpha val="100000"/>
              </a:srgbClr>
            </a:gs>
            <a:gs pos="100000">
              <a:srgbClr val="3D3D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542099" y="0"/>
            <a:ext cx="15717201" cy="2438400"/>
          </a:xfrm>
          <a:prstGeom prst="rect">
            <a:avLst/>
          </a:prstGeom>
        </p:spPr>
        <p:txBody>
          <a:bodyPr anchor="t" rtlCol="false" tIns="0" lIns="0" bIns="0" rIns="0">
            <a:spAutoFit/>
          </a:bodyPr>
          <a:lstStyle/>
          <a:p>
            <a:pPr algn="l">
              <a:lnSpc>
                <a:spcPts val="9600"/>
              </a:lnSpc>
            </a:pPr>
            <a:r>
              <a:rPr lang="en-US" sz="8000" b="true">
                <a:solidFill>
                  <a:srgbClr val="FFFFFF"/>
                </a:solidFill>
                <a:latin typeface="Open Sans Bold"/>
                <a:ea typeface="Open Sans Bold"/>
                <a:cs typeface="Open Sans Bold"/>
                <a:sym typeface="Open Sans Bold"/>
              </a:rPr>
              <a:t>Proje Sınıflandırması: C Türü</a:t>
            </a:r>
          </a:p>
          <a:p>
            <a:pPr algn="l" marL="0" indent="0" lvl="0">
              <a:lnSpc>
                <a:spcPts val="9600"/>
              </a:lnSpc>
              <a:spcBef>
                <a:spcPct val="0"/>
              </a:spcBef>
            </a:pPr>
          </a:p>
        </p:txBody>
      </p:sp>
      <p:sp>
        <p:nvSpPr>
          <p:cNvPr name="TextBox 3" id="3"/>
          <p:cNvSpPr txBox="true"/>
          <p:nvPr/>
        </p:nvSpPr>
        <p:spPr>
          <a:xfrm rot="0">
            <a:off x="5855653" y="1872334"/>
            <a:ext cx="4464151" cy="674933"/>
          </a:xfrm>
          <a:prstGeom prst="rect">
            <a:avLst/>
          </a:prstGeom>
        </p:spPr>
        <p:txBody>
          <a:bodyPr anchor="t" rtlCol="false" tIns="0" lIns="0" bIns="0" rIns="0">
            <a:spAutoFit/>
          </a:bodyPr>
          <a:lstStyle/>
          <a:p>
            <a:pPr algn="l" marL="862212" indent="-431106" lvl="1">
              <a:lnSpc>
                <a:spcPts val="5590"/>
              </a:lnSpc>
              <a:spcBef>
                <a:spcPct val="0"/>
              </a:spcBef>
              <a:buFont typeface="Arial"/>
              <a:buChar char="•"/>
            </a:pPr>
            <a:r>
              <a:rPr lang="en-US" b="true" sz="3993">
                <a:solidFill>
                  <a:srgbClr val="FFFFFF"/>
                </a:solidFill>
                <a:latin typeface="Open Sans Bold"/>
                <a:ea typeface="Open Sans Bold"/>
                <a:cs typeface="Open Sans Bold"/>
                <a:sym typeface="Open Sans Bold"/>
              </a:rPr>
              <a:t>neden c türü ?</a:t>
            </a:r>
          </a:p>
        </p:txBody>
      </p:sp>
      <p:sp>
        <p:nvSpPr>
          <p:cNvPr name="TextBox 4" id="4"/>
          <p:cNvSpPr txBox="true"/>
          <p:nvPr/>
        </p:nvSpPr>
        <p:spPr>
          <a:xfrm rot="0">
            <a:off x="1152404" y="3448922"/>
            <a:ext cx="12615673" cy="495301"/>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Open Sans Bold"/>
                <a:ea typeface="Open Sans Bold"/>
                <a:cs typeface="Open Sans Bold"/>
                <a:sym typeface="Open Sans Bold"/>
              </a:rPr>
              <a:t>Karmaşıklık Düzeyi:</a:t>
            </a:r>
            <a:r>
              <a:rPr lang="en-US" sz="2999">
                <a:solidFill>
                  <a:srgbClr val="FFFFFF"/>
                </a:solidFill>
                <a:latin typeface="Open Sans"/>
                <a:ea typeface="Open Sans"/>
                <a:cs typeface="Open Sans"/>
                <a:sym typeface="Open Sans"/>
              </a:rPr>
              <a:t> Proje, o</a:t>
            </a:r>
            <a:r>
              <a:rPr lang="en-US" sz="2999">
                <a:solidFill>
                  <a:srgbClr val="FFFFFF"/>
                </a:solidFill>
                <a:latin typeface="Open Sans"/>
                <a:ea typeface="Open Sans"/>
                <a:cs typeface="Open Sans"/>
                <a:sym typeface="Open Sans"/>
              </a:rPr>
              <a:t>rta derecede karmaşık bir yapıya sahiptir. </a:t>
            </a:r>
          </a:p>
        </p:txBody>
      </p:sp>
      <p:sp>
        <p:nvSpPr>
          <p:cNvPr name="TextBox 5" id="5"/>
          <p:cNvSpPr txBox="true"/>
          <p:nvPr/>
        </p:nvSpPr>
        <p:spPr>
          <a:xfrm rot="0">
            <a:off x="-178631" y="4503613"/>
            <a:ext cx="17711636" cy="1543051"/>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Open Sans Bold"/>
                <a:ea typeface="Open Sans Bold"/>
                <a:cs typeface="Open Sans Bold"/>
                <a:sym typeface="Open Sans Bold"/>
              </a:rPr>
              <a:t>Teknoloji Yoğunluğu: </a:t>
            </a:r>
            <a:r>
              <a:rPr lang="en-US" sz="2999">
                <a:solidFill>
                  <a:srgbClr val="FFFFFF"/>
                </a:solidFill>
                <a:latin typeface="Open Sans"/>
                <a:ea typeface="Open Sans"/>
                <a:cs typeface="Open Sans"/>
                <a:sym typeface="Open Sans"/>
              </a:rPr>
              <a:t>Proje, "yüksek </a:t>
            </a:r>
            <a:r>
              <a:rPr lang="en-US" sz="2999">
                <a:solidFill>
                  <a:srgbClr val="FFFFFF"/>
                </a:solidFill>
                <a:latin typeface="Open Sans"/>
                <a:ea typeface="Open Sans"/>
                <a:cs typeface="Open Sans"/>
                <a:sym typeface="Open Sans"/>
              </a:rPr>
              <a:t>teknoloji" kategorisinde yer almaktadır. Restoran     operasyonları için geliştirilen "offline-first" destekli hibrit mimari, standart çözümlerin ötesinde teknik bir derinlik ve inovasyon gerektirir</a:t>
            </a:r>
          </a:p>
        </p:txBody>
      </p:sp>
      <p:sp>
        <p:nvSpPr>
          <p:cNvPr name="TextBox 6" id="6"/>
          <p:cNvSpPr txBox="true"/>
          <p:nvPr/>
        </p:nvSpPr>
        <p:spPr>
          <a:xfrm rot="0">
            <a:off x="716357" y="6694364"/>
            <a:ext cx="16542943" cy="1580037"/>
          </a:xfrm>
          <a:prstGeom prst="rect">
            <a:avLst/>
          </a:prstGeom>
        </p:spPr>
        <p:txBody>
          <a:bodyPr anchor="t" rtlCol="false" tIns="0" lIns="0" bIns="0" rIns="0">
            <a:spAutoFit/>
          </a:bodyPr>
          <a:lstStyle/>
          <a:p>
            <a:pPr algn="ctr">
              <a:lnSpc>
                <a:spcPts val="4261"/>
              </a:lnSpc>
              <a:spcBef>
                <a:spcPct val="0"/>
              </a:spcBef>
            </a:pPr>
            <a:r>
              <a:rPr lang="en-US" b="true" sz="3043">
                <a:solidFill>
                  <a:srgbClr val="FFFFFF"/>
                </a:solidFill>
                <a:latin typeface="Open Sans Bold"/>
                <a:ea typeface="Open Sans Bold"/>
                <a:cs typeface="Open Sans Bold"/>
                <a:sym typeface="Open Sans Bold"/>
              </a:rPr>
              <a:t>Risk ve Kısıt Yönetimi:</a:t>
            </a:r>
            <a:r>
              <a:rPr lang="en-US" sz="3043">
                <a:solidFill>
                  <a:srgbClr val="FFFFFF"/>
                </a:solidFill>
                <a:latin typeface="Open Sans"/>
                <a:ea typeface="Open Sans"/>
                <a:cs typeface="Open Sans"/>
                <a:sym typeface="Open Sans"/>
              </a:rPr>
              <a:t> C Türü sınıflandırması, projenin belirli bir oranda risk barındırdığını vurgular. 11 haftalık kısıtlı zaman dilimi, donanım bütçesi limitleri ve insan kaynağı yönetimi (5 mühendis), bu risklerin disiplinli bir şekilde yönetilmesini zorunlu kılar.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flipV="true">
            <a:off x="639153" y="2221629"/>
            <a:ext cx="12734823" cy="0"/>
          </a:xfrm>
          <a:prstGeom prst="line">
            <a:avLst/>
          </a:prstGeom>
          <a:ln cap="rnd" w="19050">
            <a:solidFill>
              <a:srgbClr val="C6C6C6"/>
            </a:solidFill>
            <a:prstDash val="solid"/>
            <a:headEnd type="none" len="sm" w="sm"/>
            <a:tailEnd type="none" len="sm" w="sm"/>
          </a:ln>
        </p:spPr>
      </p:sp>
      <p:grpSp>
        <p:nvGrpSpPr>
          <p:cNvPr name="Group 3" id="3"/>
          <p:cNvGrpSpPr/>
          <p:nvPr/>
        </p:nvGrpSpPr>
        <p:grpSpPr>
          <a:xfrm rot="0">
            <a:off x="504769" y="2087245"/>
            <a:ext cx="268767" cy="268767"/>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C6C6"/>
            </a:solidFill>
          </p:spPr>
        </p:sp>
      </p:grpSp>
      <p:grpSp>
        <p:nvGrpSpPr>
          <p:cNvPr name="Group 5" id="5"/>
          <p:cNvGrpSpPr/>
          <p:nvPr/>
        </p:nvGrpSpPr>
        <p:grpSpPr>
          <a:xfrm rot="0">
            <a:off x="4063901" y="2079340"/>
            <a:ext cx="268767" cy="268767"/>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C6C6"/>
            </a:solidFill>
          </p:spPr>
        </p:sp>
      </p:grpSp>
      <p:grpSp>
        <p:nvGrpSpPr>
          <p:cNvPr name="Group 7" id="7"/>
          <p:cNvGrpSpPr/>
          <p:nvPr/>
        </p:nvGrpSpPr>
        <p:grpSpPr>
          <a:xfrm rot="0">
            <a:off x="8750564" y="2079340"/>
            <a:ext cx="268767" cy="268767"/>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C6C6"/>
            </a:solidFill>
          </p:spPr>
        </p:sp>
      </p:grpSp>
      <p:sp>
        <p:nvSpPr>
          <p:cNvPr name="Freeform 9" id="9"/>
          <p:cNvSpPr/>
          <p:nvPr/>
        </p:nvSpPr>
        <p:spPr>
          <a:xfrm flipH="false" flipV="false" rot="0">
            <a:off x="678295" y="5731996"/>
            <a:ext cx="5541964" cy="3124952"/>
          </a:xfrm>
          <a:custGeom>
            <a:avLst/>
            <a:gdLst/>
            <a:ahLst/>
            <a:cxnLst/>
            <a:rect r="r" b="b" t="t" l="l"/>
            <a:pathLst>
              <a:path h="3124952" w="5541964">
                <a:moveTo>
                  <a:pt x="0" y="0"/>
                </a:moveTo>
                <a:lnTo>
                  <a:pt x="5541963" y="0"/>
                </a:lnTo>
                <a:lnTo>
                  <a:pt x="5541963" y="3124952"/>
                </a:lnTo>
                <a:lnTo>
                  <a:pt x="0" y="3124952"/>
                </a:lnTo>
                <a:lnTo>
                  <a:pt x="0" y="0"/>
                </a:lnTo>
                <a:close/>
              </a:path>
            </a:pathLst>
          </a:custGeom>
          <a:blipFill>
            <a:blip r:embed="rId2"/>
            <a:stretch>
              <a:fillRect l="0" t="0" r="0" b="0"/>
            </a:stretch>
          </a:blipFill>
        </p:spPr>
      </p:sp>
      <p:sp>
        <p:nvSpPr>
          <p:cNvPr name="TextBox 10" id="10"/>
          <p:cNvSpPr txBox="true"/>
          <p:nvPr/>
        </p:nvSpPr>
        <p:spPr>
          <a:xfrm rot="0">
            <a:off x="4945746" y="419100"/>
            <a:ext cx="8567641" cy="1219200"/>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Open Sans Bold"/>
                <a:ea typeface="Open Sans Bold"/>
                <a:cs typeface="Open Sans Bold"/>
                <a:sym typeface="Open Sans Bold"/>
              </a:rPr>
              <a:t>Temel Nitelikler</a:t>
            </a:r>
          </a:p>
        </p:txBody>
      </p:sp>
      <p:sp>
        <p:nvSpPr>
          <p:cNvPr name="TextBox 11" id="11"/>
          <p:cNvSpPr txBox="true"/>
          <p:nvPr/>
        </p:nvSpPr>
        <p:spPr>
          <a:xfrm rot="0">
            <a:off x="504769" y="2914022"/>
            <a:ext cx="2792596" cy="339726"/>
          </a:xfrm>
          <a:prstGeom prst="rect">
            <a:avLst/>
          </a:prstGeom>
        </p:spPr>
        <p:txBody>
          <a:bodyPr anchor="t" rtlCol="false" tIns="0" lIns="0" bIns="0" rIns="0">
            <a:spAutoFit/>
          </a:bodyPr>
          <a:lstStyle/>
          <a:p>
            <a:pPr algn="l" marL="0" indent="0" lvl="0">
              <a:lnSpc>
                <a:spcPts val="2778"/>
              </a:lnSpc>
              <a:spcBef>
                <a:spcPct val="0"/>
              </a:spcBef>
            </a:pPr>
            <a:r>
              <a:rPr lang="en-US" b="true" sz="2137">
                <a:solidFill>
                  <a:srgbClr val="FFFFFF"/>
                </a:solidFill>
                <a:latin typeface="Open Sans Bold"/>
                <a:ea typeface="Open Sans Bold"/>
                <a:cs typeface="Open Sans Bold"/>
                <a:sym typeface="Open Sans Bold"/>
              </a:rPr>
              <a:t>Emsalsiz(benzersiz)</a:t>
            </a:r>
          </a:p>
        </p:txBody>
      </p:sp>
      <p:sp>
        <p:nvSpPr>
          <p:cNvPr name="TextBox 12" id="12"/>
          <p:cNvSpPr txBox="true"/>
          <p:nvPr/>
        </p:nvSpPr>
        <p:spPr>
          <a:xfrm rot="0">
            <a:off x="380893" y="3485720"/>
            <a:ext cx="2916472" cy="948246"/>
          </a:xfrm>
          <a:prstGeom prst="rect">
            <a:avLst/>
          </a:prstGeom>
        </p:spPr>
        <p:txBody>
          <a:bodyPr anchor="t" rtlCol="false" tIns="0" lIns="0" bIns="0" rIns="0">
            <a:spAutoFit/>
          </a:bodyPr>
          <a:lstStyle/>
          <a:p>
            <a:pPr algn="l" marL="0" indent="0" lvl="0">
              <a:lnSpc>
                <a:spcPts val="2548"/>
              </a:lnSpc>
              <a:spcBef>
                <a:spcPct val="0"/>
              </a:spcBef>
            </a:pPr>
            <a:r>
              <a:rPr lang="en-US" sz="1820">
                <a:solidFill>
                  <a:srgbClr val="FFFFFF"/>
                </a:solidFill>
                <a:latin typeface="Open Sans"/>
                <a:ea typeface="Open Sans"/>
                <a:cs typeface="Open Sans"/>
                <a:sym typeface="Open Sans"/>
              </a:rPr>
              <a:t>Restoran operasyonlarına özel "offline-first" hibrit mimari.</a:t>
            </a:r>
          </a:p>
        </p:txBody>
      </p:sp>
      <p:sp>
        <p:nvSpPr>
          <p:cNvPr name="TextBox 13" id="13"/>
          <p:cNvSpPr txBox="true"/>
          <p:nvPr/>
        </p:nvSpPr>
        <p:spPr>
          <a:xfrm rot="0">
            <a:off x="4063659" y="3466670"/>
            <a:ext cx="2997584" cy="1323796"/>
          </a:xfrm>
          <a:prstGeom prst="rect">
            <a:avLst/>
          </a:prstGeom>
        </p:spPr>
        <p:txBody>
          <a:bodyPr anchor="t" rtlCol="false" tIns="0" lIns="0" bIns="0" rIns="0">
            <a:spAutoFit/>
          </a:bodyPr>
          <a:lstStyle/>
          <a:p>
            <a:pPr algn="l" marL="0" indent="0" lvl="0">
              <a:lnSpc>
                <a:spcPts val="2619"/>
              </a:lnSpc>
              <a:spcBef>
                <a:spcPct val="0"/>
              </a:spcBef>
            </a:pPr>
            <a:r>
              <a:rPr lang="en-US" sz="1870">
                <a:solidFill>
                  <a:srgbClr val="FFFFFF"/>
                </a:solidFill>
                <a:latin typeface="Open Sans"/>
                <a:ea typeface="Open Sans"/>
                <a:cs typeface="Open Sans"/>
                <a:sym typeface="Open Sans"/>
              </a:rPr>
              <a:t>Mart 2026 - Haziran 2026 arası net yaşam döngüsü.</a:t>
            </a:r>
          </a:p>
          <a:p>
            <a:pPr algn="l" marL="0" indent="0" lvl="0">
              <a:lnSpc>
                <a:spcPts val="2619"/>
              </a:lnSpc>
              <a:spcBef>
                <a:spcPct val="0"/>
              </a:spcBef>
            </a:pPr>
          </a:p>
          <a:p>
            <a:pPr algn="l" marL="0" indent="0" lvl="0">
              <a:lnSpc>
                <a:spcPts val="2619"/>
              </a:lnSpc>
              <a:spcBef>
                <a:spcPct val="0"/>
              </a:spcBef>
            </a:pPr>
          </a:p>
        </p:txBody>
      </p:sp>
      <p:sp>
        <p:nvSpPr>
          <p:cNvPr name="TextBox 14" id="14"/>
          <p:cNvSpPr txBox="true"/>
          <p:nvPr/>
        </p:nvSpPr>
        <p:spPr>
          <a:xfrm rot="0">
            <a:off x="7809893" y="2914022"/>
            <a:ext cx="3724320" cy="687543"/>
          </a:xfrm>
          <a:prstGeom prst="rect">
            <a:avLst/>
          </a:prstGeom>
        </p:spPr>
        <p:txBody>
          <a:bodyPr anchor="t" rtlCol="false" tIns="0" lIns="0" bIns="0" rIns="0">
            <a:spAutoFit/>
          </a:bodyPr>
          <a:lstStyle/>
          <a:p>
            <a:pPr algn="l">
              <a:lnSpc>
                <a:spcPts val="2778"/>
              </a:lnSpc>
            </a:pPr>
            <a:r>
              <a:rPr lang="en-US" sz="2137" b="true">
                <a:solidFill>
                  <a:srgbClr val="FFFFFF"/>
                </a:solidFill>
                <a:latin typeface="Open Sans Bold"/>
                <a:ea typeface="Open Sans Bold"/>
                <a:cs typeface="Open Sans Bold"/>
                <a:sym typeface="Open Sans Bold"/>
              </a:rPr>
              <a:t>Kaynak Kısıtı(proje üçgeni)</a:t>
            </a:r>
          </a:p>
          <a:p>
            <a:pPr algn="l" marL="0" indent="0" lvl="0">
              <a:lnSpc>
                <a:spcPts val="2778"/>
              </a:lnSpc>
              <a:spcBef>
                <a:spcPct val="0"/>
              </a:spcBef>
            </a:pPr>
          </a:p>
        </p:txBody>
      </p:sp>
      <p:sp>
        <p:nvSpPr>
          <p:cNvPr name="TextBox 15" id="15"/>
          <p:cNvSpPr txBox="true"/>
          <p:nvPr/>
        </p:nvSpPr>
        <p:spPr>
          <a:xfrm rot="0">
            <a:off x="7809893" y="3449558"/>
            <a:ext cx="2907274" cy="945346"/>
          </a:xfrm>
          <a:prstGeom prst="rect">
            <a:avLst/>
          </a:prstGeom>
        </p:spPr>
        <p:txBody>
          <a:bodyPr anchor="t" rtlCol="false" tIns="0" lIns="0" bIns="0" rIns="0">
            <a:spAutoFit/>
          </a:bodyPr>
          <a:lstStyle/>
          <a:p>
            <a:pPr algn="l" marL="0" indent="0" lvl="0">
              <a:lnSpc>
                <a:spcPts val="2540"/>
              </a:lnSpc>
              <a:spcBef>
                <a:spcPct val="0"/>
              </a:spcBef>
            </a:pPr>
            <a:r>
              <a:rPr lang="en-US" sz="1814">
                <a:solidFill>
                  <a:srgbClr val="FFFFFF"/>
                </a:solidFill>
                <a:latin typeface="Open Sans"/>
                <a:ea typeface="Open Sans"/>
                <a:cs typeface="Open Sans"/>
                <a:sym typeface="Open Sans"/>
              </a:rPr>
              <a:t>5 uzman bilgisayar mühendisi ve donanım bütçesi limitleri.</a:t>
            </a:r>
          </a:p>
        </p:txBody>
      </p:sp>
      <p:sp>
        <p:nvSpPr>
          <p:cNvPr name="TextBox 16" id="16"/>
          <p:cNvSpPr txBox="true"/>
          <p:nvPr/>
        </p:nvSpPr>
        <p:spPr>
          <a:xfrm rot="0">
            <a:off x="4063659" y="2914022"/>
            <a:ext cx="3062786" cy="687543"/>
          </a:xfrm>
          <a:prstGeom prst="rect">
            <a:avLst/>
          </a:prstGeom>
        </p:spPr>
        <p:txBody>
          <a:bodyPr anchor="t" rtlCol="false" tIns="0" lIns="0" bIns="0" rIns="0">
            <a:spAutoFit/>
          </a:bodyPr>
          <a:lstStyle/>
          <a:p>
            <a:pPr algn="l">
              <a:lnSpc>
                <a:spcPts val="2778"/>
              </a:lnSpc>
            </a:pPr>
            <a:r>
              <a:rPr lang="en-US" sz="2137" b="true">
                <a:solidFill>
                  <a:srgbClr val="FFFFFF"/>
                </a:solidFill>
                <a:latin typeface="Open Sans Bold"/>
                <a:ea typeface="Open Sans Bold"/>
                <a:cs typeface="Open Sans Bold"/>
                <a:sym typeface="Open Sans Bold"/>
              </a:rPr>
              <a:t>Geçici(Tekrarlanmaz)</a:t>
            </a:r>
          </a:p>
          <a:p>
            <a:pPr algn="l" marL="0" indent="0" lvl="0">
              <a:lnSpc>
                <a:spcPts val="2778"/>
              </a:lnSpc>
              <a:spcBef>
                <a:spcPct val="0"/>
              </a:spcBef>
            </a:pPr>
          </a:p>
        </p:txBody>
      </p:sp>
      <p:sp>
        <p:nvSpPr>
          <p:cNvPr name="TextBox 17" id="17"/>
          <p:cNvSpPr txBox="true"/>
          <p:nvPr/>
        </p:nvSpPr>
        <p:spPr>
          <a:xfrm rot="0">
            <a:off x="7126445" y="5810759"/>
            <a:ext cx="7883262" cy="3632835"/>
          </a:xfrm>
          <a:prstGeom prst="rect">
            <a:avLst/>
          </a:prstGeom>
        </p:spPr>
        <p:txBody>
          <a:bodyPr anchor="t" rtlCol="false" tIns="0" lIns="0" bIns="0" rIns="0">
            <a:spAutoFit/>
          </a:bodyPr>
          <a:lstStyle/>
          <a:p>
            <a:pPr algn="l">
              <a:lnSpc>
                <a:spcPts val="3600"/>
              </a:lnSpc>
            </a:pPr>
            <a:r>
              <a:rPr lang="en-US" sz="2400">
                <a:solidFill>
                  <a:srgbClr val="E5E3E6"/>
                </a:solidFill>
                <a:latin typeface="Garet"/>
                <a:ea typeface="Garet"/>
                <a:cs typeface="Garet"/>
                <a:sym typeface="Garet"/>
              </a:rPr>
              <a:t>Proje; zaman, maliyet ve kapsamdan oluşan "Proje Üçgeni" kısıtlarına tabidir.</a:t>
            </a:r>
          </a:p>
          <a:p>
            <a:pPr algn="l">
              <a:lnSpc>
                <a:spcPts val="3600"/>
              </a:lnSpc>
            </a:pPr>
          </a:p>
          <a:p>
            <a:pPr algn="l" marL="518160" indent="-259080" lvl="1">
              <a:lnSpc>
                <a:spcPts val="3600"/>
              </a:lnSpc>
              <a:buFont typeface="Arial"/>
              <a:buChar char="•"/>
            </a:pPr>
            <a:r>
              <a:rPr lang="en-US" sz="2400">
                <a:solidFill>
                  <a:srgbClr val="E5E3E6"/>
                </a:solidFill>
                <a:latin typeface="Garet"/>
                <a:ea typeface="Garet"/>
                <a:cs typeface="Garet"/>
                <a:sym typeface="Garet"/>
              </a:rPr>
              <a:t>Zaman: 11 Haftalık uygulama süresi.</a:t>
            </a:r>
          </a:p>
          <a:p>
            <a:pPr algn="l" marL="518160" indent="-259080" lvl="1">
              <a:lnSpc>
                <a:spcPts val="3600"/>
              </a:lnSpc>
              <a:buFont typeface="Arial"/>
              <a:buChar char="•"/>
            </a:pPr>
            <a:r>
              <a:rPr lang="en-US" sz="2400">
                <a:solidFill>
                  <a:srgbClr val="E5E3E6"/>
                </a:solidFill>
                <a:latin typeface="Garet"/>
                <a:ea typeface="Garet"/>
                <a:cs typeface="Garet"/>
                <a:sym typeface="Garet"/>
              </a:rPr>
              <a:t>Maliyet: Donanım bütçesi limitleri.</a:t>
            </a:r>
          </a:p>
          <a:p>
            <a:pPr algn="l" marL="518160" indent="-259080" lvl="1">
              <a:lnSpc>
                <a:spcPts val="3600"/>
              </a:lnSpc>
              <a:buFont typeface="Arial"/>
              <a:buChar char="•"/>
            </a:pPr>
            <a:r>
              <a:rPr lang="en-US" sz="2400">
                <a:solidFill>
                  <a:srgbClr val="E5E3E6"/>
                </a:solidFill>
                <a:latin typeface="Garet"/>
                <a:ea typeface="Garet"/>
                <a:cs typeface="Garet"/>
                <a:sym typeface="Garet"/>
              </a:rPr>
              <a:t>Kapsam: Hibrit otomasyon çözümü</a:t>
            </a:r>
          </a:p>
          <a:p>
            <a:pPr algn="l">
              <a:lnSpc>
                <a:spcPts val="3600"/>
              </a:lnSpc>
            </a:pPr>
          </a:p>
          <a:p>
            <a:pPr algn="l">
              <a:lnSpc>
                <a:spcPts val="3600"/>
              </a:lnSpc>
              <a:spcBef>
                <a:spcPct val="0"/>
              </a:spcBef>
            </a:pPr>
          </a:p>
        </p:txBody>
      </p:sp>
      <p:sp>
        <p:nvSpPr>
          <p:cNvPr name="TextBox 18" id="18"/>
          <p:cNvSpPr txBox="true"/>
          <p:nvPr/>
        </p:nvSpPr>
        <p:spPr>
          <a:xfrm rot="0">
            <a:off x="12549548" y="2914022"/>
            <a:ext cx="4920318" cy="687543"/>
          </a:xfrm>
          <a:prstGeom prst="rect">
            <a:avLst/>
          </a:prstGeom>
        </p:spPr>
        <p:txBody>
          <a:bodyPr anchor="t" rtlCol="false" tIns="0" lIns="0" bIns="0" rIns="0">
            <a:spAutoFit/>
          </a:bodyPr>
          <a:lstStyle/>
          <a:p>
            <a:pPr algn="l">
              <a:lnSpc>
                <a:spcPts val="2778"/>
              </a:lnSpc>
            </a:pPr>
            <a:r>
              <a:rPr lang="en-US" sz="2137" b="true">
                <a:solidFill>
                  <a:srgbClr val="FFFFFF"/>
                </a:solidFill>
                <a:latin typeface="Open Sans Bold"/>
                <a:ea typeface="Open Sans Bold"/>
                <a:cs typeface="Open Sans Bold"/>
                <a:sym typeface="Open Sans Bold"/>
              </a:rPr>
              <a:t>Kontrol Ge</a:t>
            </a:r>
            <a:r>
              <a:rPr lang="en-US" sz="2137" b="true">
                <a:solidFill>
                  <a:srgbClr val="FFFFFF"/>
                </a:solidFill>
                <a:latin typeface="Open Sans Bold"/>
                <a:ea typeface="Open Sans Bold"/>
                <a:cs typeface="Open Sans Bold"/>
                <a:sym typeface="Open Sans Bold"/>
              </a:rPr>
              <a:t>reksinimi</a:t>
            </a:r>
          </a:p>
          <a:p>
            <a:pPr algn="l" marL="0" indent="0" lvl="0">
              <a:lnSpc>
                <a:spcPts val="2778"/>
              </a:lnSpc>
              <a:spcBef>
                <a:spcPct val="0"/>
              </a:spcBef>
            </a:pPr>
          </a:p>
        </p:txBody>
      </p:sp>
      <p:sp>
        <p:nvSpPr>
          <p:cNvPr name="TextBox 19" id="19"/>
          <p:cNvSpPr txBox="true"/>
          <p:nvPr/>
        </p:nvSpPr>
        <p:spPr>
          <a:xfrm rot="0">
            <a:off x="12420039" y="3459178"/>
            <a:ext cx="2922105" cy="627433"/>
          </a:xfrm>
          <a:prstGeom prst="rect">
            <a:avLst/>
          </a:prstGeom>
        </p:spPr>
        <p:txBody>
          <a:bodyPr anchor="t" rtlCol="false" tIns="0" lIns="0" bIns="0" rIns="0">
            <a:spAutoFit/>
          </a:bodyPr>
          <a:lstStyle/>
          <a:p>
            <a:pPr algn="l" marL="0" indent="0" lvl="0">
              <a:lnSpc>
                <a:spcPts val="2553"/>
              </a:lnSpc>
              <a:spcBef>
                <a:spcPct val="0"/>
              </a:spcBef>
            </a:pPr>
            <a:r>
              <a:rPr lang="en-US" sz="1823">
                <a:solidFill>
                  <a:srgbClr val="FFFFFF"/>
                </a:solidFill>
                <a:latin typeface="Open Sans"/>
                <a:ea typeface="Open Sans"/>
                <a:cs typeface="Open Sans"/>
                <a:sym typeface="Open Sans"/>
              </a:rPr>
              <a:t>CPM, PERT ve Gantt şemaları ile sürekli izleme.</a:t>
            </a:r>
          </a:p>
        </p:txBody>
      </p:sp>
      <p:grpSp>
        <p:nvGrpSpPr>
          <p:cNvPr name="Group 20" id="20"/>
          <p:cNvGrpSpPr/>
          <p:nvPr/>
        </p:nvGrpSpPr>
        <p:grpSpPr>
          <a:xfrm rot="0">
            <a:off x="13239592" y="2079340"/>
            <a:ext cx="268767" cy="268767"/>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C6C6"/>
            </a:solidFill>
          </p:spPr>
        </p:sp>
      </p:gr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7A7D46">
                <a:alpha val="100000"/>
              </a:srgbClr>
            </a:gs>
            <a:gs pos="50000">
              <a:srgbClr val="777B41">
                <a:alpha val="100000"/>
              </a:srgbClr>
            </a:gs>
            <a:gs pos="100000">
              <a:srgbClr val="3D3D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3253430" y="170781"/>
            <a:ext cx="16230600" cy="2438400"/>
          </a:xfrm>
          <a:prstGeom prst="rect">
            <a:avLst/>
          </a:prstGeom>
        </p:spPr>
        <p:txBody>
          <a:bodyPr anchor="t" rtlCol="false" tIns="0" lIns="0" bIns="0" rIns="0">
            <a:spAutoFit/>
          </a:bodyPr>
          <a:lstStyle/>
          <a:p>
            <a:pPr algn="l">
              <a:lnSpc>
                <a:spcPts val="9600"/>
              </a:lnSpc>
            </a:pPr>
            <a:r>
              <a:rPr lang="en-US" sz="8000" b="true">
                <a:solidFill>
                  <a:srgbClr val="FFFFFF"/>
                </a:solidFill>
                <a:latin typeface="Open Sans Bold"/>
                <a:ea typeface="Open Sans Bold"/>
                <a:cs typeface="Open Sans Bold"/>
                <a:sym typeface="Open Sans Bold"/>
              </a:rPr>
              <a:t>Planlama ve Kontrol</a:t>
            </a:r>
          </a:p>
          <a:p>
            <a:pPr algn="l" marL="0" indent="0" lvl="0">
              <a:lnSpc>
                <a:spcPts val="9600"/>
              </a:lnSpc>
              <a:spcBef>
                <a:spcPct val="0"/>
              </a:spcBef>
            </a:pPr>
          </a:p>
        </p:txBody>
      </p:sp>
      <p:sp>
        <p:nvSpPr>
          <p:cNvPr name="TextBox 3" id="3"/>
          <p:cNvSpPr txBox="true"/>
          <p:nvPr/>
        </p:nvSpPr>
        <p:spPr>
          <a:xfrm rot="0">
            <a:off x="794521" y="2188391"/>
            <a:ext cx="11877335" cy="6176105"/>
          </a:xfrm>
          <a:prstGeom prst="rect">
            <a:avLst/>
          </a:prstGeom>
        </p:spPr>
        <p:txBody>
          <a:bodyPr anchor="t" rtlCol="false" tIns="0" lIns="0" bIns="0" rIns="0">
            <a:spAutoFit/>
          </a:bodyPr>
          <a:lstStyle/>
          <a:p>
            <a:pPr algn="l">
              <a:lnSpc>
                <a:spcPts val="5423"/>
              </a:lnSpc>
            </a:pPr>
            <a:r>
              <a:rPr lang="en-US" sz="3615">
                <a:solidFill>
                  <a:srgbClr val="E5E3E6"/>
                </a:solidFill>
                <a:latin typeface="Garet"/>
                <a:ea typeface="Garet"/>
                <a:cs typeface="Garet"/>
                <a:sym typeface="Garet"/>
              </a:rPr>
              <a:t>Projenin yüksek teknik karmaşıklığı nedeniyle sistematik izleme zorunludur:</a:t>
            </a:r>
          </a:p>
          <a:p>
            <a:pPr algn="l">
              <a:lnSpc>
                <a:spcPts val="5423"/>
              </a:lnSpc>
            </a:pPr>
          </a:p>
          <a:p>
            <a:pPr algn="l" marL="780687" indent="-390344" lvl="1">
              <a:lnSpc>
                <a:spcPts val="5423"/>
              </a:lnSpc>
              <a:buFont typeface="Arial"/>
              <a:buChar char="•"/>
            </a:pPr>
            <a:r>
              <a:rPr lang="en-US" sz="3615">
                <a:solidFill>
                  <a:srgbClr val="E5E3E6"/>
                </a:solidFill>
                <a:latin typeface="Garet"/>
                <a:ea typeface="Garet"/>
                <a:cs typeface="Garet"/>
                <a:sym typeface="Garet"/>
              </a:rPr>
              <a:t>Ağ Modelleri: CPM (Kritik Yol Yöntemi) kullanımı.</a:t>
            </a:r>
          </a:p>
          <a:p>
            <a:pPr algn="l" marL="780687" indent="-390344" lvl="1">
              <a:lnSpc>
                <a:spcPts val="5423"/>
              </a:lnSpc>
              <a:buFont typeface="Arial"/>
              <a:buChar char="•"/>
            </a:pPr>
            <a:r>
              <a:rPr lang="en-US" sz="3615">
                <a:solidFill>
                  <a:srgbClr val="E5E3E6"/>
                </a:solidFill>
                <a:latin typeface="Garet"/>
                <a:ea typeface="Garet"/>
                <a:cs typeface="Garet"/>
                <a:sym typeface="Garet"/>
              </a:rPr>
              <a:t>İzleme: PERT ile olasılıksal süreç takibi.</a:t>
            </a:r>
          </a:p>
          <a:p>
            <a:pPr algn="l" marL="780687" indent="-390344" lvl="1">
              <a:lnSpc>
                <a:spcPts val="5423"/>
              </a:lnSpc>
              <a:buFont typeface="Arial"/>
              <a:buChar char="•"/>
            </a:pPr>
            <a:r>
              <a:rPr lang="en-US" sz="3615">
                <a:solidFill>
                  <a:srgbClr val="E5E3E6"/>
                </a:solidFill>
                <a:latin typeface="Garet"/>
                <a:ea typeface="Garet"/>
                <a:cs typeface="Garet"/>
                <a:sym typeface="Garet"/>
              </a:rPr>
              <a:t>Zamanlama: Gantt şeması ile sürekli denetim.</a:t>
            </a:r>
          </a:p>
          <a:p>
            <a:pPr algn="l">
              <a:lnSpc>
                <a:spcPts val="5423"/>
              </a:lnSpc>
            </a:pPr>
          </a:p>
          <a:p>
            <a:pPr algn="l">
              <a:lnSpc>
                <a:spcPts val="5423"/>
              </a:lnSpc>
              <a:spcBef>
                <a:spcPct val="0"/>
              </a:spcBef>
            </a:pP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p:cSld>
    <p:bg>
      <p:bgPr>
        <a:solidFill>
          <a:srgbClr val="777A4A"/>
        </a:solidFill>
      </p:bgPr>
    </p:bg>
    <p:spTree>
      <p:nvGrpSpPr>
        <p:cNvPr id="1" name=""/>
        <p:cNvGrpSpPr/>
        <p:nvPr/>
      </p:nvGrpSpPr>
      <p:grpSpPr>
        <a:xfrm>
          <a:off x="0" y="0"/>
          <a:ext cx="0" cy="0"/>
          <a:chOff x="0" y="0"/>
          <a:chExt cx="0" cy="0"/>
        </a:xfrm>
      </p:grpSpPr>
      <p:sp>
        <p:nvSpPr>
          <p:cNvPr name="TextBox 2" id="2"/>
          <p:cNvSpPr txBox="true"/>
          <p:nvPr/>
        </p:nvSpPr>
        <p:spPr>
          <a:xfrm rot="0">
            <a:off x="4612120" y="-6635"/>
            <a:ext cx="9025731" cy="2469598"/>
          </a:xfrm>
          <a:prstGeom prst="rect">
            <a:avLst/>
          </a:prstGeom>
        </p:spPr>
        <p:txBody>
          <a:bodyPr anchor="t" rtlCol="false" tIns="0" lIns="0" bIns="0" rIns="0">
            <a:spAutoFit/>
          </a:bodyPr>
          <a:lstStyle/>
          <a:p>
            <a:pPr algn="l">
              <a:lnSpc>
                <a:spcPts val="6481"/>
              </a:lnSpc>
            </a:pPr>
            <a:r>
              <a:rPr lang="en-US" sz="5401" b="true">
                <a:solidFill>
                  <a:srgbClr val="FFFFFF"/>
                </a:solidFill>
                <a:latin typeface="Open Sans Bold"/>
                <a:ea typeface="Open Sans Bold"/>
                <a:cs typeface="Open Sans Bold"/>
                <a:sym typeface="Open Sans Bold"/>
              </a:rPr>
              <a:t>Kapsam Yönetimi Disiplini</a:t>
            </a:r>
          </a:p>
          <a:p>
            <a:pPr algn="l">
              <a:lnSpc>
                <a:spcPts val="6481"/>
              </a:lnSpc>
            </a:pPr>
          </a:p>
          <a:p>
            <a:pPr algn="l" marL="0" indent="0" lvl="0">
              <a:lnSpc>
                <a:spcPts val="6481"/>
              </a:lnSpc>
              <a:spcBef>
                <a:spcPct val="0"/>
              </a:spcBef>
            </a:pPr>
          </a:p>
        </p:txBody>
      </p:sp>
      <p:sp>
        <p:nvSpPr>
          <p:cNvPr name="TextBox 3" id="3"/>
          <p:cNvSpPr txBox="true"/>
          <p:nvPr/>
        </p:nvSpPr>
        <p:spPr>
          <a:xfrm rot="0">
            <a:off x="319151" y="1142438"/>
            <a:ext cx="9352063" cy="8511648"/>
          </a:xfrm>
          <a:prstGeom prst="rect">
            <a:avLst/>
          </a:prstGeom>
        </p:spPr>
        <p:txBody>
          <a:bodyPr anchor="t" rtlCol="false" tIns="0" lIns="0" bIns="0" rIns="0">
            <a:spAutoFit/>
          </a:bodyPr>
          <a:lstStyle/>
          <a:p>
            <a:pPr algn="l">
              <a:lnSpc>
                <a:spcPts val="4270"/>
              </a:lnSpc>
            </a:pPr>
            <a:r>
              <a:rPr lang="en-US" sz="2847">
                <a:solidFill>
                  <a:srgbClr val="E5E3E6"/>
                </a:solidFill>
                <a:latin typeface="Garet"/>
                <a:ea typeface="Garet"/>
                <a:cs typeface="Garet"/>
                <a:sym typeface="Garet"/>
              </a:rPr>
              <a:t>Proje Yönetimi ve kapsam yönetiminin temelini şu süreçler oluşturur:</a:t>
            </a:r>
          </a:p>
          <a:p>
            <a:pPr algn="l" marL="614703" indent="-307351" lvl="1">
              <a:lnSpc>
                <a:spcPts val="4270"/>
              </a:lnSpc>
              <a:buFont typeface="Arial"/>
              <a:buChar char="•"/>
            </a:pPr>
            <a:r>
              <a:rPr lang="en-US" b="true" sz="2847">
                <a:solidFill>
                  <a:srgbClr val="E5E3E6"/>
                </a:solidFill>
                <a:latin typeface="Garet Bold"/>
                <a:ea typeface="Garet Bold"/>
                <a:cs typeface="Garet Bold"/>
                <a:sym typeface="Garet Bold"/>
              </a:rPr>
              <a:t>Kapsam Planlama: </a:t>
            </a:r>
            <a:r>
              <a:rPr lang="en-US" sz="2847">
                <a:solidFill>
                  <a:srgbClr val="E5E3E6"/>
                </a:solidFill>
                <a:latin typeface="Garet"/>
                <a:ea typeface="Garet"/>
                <a:cs typeface="Garet"/>
                <a:sym typeface="Garet"/>
              </a:rPr>
              <a:t>Kapsam bildirimi, ana iş ka</a:t>
            </a:r>
            <a:r>
              <a:rPr lang="en-US" sz="2847">
                <a:solidFill>
                  <a:srgbClr val="E5E3E6"/>
                </a:solidFill>
                <a:latin typeface="Garet"/>
                <a:ea typeface="Garet"/>
                <a:cs typeface="Garet"/>
                <a:sym typeface="Garet"/>
              </a:rPr>
              <a:t>lemleri ve gereksinimler.</a:t>
            </a:r>
          </a:p>
          <a:p>
            <a:pPr algn="l" marL="614703" indent="-307351" lvl="1">
              <a:lnSpc>
                <a:spcPts val="4270"/>
              </a:lnSpc>
              <a:buFont typeface="Arial"/>
              <a:buChar char="•"/>
            </a:pPr>
            <a:r>
              <a:rPr lang="en-US" b="true" sz="2847">
                <a:solidFill>
                  <a:srgbClr val="E5E3E6"/>
                </a:solidFill>
                <a:latin typeface="Garet Bold"/>
                <a:ea typeface="Garet Bold"/>
                <a:cs typeface="Garet Bold"/>
                <a:sym typeface="Garet Bold"/>
              </a:rPr>
              <a:t>Kapsam Tanımlama:</a:t>
            </a:r>
            <a:r>
              <a:rPr lang="en-US" sz="2847">
                <a:solidFill>
                  <a:srgbClr val="E5E3E6"/>
                </a:solidFill>
                <a:latin typeface="Garet"/>
                <a:ea typeface="Garet"/>
                <a:cs typeface="Garet"/>
                <a:sym typeface="Garet"/>
              </a:rPr>
              <a:t> İş Kırılım Yapısı (WBS) ile yönetilebilir parçalara ayırma.</a:t>
            </a:r>
          </a:p>
          <a:p>
            <a:pPr algn="l" marL="614703" indent="-307351" lvl="1">
              <a:lnSpc>
                <a:spcPts val="4270"/>
              </a:lnSpc>
              <a:buFont typeface="Arial"/>
              <a:buChar char="•"/>
            </a:pPr>
            <a:r>
              <a:rPr lang="en-US" b="true" sz="2847">
                <a:solidFill>
                  <a:srgbClr val="E5E3E6"/>
                </a:solidFill>
                <a:latin typeface="Garet Bold"/>
                <a:ea typeface="Garet Bold"/>
                <a:cs typeface="Garet Bold"/>
                <a:sym typeface="Garet Bold"/>
              </a:rPr>
              <a:t>Kapsam Doğrulama: </a:t>
            </a:r>
            <a:r>
              <a:rPr lang="en-US" sz="2847">
                <a:solidFill>
                  <a:srgbClr val="E5E3E6"/>
                </a:solidFill>
                <a:latin typeface="Garet"/>
                <a:ea typeface="Garet"/>
                <a:cs typeface="Garet"/>
                <a:sym typeface="Garet"/>
              </a:rPr>
              <a:t>Müşteri/Sponsor onayı ve iç denetim.</a:t>
            </a:r>
          </a:p>
          <a:p>
            <a:pPr algn="l" marL="614703" indent="-307351" lvl="1">
              <a:lnSpc>
                <a:spcPts val="4270"/>
              </a:lnSpc>
              <a:buFont typeface="Arial"/>
              <a:buChar char="•"/>
            </a:pPr>
            <a:r>
              <a:rPr lang="en-US" b="true" sz="2847">
                <a:solidFill>
                  <a:srgbClr val="E5E3E6"/>
                </a:solidFill>
                <a:latin typeface="Garet Bold"/>
                <a:ea typeface="Garet Bold"/>
                <a:cs typeface="Garet Bold"/>
                <a:sym typeface="Garet Bold"/>
              </a:rPr>
              <a:t>Kapsam Kontrolü: </a:t>
            </a:r>
            <a:r>
              <a:rPr lang="en-US" sz="2847">
                <a:solidFill>
                  <a:srgbClr val="E5E3E6"/>
                </a:solidFill>
                <a:latin typeface="Garet"/>
                <a:ea typeface="Garet"/>
                <a:cs typeface="Garet"/>
                <a:sym typeface="Garet"/>
              </a:rPr>
              <a:t>Performans raporlarının izlenmesi.</a:t>
            </a:r>
          </a:p>
          <a:p>
            <a:pPr algn="l" marL="614703" indent="-307351" lvl="1">
              <a:lnSpc>
                <a:spcPts val="4270"/>
              </a:lnSpc>
              <a:buFont typeface="Arial"/>
              <a:buChar char="•"/>
            </a:pPr>
            <a:r>
              <a:rPr lang="en-US" sz="2847">
                <a:solidFill>
                  <a:srgbClr val="E5E3E6"/>
                </a:solidFill>
                <a:latin typeface="Garet"/>
                <a:ea typeface="Garet"/>
                <a:cs typeface="Garet"/>
                <a:sym typeface="Garet"/>
              </a:rPr>
              <a:t>LRC (Doğrusal Sorumluluk Çizelgesi): WBS ve Organizasyonel Kırılım Yapısını (OBS) birleştirerek her iş paketi için P (Sorumlu), A (Onaylayan) rollerini netleştirir.</a:t>
            </a:r>
          </a:p>
          <a:p>
            <a:pPr algn="l">
              <a:lnSpc>
                <a:spcPts val="4270"/>
              </a:lnSpc>
            </a:pPr>
          </a:p>
          <a:p>
            <a:pPr algn="l">
              <a:lnSpc>
                <a:spcPts val="4270"/>
              </a:lnSpc>
              <a:spcBef>
                <a:spcPct val="0"/>
              </a:spcBef>
            </a:pPr>
          </a:p>
        </p:txBody>
      </p:sp>
      <p:graphicFrame>
        <p:nvGraphicFramePr>
          <p:cNvPr name="Table 4" id="4"/>
          <p:cNvGraphicFramePr>
            <a:graphicFrameLocks noGrp="true"/>
          </p:cNvGraphicFramePr>
          <p:nvPr/>
        </p:nvGraphicFramePr>
        <p:xfrm>
          <a:off x="11142032" y="2633548"/>
          <a:ext cx="6117268" cy="4676775"/>
        </p:xfrm>
        <a:graphic>
          <a:graphicData uri="http://schemas.openxmlformats.org/drawingml/2006/table">
            <a:tbl>
              <a:tblPr/>
              <a:tblGrid>
                <a:gridCol w="2259464"/>
                <a:gridCol w="3857804"/>
              </a:tblGrid>
              <a:tr h="1526914">
                <a:tc>
                  <a:txBody>
                    <a:bodyPr anchor="t" rtlCol="false"/>
                    <a:lstStyle/>
                    <a:p>
                      <a:pPr algn="ctr">
                        <a:lnSpc>
                          <a:spcPts val="2719"/>
                        </a:lnSpc>
                        <a:defRPr/>
                      </a:pPr>
                      <a:r>
                        <a:rPr lang="en-US" sz="1942" b="true">
                          <a:solidFill>
                            <a:srgbClr val="000000"/>
                          </a:solidFill>
                          <a:latin typeface="Open Sans Bold"/>
                          <a:ea typeface="Open Sans Bold"/>
                          <a:cs typeface="Open Sans Bold"/>
                          <a:sym typeface="Open Sans Bold"/>
                        </a:rPr>
                        <a:t>Kategori</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c>
                  <a:txBody>
                    <a:bodyPr anchor="t" rtlCol="false"/>
                    <a:lstStyle/>
                    <a:p>
                      <a:pPr algn="ctr">
                        <a:lnSpc>
                          <a:spcPts val="2719"/>
                        </a:lnSpc>
                        <a:defRPr/>
                      </a:pPr>
                      <a:endParaRPr lang="en-US" sz="1100"/>
                    </a:p>
                    <a:p>
                      <a:pPr algn="ctr">
                        <a:lnSpc>
                          <a:spcPts val="2719"/>
                        </a:lnSpc>
                      </a:pPr>
                      <a:r>
                        <a:rPr lang="en-US" sz="1942" b="true">
                          <a:solidFill>
                            <a:srgbClr val="000000"/>
                          </a:solidFill>
                          <a:latin typeface="Open Sans Bold"/>
                          <a:ea typeface="Open Sans Bold"/>
                          <a:cs typeface="Open Sans Bold"/>
                          <a:sym typeface="Open Sans Bold"/>
                        </a:rPr>
                        <a:t>Tanım</a:t>
                      </a:r>
                    </a:p>
                    <a:p>
                      <a:pPr algn="ctr">
                        <a:lnSpc>
                          <a:spcPts val="2719"/>
                        </a:lnSpc>
                      </a:pPr>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r>
              <a:tr h="787465">
                <a:tc>
                  <a:txBody>
                    <a:bodyPr anchor="t" rtlCol="false"/>
                    <a:lstStyle/>
                    <a:p>
                      <a:pPr algn="ctr">
                        <a:lnSpc>
                          <a:spcPts val="2439"/>
                        </a:lnSpc>
                        <a:defRPr/>
                      </a:pPr>
                      <a:r>
                        <a:rPr lang="en-US" sz="1742" b="true">
                          <a:solidFill>
                            <a:srgbClr val="FFFFFF"/>
                          </a:solidFill>
                          <a:latin typeface="Open Sans Bold"/>
                          <a:ea typeface="Open Sans Bold"/>
                          <a:cs typeface="Open Sans Bold"/>
                          <a:sym typeface="Open Sans Bold"/>
                        </a:rPr>
                        <a:t>amaç</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ctr">
                        <a:lnSpc>
                          <a:spcPts val="2439"/>
                        </a:lnSpc>
                        <a:defRPr/>
                      </a:pPr>
                      <a:r>
                        <a:rPr lang="en-US" sz="1742">
                          <a:solidFill>
                            <a:srgbClr val="FFFFFF"/>
                          </a:solidFill>
                          <a:latin typeface="Open Sans"/>
                          <a:ea typeface="Open Sans"/>
                          <a:cs typeface="Open Sans"/>
                          <a:sym typeface="Open Sans"/>
                        </a:rPr>
                        <a:t>yeni ürün geliştirme</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787465">
                <a:tc>
                  <a:txBody>
                    <a:bodyPr anchor="t" rtlCol="false"/>
                    <a:lstStyle/>
                    <a:p>
                      <a:pPr algn="ctr">
                        <a:lnSpc>
                          <a:spcPts val="2439"/>
                        </a:lnSpc>
                        <a:defRPr/>
                      </a:pPr>
                      <a:r>
                        <a:rPr lang="en-US" sz="1742" b="true">
                          <a:solidFill>
                            <a:srgbClr val="FFFFFF"/>
                          </a:solidFill>
                          <a:latin typeface="Open Sans Bold"/>
                          <a:ea typeface="Open Sans Bold"/>
                          <a:cs typeface="Open Sans Bold"/>
                          <a:sym typeface="Open Sans Bold"/>
                        </a:rPr>
                        <a:t>sektör</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ctr">
                        <a:lnSpc>
                          <a:spcPts val="2439"/>
                        </a:lnSpc>
                        <a:defRPr/>
                      </a:pPr>
                      <a:r>
                        <a:rPr lang="en-US" sz="1742">
                          <a:solidFill>
                            <a:srgbClr val="FFFFFF"/>
                          </a:solidFill>
                          <a:latin typeface="Open Sans"/>
                          <a:ea typeface="Open Sans"/>
                          <a:cs typeface="Open Sans"/>
                          <a:sym typeface="Open Sans"/>
                        </a:rPr>
                        <a:t>yazılım ve hizmet</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787465">
                <a:tc>
                  <a:txBody>
                    <a:bodyPr anchor="t" rtlCol="false"/>
                    <a:lstStyle/>
                    <a:p>
                      <a:pPr algn="ctr">
                        <a:lnSpc>
                          <a:spcPts val="2439"/>
                        </a:lnSpc>
                        <a:defRPr/>
                      </a:pPr>
                      <a:r>
                        <a:rPr lang="en-US" sz="1742" b="true">
                          <a:solidFill>
                            <a:srgbClr val="FFFFFF"/>
                          </a:solidFill>
                          <a:latin typeface="Open Sans Bold"/>
                          <a:ea typeface="Open Sans Bold"/>
                          <a:cs typeface="Open Sans Bold"/>
                          <a:sym typeface="Open Sans Bold"/>
                        </a:rPr>
                        <a:t>teknoloji</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ctr">
                        <a:lnSpc>
                          <a:spcPts val="2439"/>
                        </a:lnSpc>
                        <a:defRPr/>
                      </a:pPr>
                      <a:r>
                        <a:rPr lang="en-US" sz="1742">
                          <a:solidFill>
                            <a:srgbClr val="FFFFFF"/>
                          </a:solidFill>
                          <a:latin typeface="Open Sans"/>
                          <a:ea typeface="Open Sans"/>
                          <a:cs typeface="Open Sans"/>
                          <a:sym typeface="Open Sans"/>
                        </a:rPr>
                        <a:t>Yüksek (Hibrit Mimari)</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787465">
                <a:tc>
                  <a:txBody>
                    <a:bodyPr anchor="t" rtlCol="false"/>
                    <a:lstStyle/>
                    <a:p>
                      <a:pPr algn="ctr">
                        <a:lnSpc>
                          <a:spcPts val="2439"/>
                        </a:lnSpc>
                        <a:defRPr/>
                      </a:pPr>
                      <a:r>
                        <a:rPr lang="en-US" sz="1742" b="true">
                          <a:solidFill>
                            <a:srgbClr val="FFFFFF"/>
                          </a:solidFill>
                          <a:latin typeface="Open Sans Bold"/>
                          <a:ea typeface="Open Sans Bold"/>
                          <a:cs typeface="Open Sans Bold"/>
                          <a:sym typeface="Open Sans Bold"/>
                        </a:rPr>
                        <a:t>karmaşıklık</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ctr">
                        <a:lnSpc>
                          <a:spcPts val="2439"/>
                        </a:lnSpc>
                        <a:defRPr/>
                      </a:pPr>
                      <a:r>
                        <a:rPr lang="en-US" sz="1742">
                          <a:solidFill>
                            <a:srgbClr val="FFFFFF"/>
                          </a:solidFill>
                          <a:latin typeface="Open Sans"/>
                          <a:ea typeface="Open Sans"/>
                          <a:cs typeface="Open Sans"/>
                          <a:sym typeface="Open Sans"/>
                        </a:rPr>
                        <a:t>C Türü (Orta)</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bl>
          </a:graphicData>
        </a:graphic>
      </p:graphicFrame>
      <p:sp>
        <p:nvSpPr>
          <p:cNvPr name="TextBox 5" id="5"/>
          <p:cNvSpPr txBox="true"/>
          <p:nvPr/>
        </p:nvSpPr>
        <p:spPr>
          <a:xfrm rot="0">
            <a:off x="11776238" y="1427562"/>
            <a:ext cx="4501270" cy="1075166"/>
          </a:xfrm>
          <a:prstGeom prst="rect">
            <a:avLst/>
          </a:prstGeom>
        </p:spPr>
        <p:txBody>
          <a:bodyPr anchor="t" rtlCol="false" tIns="0" lIns="0" bIns="0" rIns="0">
            <a:spAutoFit/>
          </a:bodyPr>
          <a:lstStyle/>
          <a:p>
            <a:pPr algn="l">
              <a:lnSpc>
                <a:spcPts val="4270"/>
              </a:lnSpc>
            </a:pPr>
            <a:r>
              <a:rPr lang="en-US" sz="3558" b="true">
                <a:solidFill>
                  <a:srgbClr val="FFFFFF"/>
                </a:solidFill>
                <a:latin typeface="Open Sans Bold"/>
                <a:ea typeface="Open Sans Bold"/>
                <a:cs typeface="Open Sans Bold"/>
                <a:sym typeface="Open Sans Bold"/>
              </a:rPr>
              <a:t>Sınıflandırma Özeti</a:t>
            </a:r>
          </a:p>
          <a:p>
            <a:pPr algn="l" marL="0" indent="0" lvl="0">
              <a:lnSpc>
                <a:spcPts val="4270"/>
              </a:lnSpc>
              <a:spcBef>
                <a:spcPct val="0"/>
              </a:spcBef>
            </a:pP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3238761" y="744756"/>
            <a:ext cx="11496582" cy="5776615"/>
          </a:xfrm>
          <a:custGeom>
            <a:avLst/>
            <a:gdLst/>
            <a:ahLst/>
            <a:cxnLst/>
            <a:rect r="r" b="b" t="t" l="l"/>
            <a:pathLst>
              <a:path h="5776615" w="11496582">
                <a:moveTo>
                  <a:pt x="0" y="0"/>
                </a:moveTo>
                <a:lnTo>
                  <a:pt x="11496582" y="0"/>
                </a:lnTo>
                <a:lnTo>
                  <a:pt x="11496582" y="5776615"/>
                </a:lnTo>
                <a:lnTo>
                  <a:pt x="0" y="5776615"/>
                </a:lnTo>
                <a:lnTo>
                  <a:pt x="0" y="0"/>
                </a:lnTo>
                <a:close/>
              </a:path>
            </a:pathLst>
          </a:custGeom>
          <a:blipFill>
            <a:blip r:embed="rId2"/>
            <a:stretch>
              <a:fillRect l="0" t="-501" r="0" b="-501"/>
            </a:stretch>
          </a:blipFill>
        </p:spPr>
      </p:sp>
      <p:sp>
        <p:nvSpPr>
          <p:cNvPr name="TextBox 3" id="3"/>
          <p:cNvSpPr txBox="true"/>
          <p:nvPr/>
        </p:nvSpPr>
        <p:spPr>
          <a:xfrm rot="0">
            <a:off x="3238761" y="-66675"/>
            <a:ext cx="12764393"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272731"/>
                </a:solidFill>
                <a:latin typeface="Open Sans Bold"/>
                <a:ea typeface="Open Sans Bold"/>
                <a:cs typeface="Open Sans Bold"/>
                <a:sym typeface="Open Sans Bold"/>
              </a:rPr>
              <a:t>AON (Activity-on-Node) Şebeke Diyagramı Layout Tablosu</a:t>
            </a:r>
          </a:p>
        </p:txBody>
      </p:sp>
      <p:sp>
        <p:nvSpPr>
          <p:cNvPr name="TextBox 4" id="4"/>
          <p:cNvSpPr txBox="true"/>
          <p:nvPr/>
        </p:nvSpPr>
        <p:spPr>
          <a:xfrm rot="0">
            <a:off x="4182732" y="6702346"/>
            <a:ext cx="9922535" cy="3294814"/>
          </a:xfrm>
          <a:prstGeom prst="rect">
            <a:avLst/>
          </a:prstGeom>
        </p:spPr>
        <p:txBody>
          <a:bodyPr anchor="t" rtlCol="false" tIns="0" lIns="0" bIns="0" rIns="0">
            <a:spAutoFit/>
          </a:bodyPr>
          <a:lstStyle/>
          <a:p>
            <a:pPr algn="ctr">
              <a:lnSpc>
                <a:spcPts val="3353"/>
              </a:lnSpc>
              <a:spcBef>
                <a:spcPct val="0"/>
              </a:spcBef>
            </a:pPr>
            <a:r>
              <a:rPr lang="en-US" sz="2395">
                <a:solidFill>
                  <a:srgbClr val="000000"/>
                </a:solidFill>
                <a:latin typeface="Open Sans"/>
                <a:ea typeface="Open Sans"/>
                <a:cs typeface="Open Sans"/>
                <a:sym typeface="Open Sans"/>
              </a:rPr>
              <a:t>AON şebeke modelinde her faaliyet bir düğüm (node) ile temsil edilir.</a:t>
            </a:r>
          </a:p>
          <a:p>
            <a:pPr algn="ctr">
              <a:lnSpc>
                <a:spcPts val="3353"/>
              </a:lnSpc>
              <a:spcBef>
                <a:spcPct val="0"/>
              </a:spcBef>
            </a:pPr>
            <a:r>
              <a:rPr lang="en-US" sz="2395">
                <a:solidFill>
                  <a:srgbClr val="000000"/>
                </a:solidFill>
                <a:latin typeface="Open Sans"/>
                <a:ea typeface="Open Sans"/>
                <a:cs typeface="Open Sans"/>
                <a:sym typeface="Open Sans"/>
              </a:rPr>
              <a:t> Düğümün içinde faaliyetin süre, erken/geç başlama ve erken/geç bitiş değerleri gösterilir.</a:t>
            </a:r>
          </a:p>
          <a:p>
            <a:pPr algn="ctr">
              <a:lnSpc>
                <a:spcPts val="3353"/>
              </a:lnSpc>
              <a:spcBef>
                <a:spcPct val="0"/>
              </a:spcBef>
            </a:pPr>
            <a:r>
              <a:rPr lang="en-US" sz="2395">
                <a:solidFill>
                  <a:srgbClr val="000000"/>
                </a:solidFill>
                <a:latin typeface="Open Sans"/>
                <a:ea typeface="Open Sans"/>
                <a:cs typeface="Open Sans"/>
                <a:sym typeface="Open Sans"/>
              </a:rPr>
              <a:t> Oklar ise faaliyetlerin öncelik yönünü temsil eder. Aşağıda Deadline projesinin AON şebekesinin hiyerarşik layout gösterimi sunulmaktadır. </a:t>
            </a:r>
          </a:p>
          <a:p>
            <a:pPr algn="ctr">
              <a:lnSpc>
                <a:spcPts val="3353"/>
              </a:lnSpc>
              <a:spcBef>
                <a:spcPct val="0"/>
              </a:spcBef>
            </a:pPr>
            <a:r>
              <a:rPr lang="en-US" sz="2395">
                <a:solidFill>
                  <a:srgbClr val="000000"/>
                </a:solidFill>
                <a:latin typeface="Open Sans"/>
                <a:ea typeface="Open Sans"/>
                <a:cs typeface="Open Sans"/>
                <a:sym typeface="Open Sans"/>
              </a:rPr>
              <a:t>Kırmızı düğümler kritik yol üzerindeki faaliyetleri, yeşil düğümler ise bolluklu (slack) faaliyetleri ifade eder.</a:t>
            </a:r>
          </a:p>
        </p:txBody>
      </p:sp>
      <p:sp>
        <p:nvSpPr>
          <p:cNvPr name="TextBox 5" id="5"/>
          <p:cNvSpPr txBox="true"/>
          <p:nvPr/>
        </p:nvSpPr>
        <p:spPr>
          <a:xfrm rot="0">
            <a:off x="3453302" y="5858243"/>
            <a:ext cx="3848992" cy="323958"/>
          </a:xfrm>
          <a:prstGeom prst="rect">
            <a:avLst/>
          </a:prstGeom>
        </p:spPr>
        <p:txBody>
          <a:bodyPr anchor="t" rtlCol="false" tIns="0" lIns="0" bIns="0" rIns="0">
            <a:spAutoFit/>
          </a:bodyPr>
          <a:lstStyle/>
          <a:p>
            <a:pPr algn="l" marL="0" indent="0" lvl="0">
              <a:lnSpc>
                <a:spcPts val="2619"/>
              </a:lnSpc>
              <a:spcBef>
                <a:spcPct val="0"/>
              </a:spcBef>
            </a:pPr>
            <a:r>
              <a:rPr lang="en-US" b="true" sz="1870">
                <a:solidFill>
                  <a:srgbClr val="000000"/>
                </a:solidFill>
                <a:latin typeface="Open Sans Bold"/>
                <a:ea typeface="Open Sans Bold"/>
                <a:cs typeface="Open Sans Bold"/>
                <a:sym typeface="Open Sans Bold"/>
              </a:rPr>
              <a:t>Kritik yolumuz: </a:t>
            </a:r>
            <a:r>
              <a:rPr lang="en-US" sz="1870">
                <a:solidFill>
                  <a:srgbClr val="000000"/>
                </a:solidFill>
                <a:latin typeface="Open Sans"/>
                <a:ea typeface="Open Sans"/>
                <a:cs typeface="Open Sans"/>
                <a:sym typeface="Open Sans"/>
              </a:rPr>
              <a:t>A-B-C-E-G-H</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3786078" y="0"/>
            <a:ext cx="11967442" cy="6866320"/>
          </a:xfrm>
          <a:custGeom>
            <a:avLst/>
            <a:gdLst/>
            <a:ahLst/>
            <a:cxnLst/>
            <a:rect r="r" b="b" t="t" l="l"/>
            <a:pathLst>
              <a:path h="6866320" w="11967442">
                <a:moveTo>
                  <a:pt x="0" y="0"/>
                </a:moveTo>
                <a:lnTo>
                  <a:pt x="11967442" y="0"/>
                </a:lnTo>
                <a:lnTo>
                  <a:pt x="11967442" y="6866320"/>
                </a:lnTo>
                <a:lnTo>
                  <a:pt x="0" y="6866320"/>
                </a:lnTo>
                <a:lnTo>
                  <a:pt x="0" y="0"/>
                </a:lnTo>
                <a:close/>
              </a:path>
            </a:pathLst>
          </a:custGeom>
          <a:blipFill>
            <a:blip r:embed="rId2"/>
            <a:stretch>
              <a:fillRect l="0" t="0" r="0" b="0"/>
            </a:stretch>
          </a:blipFill>
        </p:spPr>
      </p:sp>
      <p:sp>
        <p:nvSpPr>
          <p:cNvPr name="TextBox 3" id="3"/>
          <p:cNvSpPr txBox="true"/>
          <p:nvPr/>
        </p:nvSpPr>
        <p:spPr>
          <a:xfrm rot="0">
            <a:off x="3116409" y="6875845"/>
            <a:ext cx="12637111" cy="3222392"/>
          </a:xfrm>
          <a:prstGeom prst="rect">
            <a:avLst/>
          </a:prstGeom>
        </p:spPr>
        <p:txBody>
          <a:bodyPr anchor="t" rtlCol="false" tIns="0" lIns="0" bIns="0" rIns="0">
            <a:spAutoFit/>
          </a:bodyPr>
          <a:lstStyle/>
          <a:p>
            <a:pPr algn="ctr">
              <a:lnSpc>
                <a:spcPts val="2151"/>
              </a:lnSpc>
              <a:spcBef>
                <a:spcPct val="0"/>
              </a:spcBef>
            </a:pPr>
            <a:r>
              <a:rPr lang="en-US" b="true" sz="1792">
                <a:solidFill>
                  <a:srgbClr val="000000"/>
                </a:solidFill>
                <a:latin typeface="Open Sans Bold"/>
                <a:ea typeface="Open Sans Bold"/>
                <a:cs typeface="Open Sans Bold"/>
                <a:sym typeface="Open Sans Bold"/>
              </a:rPr>
              <a:t>Sorumluluk Sembolleri:</a:t>
            </a:r>
          </a:p>
          <a:p>
            <a:pPr algn="ctr">
              <a:lnSpc>
                <a:spcPts val="1978"/>
              </a:lnSpc>
              <a:spcBef>
                <a:spcPct val="0"/>
              </a:spcBef>
            </a:pPr>
            <a:r>
              <a:rPr lang="en-US" sz="1648">
                <a:solidFill>
                  <a:srgbClr val="000000"/>
                </a:solidFill>
                <a:latin typeface="Open Sans"/>
                <a:ea typeface="Open Sans"/>
                <a:cs typeface="Open Sans"/>
                <a:sym typeface="Open Sans"/>
              </a:rPr>
              <a:t>•</a:t>
            </a:r>
          </a:p>
          <a:p>
            <a:pPr algn="ctr">
              <a:lnSpc>
                <a:spcPts val="1978"/>
              </a:lnSpc>
              <a:spcBef>
                <a:spcPct val="0"/>
              </a:spcBef>
            </a:pPr>
            <a:r>
              <a:rPr lang="en-US" sz="1648">
                <a:solidFill>
                  <a:srgbClr val="000000"/>
                </a:solidFill>
                <a:latin typeface="Open Sans"/>
                <a:ea typeface="Open Sans"/>
                <a:cs typeface="Open Sans"/>
                <a:sym typeface="Open Sans"/>
              </a:rPr>
              <a:t>P (Primary - Birincil Sorumluluk): İş paketini fiilen gerçekleştiren ve tamamlamaktan sorumlu olan ana yürütücü.</a:t>
            </a:r>
          </a:p>
          <a:p>
            <a:pPr algn="ctr">
              <a:lnSpc>
                <a:spcPts val="1978"/>
              </a:lnSpc>
              <a:spcBef>
                <a:spcPct val="0"/>
              </a:spcBef>
            </a:pPr>
            <a:r>
              <a:rPr lang="en-US" sz="1648">
                <a:solidFill>
                  <a:srgbClr val="000000"/>
                </a:solidFill>
                <a:latin typeface="Open Sans"/>
                <a:ea typeface="Open Sans"/>
                <a:cs typeface="Open Sans"/>
                <a:sym typeface="Open Sans"/>
              </a:rPr>
              <a:t>•</a:t>
            </a:r>
          </a:p>
          <a:p>
            <a:pPr algn="ctr">
              <a:lnSpc>
                <a:spcPts val="1978"/>
              </a:lnSpc>
              <a:spcBef>
                <a:spcPct val="0"/>
              </a:spcBef>
            </a:pPr>
            <a:r>
              <a:rPr lang="en-US" sz="1648">
                <a:solidFill>
                  <a:srgbClr val="000000"/>
                </a:solidFill>
                <a:latin typeface="Open Sans"/>
                <a:ea typeface="Open Sans"/>
                <a:cs typeface="Open Sans"/>
                <a:sym typeface="Open Sans"/>
              </a:rPr>
              <a:t>A (Approval - Onay Yetkisi): İş paketinin çıktısını denetleyen, nihai onayı veya reddi veren yetkili merci.</a:t>
            </a:r>
          </a:p>
          <a:p>
            <a:pPr algn="ctr">
              <a:lnSpc>
                <a:spcPts val="1978"/>
              </a:lnSpc>
              <a:spcBef>
                <a:spcPct val="0"/>
              </a:spcBef>
            </a:pPr>
            <a:r>
              <a:rPr lang="en-US" sz="1648">
                <a:solidFill>
                  <a:srgbClr val="000000"/>
                </a:solidFill>
                <a:latin typeface="Open Sans"/>
                <a:ea typeface="Open Sans"/>
                <a:cs typeface="Open Sans"/>
                <a:sym typeface="Open Sans"/>
              </a:rPr>
              <a:t>•</a:t>
            </a:r>
          </a:p>
          <a:p>
            <a:pPr algn="ctr">
              <a:lnSpc>
                <a:spcPts val="1978"/>
              </a:lnSpc>
              <a:spcBef>
                <a:spcPct val="0"/>
              </a:spcBef>
            </a:pPr>
            <a:r>
              <a:rPr lang="en-US" sz="1648">
                <a:solidFill>
                  <a:srgbClr val="000000"/>
                </a:solidFill>
                <a:latin typeface="Open Sans"/>
                <a:ea typeface="Open Sans"/>
                <a:cs typeface="Open Sans"/>
                <a:sym typeface="Open Sans"/>
              </a:rPr>
              <a:t>R (Review - İnceleme): Çıktıları kalite standartlarına göre inceleyen, geri bildirim sunan paydaş.</a:t>
            </a:r>
          </a:p>
          <a:p>
            <a:pPr algn="ctr">
              <a:lnSpc>
                <a:spcPts val="1978"/>
              </a:lnSpc>
              <a:spcBef>
                <a:spcPct val="0"/>
              </a:spcBef>
            </a:pPr>
            <a:r>
              <a:rPr lang="en-US" sz="1648">
                <a:solidFill>
                  <a:srgbClr val="000000"/>
                </a:solidFill>
                <a:latin typeface="Open Sans"/>
                <a:ea typeface="Open Sans"/>
                <a:cs typeface="Open Sans"/>
                <a:sym typeface="Open Sans"/>
              </a:rPr>
              <a:t>•</a:t>
            </a:r>
          </a:p>
          <a:p>
            <a:pPr algn="ctr">
              <a:lnSpc>
                <a:spcPts val="1978"/>
              </a:lnSpc>
              <a:spcBef>
                <a:spcPct val="0"/>
              </a:spcBef>
            </a:pPr>
            <a:r>
              <a:rPr lang="en-US" sz="1648">
                <a:solidFill>
                  <a:srgbClr val="000000"/>
                </a:solidFill>
                <a:latin typeface="Open Sans"/>
                <a:ea typeface="Open Sans"/>
                <a:cs typeface="Open Sans"/>
                <a:sym typeface="Open Sans"/>
              </a:rPr>
              <a:t>I (Input - Girdi Sağlayıcı): Çalışma yapılırken teknik veya operasyonel veri/bilgi desteği sağlayan ekip üyesi.</a:t>
            </a:r>
          </a:p>
          <a:p>
            <a:pPr algn="ctr">
              <a:lnSpc>
                <a:spcPts val="1978"/>
              </a:lnSpc>
              <a:spcBef>
                <a:spcPct val="0"/>
              </a:spcBef>
            </a:pPr>
            <a:r>
              <a:rPr lang="en-US" sz="1648">
                <a:solidFill>
                  <a:srgbClr val="000000"/>
                </a:solidFill>
                <a:latin typeface="Open Sans"/>
                <a:ea typeface="Open Sans"/>
                <a:cs typeface="Open Sans"/>
                <a:sym typeface="Open Sans"/>
              </a:rPr>
              <a:t>•</a:t>
            </a:r>
          </a:p>
          <a:p>
            <a:pPr algn="ctr">
              <a:lnSpc>
                <a:spcPts val="1978"/>
              </a:lnSpc>
              <a:spcBef>
                <a:spcPct val="0"/>
              </a:spcBef>
            </a:pPr>
            <a:r>
              <a:rPr lang="en-US" sz="1648">
                <a:solidFill>
                  <a:srgbClr val="000000"/>
                </a:solidFill>
                <a:latin typeface="Open Sans"/>
                <a:ea typeface="Open Sans"/>
                <a:cs typeface="Open Sans"/>
                <a:sym typeface="Open Sans"/>
              </a:rPr>
              <a:t>N (Notification - Bilgilendirilecek): Çalışmanın durumu veya sonuçları hakkında kendisine resmi rapor sunulan paydaş.</a:t>
            </a:r>
          </a:p>
          <a:p>
            <a:pPr algn="ctr">
              <a:lnSpc>
                <a:spcPts val="1978"/>
              </a:lnSpc>
              <a:spcBef>
                <a:spcPct val="0"/>
              </a:spcBef>
            </a:pPr>
            <a:r>
              <a:rPr lang="en-US" sz="1648">
                <a:solidFill>
                  <a:srgbClr val="000000"/>
                </a:solidFill>
                <a:latin typeface="Open Sans"/>
                <a:ea typeface="Open Sans"/>
                <a:cs typeface="Open Sans"/>
                <a:sym typeface="Open Sans"/>
              </a:rPr>
              <a:t>•</a:t>
            </a:r>
          </a:p>
          <a:p>
            <a:pPr algn="ctr">
              <a:lnSpc>
                <a:spcPts val="1978"/>
              </a:lnSpc>
              <a:spcBef>
                <a:spcPct val="0"/>
              </a:spcBef>
            </a:pPr>
            <a:r>
              <a:rPr lang="en-US" sz="1648">
                <a:solidFill>
                  <a:srgbClr val="000000"/>
                </a:solidFill>
                <a:latin typeface="Open Sans"/>
                <a:ea typeface="Open Sans"/>
                <a:cs typeface="Open Sans"/>
                <a:sym typeface="Open Sans"/>
              </a:rPr>
              <a:t>B (Begin - Başlatıcı): İlgili iş paketinin start almasını tetikleyen ve başlatan birim.</a:t>
            </a:r>
          </a:p>
        </p:txBody>
      </p:sp>
      <p:sp>
        <p:nvSpPr>
          <p:cNvPr name="TextBox 4" id="4"/>
          <p:cNvSpPr txBox="true"/>
          <p:nvPr/>
        </p:nvSpPr>
        <p:spPr>
          <a:xfrm rot="0">
            <a:off x="-348627" y="0"/>
            <a:ext cx="4438942" cy="742950"/>
          </a:xfrm>
          <a:prstGeom prst="rect">
            <a:avLst/>
          </a:prstGeom>
        </p:spPr>
        <p:txBody>
          <a:bodyPr anchor="t" rtlCol="false" tIns="0" lIns="0" bIns="0" rIns="0">
            <a:spAutoFit/>
          </a:bodyPr>
          <a:lstStyle/>
          <a:p>
            <a:pPr algn="ctr">
              <a:lnSpc>
                <a:spcPts val="2999"/>
              </a:lnSpc>
              <a:spcBef>
                <a:spcPct val="0"/>
              </a:spcBef>
            </a:pPr>
            <a:r>
              <a:rPr lang="en-US" b="true" sz="2499">
                <a:solidFill>
                  <a:srgbClr val="000000"/>
                </a:solidFill>
                <a:latin typeface="Open Sans Bold"/>
                <a:ea typeface="Open Sans Bold"/>
                <a:cs typeface="Open Sans Bold"/>
                <a:sym typeface="Open Sans Bold"/>
              </a:rPr>
              <a:t>SORUMLULUK ATAMA MATRİSİ (LRC / RAM)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D3D47"/>
        </a:solidFill>
      </p:bgPr>
    </p:bg>
    <p:spTree>
      <p:nvGrpSpPr>
        <p:cNvPr id="1" name=""/>
        <p:cNvGrpSpPr/>
        <p:nvPr/>
      </p:nvGrpSpPr>
      <p:grpSpPr>
        <a:xfrm>
          <a:off x="0" y="0"/>
          <a:ext cx="0" cy="0"/>
          <a:chOff x="0" y="0"/>
          <a:chExt cx="0" cy="0"/>
        </a:xfrm>
      </p:grpSpPr>
      <p:sp>
        <p:nvSpPr>
          <p:cNvPr name="Freeform 2" id="2"/>
          <p:cNvSpPr/>
          <p:nvPr/>
        </p:nvSpPr>
        <p:spPr>
          <a:xfrm flipH="false" flipV="false" rot="0">
            <a:off x="-367851" y="-2165180"/>
            <a:ext cx="12718022" cy="12718022"/>
          </a:xfrm>
          <a:custGeom>
            <a:avLst/>
            <a:gdLst/>
            <a:ahLst/>
            <a:cxnLst/>
            <a:rect r="r" b="b" t="t" l="l"/>
            <a:pathLst>
              <a:path h="12718022" w="12718022">
                <a:moveTo>
                  <a:pt x="0" y="0"/>
                </a:moveTo>
                <a:lnTo>
                  <a:pt x="12718022" y="0"/>
                </a:lnTo>
                <a:lnTo>
                  <a:pt x="12718022" y="12718022"/>
                </a:lnTo>
                <a:lnTo>
                  <a:pt x="0" y="12718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16297">
            <a:off x="-469803" y="2011310"/>
            <a:ext cx="19322230" cy="8752095"/>
            <a:chOff x="0" y="0"/>
            <a:chExt cx="8308366" cy="3763313"/>
          </a:xfrm>
        </p:grpSpPr>
        <p:sp>
          <p:nvSpPr>
            <p:cNvPr name="Freeform 4" id="4"/>
            <p:cNvSpPr/>
            <p:nvPr/>
          </p:nvSpPr>
          <p:spPr>
            <a:xfrm flipH="false" flipV="false" rot="0">
              <a:off x="0" y="0"/>
              <a:ext cx="8308366" cy="3763313"/>
            </a:xfrm>
            <a:custGeom>
              <a:avLst/>
              <a:gdLst/>
              <a:ahLst/>
              <a:cxnLst/>
              <a:rect r="r" b="b" t="t" l="l"/>
              <a:pathLst>
                <a:path h="3763313" w="8308366">
                  <a:moveTo>
                    <a:pt x="0" y="0"/>
                  </a:moveTo>
                  <a:lnTo>
                    <a:pt x="8308366" y="0"/>
                  </a:lnTo>
                  <a:lnTo>
                    <a:pt x="8308366" y="3763313"/>
                  </a:lnTo>
                  <a:lnTo>
                    <a:pt x="0" y="3763313"/>
                  </a:lnTo>
                  <a:close/>
                </a:path>
              </a:pathLst>
            </a:custGeom>
            <a:solidFill>
              <a:srgbClr val="919462"/>
            </a:solidFill>
          </p:spPr>
        </p:sp>
        <p:sp>
          <p:nvSpPr>
            <p:cNvPr name="TextBox 5" id="5"/>
            <p:cNvSpPr txBox="true"/>
            <p:nvPr/>
          </p:nvSpPr>
          <p:spPr>
            <a:xfrm>
              <a:off x="0" y="0"/>
              <a:ext cx="8308366" cy="3763313"/>
            </a:xfrm>
            <a:prstGeom prst="rect">
              <a:avLst/>
            </a:prstGeom>
          </p:spPr>
          <p:txBody>
            <a:bodyPr anchor="ctr" rtlCol="false" tIns="29435" lIns="29435" bIns="29435" rIns="29435"/>
            <a:lstStyle/>
            <a:p>
              <a:pPr algn="ctr">
                <a:lnSpc>
                  <a:spcPts val="1334"/>
                </a:lnSpc>
              </a:pPr>
            </a:p>
          </p:txBody>
        </p:sp>
      </p:grpSp>
      <p:grpSp>
        <p:nvGrpSpPr>
          <p:cNvPr name="Group 6" id="6"/>
          <p:cNvGrpSpPr/>
          <p:nvPr/>
        </p:nvGrpSpPr>
        <p:grpSpPr>
          <a:xfrm rot="0">
            <a:off x="638961" y="3606389"/>
            <a:ext cx="6653346" cy="1778603"/>
            <a:chOff x="0" y="0"/>
            <a:chExt cx="1612519" cy="431038"/>
          </a:xfrm>
        </p:grpSpPr>
        <p:sp>
          <p:nvSpPr>
            <p:cNvPr name="Freeform 7" id="7"/>
            <p:cNvSpPr/>
            <p:nvPr/>
          </p:nvSpPr>
          <p:spPr>
            <a:xfrm flipH="false" flipV="false" rot="0">
              <a:off x="0" y="0"/>
              <a:ext cx="1612519" cy="431038"/>
            </a:xfrm>
            <a:custGeom>
              <a:avLst/>
              <a:gdLst/>
              <a:ahLst/>
              <a:cxnLst/>
              <a:rect r="r" b="b" t="t" l="l"/>
              <a:pathLst>
                <a:path h="431038" w="1612519">
                  <a:moveTo>
                    <a:pt x="1612519" y="116361"/>
                  </a:moveTo>
                  <a:lnTo>
                    <a:pt x="1612519" y="314677"/>
                  </a:lnTo>
                  <a:cubicBezTo>
                    <a:pt x="1612519" y="345538"/>
                    <a:pt x="1600260" y="375135"/>
                    <a:pt x="1578438" y="396957"/>
                  </a:cubicBezTo>
                  <a:cubicBezTo>
                    <a:pt x="1556616" y="418779"/>
                    <a:pt x="1527019" y="431038"/>
                    <a:pt x="1496158" y="431038"/>
                  </a:cubicBezTo>
                  <a:lnTo>
                    <a:pt x="116361" y="431038"/>
                  </a:lnTo>
                  <a:cubicBezTo>
                    <a:pt x="52097" y="431038"/>
                    <a:pt x="0" y="378941"/>
                    <a:pt x="0" y="314677"/>
                  </a:cubicBezTo>
                  <a:lnTo>
                    <a:pt x="0" y="116361"/>
                  </a:lnTo>
                  <a:cubicBezTo>
                    <a:pt x="0" y="52097"/>
                    <a:pt x="52097" y="0"/>
                    <a:pt x="116361" y="0"/>
                  </a:cubicBezTo>
                  <a:lnTo>
                    <a:pt x="1496158" y="0"/>
                  </a:lnTo>
                  <a:cubicBezTo>
                    <a:pt x="1560422" y="0"/>
                    <a:pt x="1612519" y="52097"/>
                    <a:pt x="1612519" y="116361"/>
                  </a:cubicBezTo>
                  <a:close/>
                </a:path>
              </a:pathLst>
            </a:custGeom>
            <a:solidFill>
              <a:srgbClr val="F1EEE9"/>
            </a:solidFill>
            <a:ln w="152400" cap="rnd">
              <a:solidFill>
                <a:srgbClr val="919462"/>
              </a:solidFill>
              <a:prstDash val="lgDash"/>
              <a:round/>
            </a:ln>
          </p:spPr>
        </p:sp>
        <p:sp>
          <p:nvSpPr>
            <p:cNvPr name="TextBox 8" id="8"/>
            <p:cNvSpPr txBox="true"/>
            <p:nvPr/>
          </p:nvSpPr>
          <p:spPr>
            <a:xfrm>
              <a:off x="0" y="38100"/>
              <a:ext cx="1612519" cy="392938"/>
            </a:xfrm>
            <a:prstGeom prst="rect">
              <a:avLst/>
            </a:prstGeom>
          </p:spPr>
          <p:txBody>
            <a:bodyPr anchor="ctr" rtlCol="false" tIns="50800" lIns="50800" bIns="50800" rIns="50800"/>
            <a:lstStyle/>
            <a:p>
              <a:pPr algn="ctr">
                <a:lnSpc>
                  <a:spcPts val="1679"/>
                </a:lnSpc>
              </a:pPr>
            </a:p>
          </p:txBody>
        </p:sp>
      </p:grpSp>
      <p:sp>
        <p:nvSpPr>
          <p:cNvPr name="Freeform 9" id="9"/>
          <p:cNvSpPr/>
          <p:nvPr/>
        </p:nvSpPr>
        <p:spPr>
          <a:xfrm flipH="false" flipV="false" rot="0">
            <a:off x="397254" y="5600363"/>
            <a:ext cx="241707" cy="1459538"/>
          </a:xfrm>
          <a:custGeom>
            <a:avLst/>
            <a:gdLst/>
            <a:ahLst/>
            <a:cxnLst/>
            <a:rect r="r" b="b" t="t" l="l"/>
            <a:pathLst>
              <a:path h="1459538" w="241707">
                <a:moveTo>
                  <a:pt x="0" y="0"/>
                </a:moveTo>
                <a:lnTo>
                  <a:pt x="241707" y="0"/>
                </a:lnTo>
                <a:lnTo>
                  <a:pt x="241707" y="1459538"/>
                </a:lnTo>
                <a:lnTo>
                  <a:pt x="0" y="1459538"/>
                </a:lnTo>
                <a:lnTo>
                  <a:pt x="0" y="0"/>
                </a:lnTo>
                <a:close/>
              </a:path>
            </a:pathLst>
          </a:custGeom>
          <a:blipFill>
            <a:blip r:embed="rId4"/>
            <a:stretch>
              <a:fillRect l="0" t="0" r="0" b="0"/>
            </a:stretch>
          </a:blipFill>
        </p:spPr>
      </p:sp>
      <p:sp>
        <p:nvSpPr>
          <p:cNvPr name="Freeform 10" id="10"/>
          <p:cNvSpPr/>
          <p:nvPr/>
        </p:nvSpPr>
        <p:spPr>
          <a:xfrm flipH="false" flipV="false" rot="0">
            <a:off x="340530" y="5496664"/>
            <a:ext cx="8304867" cy="1666936"/>
          </a:xfrm>
          <a:custGeom>
            <a:avLst/>
            <a:gdLst/>
            <a:ahLst/>
            <a:cxnLst/>
            <a:rect r="r" b="b" t="t" l="l"/>
            <a:pathLst>
              <a:path h="1666936" w="8304867">
                <a:moveTo>
                  <a:pt x="0" y="0"/>
                </a:moveTo>
                <a:lnTo>
                  <a:pt x="8304867" y="0"/>
                </a:lnTo>
                <a:lnTo>
                  <a:pt x="8304867" y="1666936"/>
                </a:lnTo>
                <a:lnTo>
                  <a:pt x="0" y="1666936"/>
                </a:lnTo>
                <a:lnTo>
                  <a:pt x="0" y="0"/>
                </a:lnTo>
                <a:close/>
              </a:path>
            </a:pathLst>
          </a:custGeom>
          <a:blipFill>
            <a:blip r:embed="rId5"/>
            <a:stretch>
              <a:fillRect l="0" t="0" r="-36079" b="0"/>
            </a:stretch>
          </a:blipFill>
        </p:spPr>
      </p:sp>
      <p:sp>
        <p:nvSpPr>
          <p:cNvPr name="Freeform 11" id="11"/>
          <p:cNvSpPr/>
          <p:nvPr/>
        </p:nvSpPr>
        <p:spPr>
          <a:xfrm flipH="false" flipV="false" rot="0">
            <a:off x="7851146" y="5264280"/>
            <a:ext cx="1292854" cy="1666936"/>
          </a:xfrm>
          <a:custGeom>
            <a:avLst/>
            <a:gdLst/>
            <a:ahLst/>
            <a:cxnLst/>
            <a:rect r="r" b="b" t="t" l="l"/>
            <a:pathLst>
              <a:path h="1666936" w="1292854">
                <a:moveTo>
                  <a:pt x="0" y="0"/>
                </a:moveTo>
                <a:lnTo>
                  <a:pt x="1292854" y="0"/>
                </a:lnTo>
                <a:lnTo>
                  <a:pt x="1292854" y="1666936"/>
                </a:lnTo>
                <a:lnTo>
                  <a:pt x="0" y="1666936"/>
                </a:lnTo>
                <a:lnTo>
                  <a:pt x="0" y="0"/>
                </a:lnTo>
                <a:close/>
              </a:path>
            </a:pathLst>
          </a:custGeom>
          <a:blipFill>
            <a:blip r:embed="rId5"/>
            <a:stretch>
              <a:fillRect l="-777404" t="0" r="0" b="0"/>
            </a:stretch>
          </a:blipFill>
        </p:spPr>
      </p:sp>
      <p:sp>
        <p:nvSpPr>
          <p:cNvPr name="Freeform 12" id="12"/>
          <p:cNvSpPr/>
          <p:nvPr/>
        </p:nvSpPr>
        <p:spPr>
          <a:xfrm flipH="false" flipV="false" rot="0">
            <a:off x="397254" y="7163600"/>
            <a:ext cx="243256" cy="1459538"/>
          </a:xfrm>
          <a:custGeom>
            <a:avLst/>
            <a:gdLst/>
            <a:ahLst/>
            <a:cxnLst/>
            <a:rect r="r" b="b" t="t" l="l"/>
            <a:pathLst>
              <a:path h="1459538" w="243256">
                <a:moveTo>
                  <a:pt x="0" y="0"/>
                </a:moveTo>
                <a:lnTo>
                  <a:pt x="243256" y="0"/>
                </a:lnTo>
                <a:lnTo>
                  <a:pt x="243256" y="1459538"/>
                </a:lnTo>
                <a:lnTo>
                  <a:pt x="0" y="1459538"/>
                </a:lnTo>
                <a:lnTo>
                  <a:pt x="0" y="0"/>
                </a:lnTo>
                <a:close/>
              </a:path>
            </a:pathLst>
          </a:custGeom>
          <a:blipFill>
            <a:blip r:embed="rId6"/>
            <a:stretch>
              <a:fillRect l="0" t="0" r="0" b="0"/>
            </a:stretch>
          </a:blipFill>
        </p:spPr>
      </p:sp>
      <p:sp>
        <p:nvSpPr>
          <p:cNvPr name="Freeform 13" id="13"/>
          <p:cNvSpPr/>
          <p:nvPr/>
        </p:nvSpPr>
        <p:spPr>
          <a:xfrm flipH="false" flipV="false" rot="0">
            <a:off x="340530" y="7059901"/>
            <a:ext cx="8304867" cy="1666936"/>
          </a:xfrm>
          <a:custGeom>
            <a:avLst/>
            <a:gdLst/>
            <a:ahLst/>
            <a:cxnLst/>
            <a:rect r="r" b="b" t="t" l="l"/>
            <a:pathLst>
              <a:path h="1666936" w="8304867">
                <a:moveTo>
                  <a:pt x="0" y="0"/>
                </a:moveTo>
                <a:lnTo>
                  <a:pt x="8304867" y="0"/>
                </a:lnTo>
                <a:lnTo>
                  <a:pt x="8304867" y="1666936"/>
                </a:lnTo>
                <a:lnTo>
                  <a:pt x="0" y="1666936"/>
                </a:lnTo>
                <a:lnTo>
                  <a:pt x="0" y="0"/>
                </a:lnTo>
                <a:close/>
              </a:path>
            </a:pathLst>
          </a:custGeom>
          <a:blipFill>
            <a:blip r:embed="rId5"/>
            <a:stretch>
              <a:fillRect l="0" t="-193" r="-38526" b="-193"/>
            </a:stretch>
          </a:blipFill>
        </p:spPr>
      </p:sp>
      <p:sp>
        <p:nvSpPr>
          <p:cNvPr name="Freeform 14" id="14"/>
          <p:cNvSpPr/>
          <p:nvPr/>
        </p:nvSpPr>
        <p:spPr>
          <a:xfrm flipH="false" flipV="false" rot="0">
            <a:off x="7851146" y="7270118"/>
            <a:ext cx="1292854" cy="1666936"/>
          </a:xfrm>
          <a:custGeom>
            <a:avLst/>
            <a:gdLst/>
            <a:ahLst/>
            <a:cxnLst/>
            <a:rect r="r" b="b" t="t" l="l"/>
            <a:pathLst>
              <a:path h="1666936" w="1292854">
                <a:moveTo>
                  <a:pt x="0" y="0"/>
                </a:moveTo>
                <a:lnTo>
                  <a:pt x="1292854" y="0"/>
                </a:lnTo>
                <a:lnTo>
                  <a:pt x="1292854" y="1666936"/>
                </a:lnTo>
                <a:lnTo>
                  <a:pt x="0" y="1666936"/>
                </a:lnTo>
                <a:lnTo>
                  <a:pt x="0" y="0"/>
                </a:lnTo>
                <a:close/>
              </a:path>
            </a:pathLst>
          </a:custGeom>
          <a:blipFill>
            <a:blip r:embed="rId5"/>
            <a:stretch>
              <a:fillRect l="-777404" t="0" r="0" b="0"/>
            </a:stretch>
          </a:blipFill>
        </p:spPr>
      </p:sp>
      <p:sp>
        <p:nvSpPr>
          <p:cNvPr name="Freeform 15" id="15"/>
          <p:cNvSpPr/>
          <p:nvPr/>
        </p:nvSpPr>
        <p:spPr>
          <a:xfrm flipH="false" flipV="false" rot="0">
            <a:off x="1712551" y="8841137"/>
            <a:ext cx="5560826" cy="1167773"/>
          </a:xfrm>
          <a:custGeom>
            <a:avLst/>
            <a:gdLst/>
            <a:ahLst/>
            <a:cxnLst/>
            <a:rect r="r" b="b" t="t" l="l"/>
            <a:pathLst>
              <a:path h="1167773" w="5560826">
                <a:moveTo>
                  <a:pt x="0" y="0"/>
                </a:moveTo>
                <a:lnTo>
                  <a:pt x="5560826" y="0"/>
                </a:lnTo>
                <a:lnTo>
                  <a:pt x="5560826" y="1167773"/>
                </a:lnTo>
                <a:lnTo>
                  <a:pt x="0" y="1167773"/>
                </a:lnTo>
                <a:lnTo>
                  <a:pt x="0" y="0"/>
                </a:lnTo>
                <a:close/>
              </a:path>
            </a:pathLst>
          </a:custGeom>
          <a:blipFill>
            <a:blip r:embed="rId7"/>
            <a:stretch>
              <a:fillRect l="0" t="0" r="0" b="0"/>
            </a:stretch>
          </a:blipFill>
        </p:spPr>
      </p:sp>
      <p:graphicFrame>
        <p:nvGraphicFramePr>
          <p:cNvPr name="Object 16" id="16"/>
          <p:cNvGraphicFramePr/>
          <p:nvPr/>
        </p:nvGraphicFramePr>
        <p:xfrm>
          <a:off x="9212306" y="1458445"/>
          <a:ext cx="16230600" cy="5564777"/>
        </p:xfrm>
        <a:graphic>
          <a:graphicData uri="http://schemas.openxmlformats.org/presentationml/2006/ole">
            <p:oleObj imgW="19469100" imgH="88011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7" id="17"/>
          <p:cNvSpPr txBox="true"/>
          <p:nvPr/>
        </p:nvSpPr>
        <p:spPr>
          <a:xfrm rot="0">
            <a:off x="514018" y="1286995"/>
            <a:ext cx="14174797" cy="400051"/>
          </a:xfrm>
          <a:prstGeom prst="rect">
            <a:avLst/>
          </a:prstGeom>
        </p:spPr>
        <p:txBody>
          <a:bodyPr anchor="t" rtlCol="false" tIns="0" lIns="0" bIns="0" rIns="0">
            <a:spAutoFit/>
          </a:bodyPr>
          <a:lstStyle/>
          <a:p>
            <a:pPr algn="l" marL="0" indent="0" lvl="0">
              <a:lnSpc>
                <a:spcPts val="3000"/>
              </a:lnSpc>
            </a:pPr>
            <a:r>
              <a:rPr lang="en-US" b="true" sz="3000">
                <a:solidFill>
                  <a:srgbClr val="919462"/>
                </a:solidFill>
                <a:latin typeface="Garet Ultra-Bold"/>
                <a:ea typeface="Garet Ultra-Bold"/>
                <a:cs typeface="Garet Ultra-Bold"/>
                <a:sym typeface="Garet Ultra-Bold"/>
              </a:rPr>
              <a:t>📐 BOLLUK (SLACK) NEDIR?</a:t>
            </a:r>
          </a:p>
        </p:txBody>
      </p:sp>
      <p:sp>
        <p:nvSpPr>
          <p:cNvPr name="TextBox 18" id="18"/>
          <p:cNvSpPr txBox="true"/>
          <p:nvPr/>
        </p:nvSpPr>
        <p:spPr>
          <a:xfrm rot="0">
            <a:off x="514018" y="340717"/>
            <a:ext cx="17259964" cy="669925"/>
          </a:xfrm>
          <a:prstGeom prst="rect">
            <a:avLst/>
          </a:prstGeom>
        </p:spPr>
        <p:txBody>
          <a:bodyPr anchor="t" rtlCol="false" tIns="0" lIns="0" bIns="0" rIns="0">
            <a:spAutoFit/>
          </a:bodyPr>
          <a:lstStyle/>
          <a:p>
            <a:pPr algn="l" marL="0" indent="0" lvl="0">
              <a:lnSpc>
                <a:spcPts val="5000"/>
              </a:lnSpc>
            </a:pPr>
            <a:r>
              <a:rPr lang="en-US" sz="5000">
                <a:solidFill>
                  <a:srgbClr val="E5E3E6"/>
                </a:solidFill>
                <a:latin typeface="Garet"/>
                <a:ea typeface="Garet"/>
                <a:cs typeface="Garet"/>
                <a:sym typeface="Garet"/>
              </a:rPr>
              <a:t>Bolluk (Slack/Float) Hesaplamaları</a:t>
            </a:r>
          </a:p>
        </p:txBody>
      </p:sp>
      <p:sp>
        <p:nvSpPr>
          <p:cNvPr name="TextBox 19" id="19"/>
          <p:cNvSpPr txBox="true"/>
          <p:nvPr/>
        </p:nvSpPr>
        <p:spPr>
          <a:xfrm rot="0">
            <a:off x="514018" y="1848971"/>
            <a:ext cx="8131379" cy="1944010"/>
          </a:xfrm>
          <a:prstGeom prst="rect">
            <a:avLst/>
          </a:prstGeom>
        </p:spPr>
        <p:txBody>
          <a:bodyPr anchor="t" rtlCol="false" tIns="0" lIns="0" bIns="0" rIns="0">
            <a:spAutoFit/>
          </a:bodyPr>
          <a:lstStyle/>
          <a:p>
            <a:pPr algn="l">
              <a:lnSpc>
                <a:spcPts val="2629"/>
              </a:lnSpc>
            </a:pPr>
            <a:r>
              <a:rPr lang="en-US" sz="1753">
                <a:solidFill>
                  <a:srgbClr val="E5E3E6"/>
                </a:solidFill>
                <a:latin typeface="Garet"/>
                <a:ea typeface="Garet"/>
                <a:cs typeface="Garet"/>
                <a:sym typeface="Garet"/>
              </a:rPr>
              <a:t>Bir faaliyetin, projesüresini geciktirmeden ne kadar ertelenebileceğini gösteren esneklik payıdır.</a:t>
            </a:r>
          </a:p>
          <a:p>
            <a:pPr algn="l">
              <a:lnSpc>
                <a:spcPts val="2629"/>
              </a:lnSpc>
            </a:pPr>
            <a:r>
              <a:rPr lang="en-US" sz="1753">
                <a:solidFill>
                  <a:srgbClr val="E5E3E6"/>
                </a:solidFill>
                <a:latin typeface="Garet"/>
                <a:ea typeface="Garet"/>
                <a:cs typeface="Garet"/>
                <a:sym typeface="Garet"/>
              </a:rPr>
              <a:t>• Bolluk = 0 olan faaliyetler → Kritik Faaliyetler (kritik yol üzerindedir)</a:t>
            </a:r>
          </a:p>
          <a:p>
            <a:pPr algn="l">
              <a:lnSpc>
                <a:spcPts val="2629"/>
              </a:lnSpc>
            </a:pPr>
            <a:r>
              <a:rPr lang="en-US" sz="1753">
                <a:solidFill>
                  <a:srgbClr val="E5E3E6"/>
                </a:solidFill>
                <a:latin typeface="Garet"/>
                <a:ea typeface="Garet"/>
                <a:cs typeface="Garet"/>
                <a:sym typeface="Garet"/>
              </a:rPr>
              <a:t> • Bolluk &gt; 0 olan faaliyetler → Esnekliğe sahip, belirli birsüre ertelenebilir</a:t>
            </a:r>
          </a:p>
          <a:p>
            <a:pPr algn="l" marL="0" indent="0" lvl="0">
              <a:lnSpc>
                <a:spcPts val="2191"/>
              </a:lnSpc>
              <a:spcBef>
                <a:spcPct val="0"/>
              </a:spcBef>
            </a:pPr>
          </a:p>
        </p:txBody>
      </p:sp>
      <p:sp>
        <p:nvSpPr>
          <p:cNvPr name="TextBox 20" id="20"/>
          <p:cNvSpPr txBox="true"/>
          <p:nvPr/>
        </p:nvSpPr>
        <p:spPr>
          <a:xfrm rot="0">
            <a:off x="923325" y="4155731"/>
            <a:ext cx="2734966" cy="516256"/>
          </a:xfrm>
          <a:prstGeom prst="rect">
            <a:avLst/>
          </a:prstGeom>
        </p:spPr>
        <p:txBody>
          <a:bodyPr anchor="t" rtlCol="false" tIns="0" lIns="0" bIns="0" rIns="0">
            <a:spAutoFit/>
          </a:bodyPr>
          <a:lstStyle/>
          <a:p>
            <a:pPr algn="l">
              <a:lnSpc>
                <a:spcPts val="2099"/>
              </a:lnSpc>
            </a:pPr>
            <a:r>
              <a:rPr lang="en-US" sz="1399" b="true">
                <a:solidFill>
                  <a:srgbClr val="000000"/>
                </a:solidFill>
                <a:latin typeface="Garet Bold"/>
                <a:ea typeface="Garet Bold"/>
                <a:cs typeface="Garet Bold"/>
                <a:sym typeface="Garet Bold"/>
              </a:rPr>
              <a:t>T</a:t>
            </a:r>
            <a:r>
              <a:rPr lang="en-US" sz="1399" b="true">
                <a:solidFill>
                  <a:srgbClr val="000000"/>
                </a:solidFill>
                <a:latin typeface="Garet Bold"/>
                <a:ea typeface="Garet Bold"/>
                <a:cs typeface="Garet Bold"/>
                <a:sym typeface="Garet Bold"/>
              </a:rPr>
              <a:t>oplam Bolluk (Total Slack)</a:t>
            </a:r>
          </a:p>
          <a:p>
            <a:pPr algn="l" marL="0" indent="0" lvl="0">
              <a:lnSpc>
                <a:spcPts val="2249"/>
              </a:lnSpc>
              <a:spcBef>
                <a:spcPct val="0"/>
              </a:spcBef>
            </a:pPr>
            <a:r>
              <a:rPr lang="en-US" sz="1499">
                <a:solidFill>
                  <a:srgbClr val="000000"/>
                </a:solidFill>
                <a:latin typeface="Garet"/>
                <a:ea typeface="Garet"/>
                <a:cs typeface="Garet"/>
                <a:sym typeface="Garet"/>
              </a:rPr>
              <a:t>TS = LS − ES = LF − EF</a:t>
            </a:r>
          </a:p>
        </p:txBody>
      </p:sp>
      <p:sp>
        <p:nvSpPr>
          <p:cNvPr name="TextBox 21" id="21"/>
          <p:cNvSpPr txBox="true"/>
          <p:nvPr/>
        </p:nvSpPr>
        <p:spPr>
          <a:xfrm rot="0">
            <a:off x="3965634" y="4146206"/>
            <a:ext cx="2980840" cy="527685"/>
          </a:xfrm>
          <a:prstGeom prst="rect">
            <a:avLst/>
          </a:prstGeom>
        </p:spPr>
        <p:txBody>
          <a:bodyPr anchor="t" rtlCol="false" tIns="0" lIns="0" bIns="0" rIns="0">
            <a:spAutoFit/>
          </a:bodyPr>
          <a:lstStyle/>
          <a:p>
            <a:pPr algn="l">
              <a:lnSpc>
                <a:spcPts val="2100"/>
              </a:lnSpc>
            </a:pPr>
            <a:r>
              <a:rPr lang="en-US" sz="1400" b="true">
                <a:solidFill>
                  <a:srgbClr val="000000"/>
                </a:solidFill>
                <a:latin typeface="Garet Bold"/>
                <a:ea typeface="Garet Bold"/>
                <a:cs typeface="Garet Bold"/>
                <a:sym typeface="Garet Bold"/>
              </a:rPr>
              <a:t>Serbest</a:t>
            </a:r>
            <a:r>
              <a:rPr lang="en-US" sz="1400" b="true">
                <a:solidFill>
                  <a:srgbClr val="000000"/>
                </a:solidFill>
                <a:latin typeface="Garet Bold"/>
                <a:ea typeface="Garet Bold"/>
                <a:cs typeface="Garet Bold"/>
                <a:sym typeface="Garet Bold"/>
              </a:rPr>
              <a:t>Bolluk (Free Slack)</a:t>
            </a:r>
          </a:p>
          <a:p>
            <a:pPr algn="l" marL="0" indent="0" lvl="0">
              <a:lnSpc>
                <a:spcPts val="2100"/>
              </a:lnSpc>
              <a:spcBef>
                <a:spcPct val="0"/>
              </a:spcBef>
            </a:pPr>
            <a:r>
              <a:rPr lang="en-US" sz="1400">
                <a:solidFill>
                  <a:srgbClr val="000000"/>
                </a:solidFill>
                <a:latin typeface="Garet"/>
                <a:ea typeface="Garet"/>
                <a:cs typeface="Garet"/>
                <a:sym typeface="Garet"/>
              </a:rPr>
              <a:t>FS = min{ES(ardıl)} − EF(mevcut)</a:t>
            </a:r>
          </a:p>
        </p:txBody>
      </p:sp>
      <p:sp>
        <p:nvSpPr>
          <p:cNvPr name="TextBox 22" id="22"/>
          <p:cNvSpPr txBox="true"/>
          <p:nvPr/>
        </p:nvSpPr>
        <p:spPr>
          <a:xfrm rot="0">
            <a:off x="677510" y="5988501"/>
            <a:ext cx="6576248" cy="702312"/>
          </a:xfrm>
          <a:prstGeom prst="rect">
            <a:avLst/>
          </a:prstGeom>
        </p:spPr>
        <p:txBody>
          <a:bodyPr anchor="t" rtlCol="false" tIns="0" lIns="0" bIns="0" rIns="0">
            <a:spAutoFit/>
          </a:bodyPr>
          <a:lstStyle/>
          <a:p>
            <a:pPr algn="l">
              <a:lnSpc>
                <a:spcPts val="1400"/>
              </a:lnSpc>
              <a:spcBef>
                <a:spcPct val="0"/>
              </a:spcBef>
            </a:pPr>
            <a:r>
              <a:rPr lang="en-US" b="true" sz="1400">
                <a:solidFill>
                  <a:srgbClr val="3D3D47"/>
                </a:solidFill>
                <a:latin typeface="Garet Bold"/>
                <a:ea typeface="Garet Bold"/>
                <a:cs typeface="Garet Bold"/>
                <a:sym typeface="Garet Bold"/>
              </a:rPr>
              <a:t>TS Toplam Bolluk: </a:t>
            </a:r>
          </a:p>
          <a:p>
            <a:pPr algn="l">
              <a:lnSpc>
                <a:spcPts val="1400"/>
              </a:lnSpc>
              <a:spcBef>
                <a:spcPct val="0"/>
              </a:spcBef>
            </a:pPr>
          </a:p>
          <a:p>
            <a:pPr algn="l">
              <a:lnSpc>
                <a:spcPts val="1400"/>
              </a:lnSpc>
              <a:spcBef>
                <a:spcPct val="0"/>
              </a:spcBef>
            </a:pPr>
            <a:r>
              <a:rPr lang="en-US" sz="1400">
                <a:solidFill>
                  <a:srgbClr val="000000"/>
                </a:solidFill>
                <a:latin typeface="Garet"/>
                <a:ea typeface="Garet"/>
                <a:cs typeface="Garet"/>
                <a:sym typeface="Garet"/>
              </a:rPr>
              <a:t>Faaliyetin projeyi geciktirmeden kaç gün ertelenebileceğini gösterir. TS = 0 → Kritik faaliyet!</a:t>
            </a:r>
          </a:p>
        </p:txBody>
      </p:sp>
      <p:sp>
        <p:nvSpPr>
          <p:cNvPr name="TextBox 23" id="23"/>
          <p:cNvSpPr txBox="true"/>
          <p:nvPr/>
        </p:nvSpPr>
        <p:spPr>
          <a:xfrm rot="0">
            <a:off x="677510" y="7551738"/>
            <a:ext cx="6614797" cy="702312"/>
          </a:xfrm>
          <a:prstGeom prst="rect">
            <a:avLst/>
          </a:prstGeom>
        </p:spPr>
        <p:txBody>
          <a:bodyPr anchor="t" rtlCol="false" tIns="0" lIns="0" bIns="0" rIns="0">
            <a:spAutoFit/>
          </a:bodyPr>
          <a:lstStyle/>
          <a:p>
            <a:pPr algn="l">
              <a:lnSpc>
                <a:spcPts val="1400"/>
              </a:lnSpc>
              <a:spcBef>
                <a:spcPct val="0"/>
              </a:spcBef>
            </a:pPr>
            <a:r>
              <a:rPr lang="en-US" b="true" sz="1400">
                <a:solidFill>
                  <a:srgbClr val="6EE7B7"/>
                </a:solidFill>
                <a:latin typeface="Garet Bold"/>
                <a:ea typeface="Garet Bold"/>
                <a:cs typeface="Garet Bold"/>
                <a:sym typeface="Garet Bold"/>
              </a:rPr>
              <a:t>FS Serbest Bolluk: </a:t>
            </a:r>
          </a:p>
          <a:p>
            <a:pPr algn="l">
              <a:lnSpc>
                <a:spcPts val="1400"/>
              </a:lnSpc>
              <a:spcBef>
                <a:spcPct val="0"/>
              </a:spcBef>
            </a:pPr>
          </a:p>
          <a:p>
            <a:pPr algn="l">
              <a:lnSpc>
                <a:spcPts val="1400"/>
              </a:lnSpc>
              <a:spcBef>
                <a:spcPct val="0"/>
              </a:spcBef>
            </a:pPr>
            <a:r>
              <a:rPr lang="en-US" sz="1400">
                <a:solidFill>
                  <a:srgbClr val="000000"/>
                </a:solidFill>
                <a:latin typeface="Garet"/>
                <a:ea typeface="Garet"/>
                <a:cs typeface="Garet"/>
                <a:sym typeface="Garet"/>
              </a:rPr>
              <a:t>Faaliyetin ardıllarını geciktirmeden kaç gün ertelenebileceğini gösterir. FS ≤ TS her zaman geçerlidir.</a:t>
            </a:r>
          </a:p>
        </p:txBody>
      </p:sp>
      <p:sp>
        <p:nvSpPr>
          <p:cNvPr name="TextBox 24" id="24"/>
          <p:cNvSpPr txBox="true"/>
          <p:nvPr/>
        </p:nvSpPr>
        <p:spPr>
          <a:xfrm rot="0">
            <a:off x="1846797" y="8997667"/>
            <a:ext cx="5292335" cy="873762"/>
          </a:xfrm>
          <a:prstGeom prst="rect">
            <a:avLst/>
          </a:prstGeom>
        </p:spPr>
        <p:txBody>
          <a:bodyPr anchor="t" rtlCol="false" tIns="0" lIns="0" bIns="0" rIns="0">
            <a:spAutoFit/>
          </a:bodyPr>
          <a:lstStyle/>
          <a:p>
            <a:pPr algn="just">
              <a:lnSpc>
                <a:spcPts val="1400"/>
              </a:lnSpc>
              <a:spcBef>
                <a:spcPct val="0"/>
              </a:spcBef>
            </a:pPr>
            <a:r>
              <a:rPr lang="en-US" b="true" sz="1400">
                <a:solidFill>
                  <a:srgbClr val="501419"/>
                </a:solidFill>
                <a:latin typeface="Garet Bold"/>
                <a:ea typeface="Garet Bold"/>
                <a:cs typeface="Garet Bold"/>
                <a:sym typeface="Garet Bold"/>
              </a:rPr>
              <a:t>⚠️ Kritik Kural: </a:t>
            </a:r>
          </a:p>
          <a:p>
            <a:pPr algn="just">
              <a:lnSpc>
                <a:spcPts val="1400"/>
              </a:lnSpc>
              <a:spcBef>
                <a:spcPct val="0"/>
              </a:spcBef>
            </a:pPr>
          </a:p>
          <a:p>
            <a:pPr algn="just">
              <a:lnSpc>
                <a:spcPts val="1400"/>
              </a:lnSpc>
              <a:spcBef>
                <a:spcPct val="0"/>
              </a:spcBef>
            </a:pPr>
            <a:r>
              <a:rPr lang="en-US" sz="1400">
                <a:solidFill>
                  <a:srgbClr val="000000"/>
                </a:solidFill>
                <a:latin typeface="Garet"/>
                <a:ea typeface="Garet"/>
                <a:cs typeface="Garet"/>
                <a:sym typeface="Garet"/>
              </a:rPr>
              <a:t>Toplam Bolluğu sıfır (0) olan faaliyetler Kritik Faaliyetlerdir. Bu faaliyetler üzerindeki en ufak bir gecikme tüm projeyi geciktirir!</a:t>
            </a:r>
          </a:p>
        </p:txBody>
      </p:sp>
      <p:sp>
        <p:nvSpPr>
          <p:cNvPr name="Freeform 25" id="25"/>
          <p:cNvSpPr/>
          <p:nvPr/>
        </p:nvSpPr>
        <p:spPr>
          <a:xfrm flipH="false" flipV="false" rot="0">
            <a:off x="9144000" y="7893369"/>
            <a:ext cx="8561676" cy="2297321"/>
          </a:xfrm>
          <a:custGeom>
            <a:avLst/>
            <a:gdLst/>
            <a:ahLst/>
            <a:cxnLst/>
            <a:rect r="r" b="b" t="t" l="l"/>
            <a:pathLst>
              <a:path h="2297321" w="8561676">
                <a:moveTo>
                  <a:pt x="0" y="0"/>
                </a:moveTo>
                <a:lnTo>
                  <a:pt x="8561676" y="0"/>
                </a:lnTo>
                <a:lnTo>
                  <a:pt x="8561676" y="2297321"/>
                </a:lnTo>
                <a:lnTo>
                  <a:pt x="0" y="2297321"/>
                </a:lnTo>
                <a:lnTo>
                  <a:pt x="0" y="0"/>
                </a:lnTo>
                <a:close/>
              </a:path>
            </a:pathLst>
          </a:custGeom>
          <a:blipFill>
            <a:blip r:embed="rId5"/>
            <a:stretch>
              <a:fillRect l="0" t="0" r="-81916" b="0"/>
            </a:stretch>
          </a:blipFill>
        </p:spPr>
      </p:sp>
      <p:sp>
        <p:nvSpPr>
          <p:cNvPr name="Freeform 26" id="26"/>
          <p:cNvSpPr/>
          <p:nvPr/>
        </p:nvSpPr>
        <p:spPr>
          <a:xfrm flipH="false" flipV="false" rot="0">
            <a:off x="17238882" y="8103586"/>
            <a:ext cx="1049118" cy="2183414"/>
          </a:xfrm>
          <a:custGeom>
            <a:avLst/>
            <a:gdLst/>
            <a:ahLst/>
            <a:cxnLst/>
            <a:rect r="r" b="b" t="t" l="l"/>
            <a:pathLst>
              <a:path h="2183414" w="1049118">
                <a:moveTo>
                  <a:pt x="0" y="0"/>
                </a:moveTo>
                <a:lnTo>
                  <a:pt x="1049118" y="0"/>
                </a:lnTo>
                <a:lnTo>
                  <a:pt x="1049118" y="2183414"/>
                </a:lnTo>
                <a:lnTo>
                  <a:pt x="0" y="2183414"/>
                </a:lnTo>
                <a:lnTo>
                  <a:pt x="0" y="0"/>
                </a:lnTo>
                <a:close/>
              </a:path>
            </a:pathLst>
          </a:custGeom>
          <a:blipFill>
            <a:blip r:embed="rId5"/>
            <a:stretch>
              <a:fillRect l="-1326601" t="-553" r="0" b="-553"/>
            </a:stretch>
          </a:blipFill>
        </p:spPr>
      </p:sp>
      <p:sp>
        <p:nvSpPr>
          <p:cNvPr name="TextBox 27" id="27"/>
          <p:cNvSpPr txBox="true"/>
          <p:nvPr/>
        </p:nvSpPr>
        <p:spPr>
          <a:xfrm rot="0">
            <a:off x="9446754" y="8122636"/>
            <a:ext cx="7487328" cy="1731012"/>
          </a:xfrm>
          <a:prstGeom prst="rect">
            <a:avLst/>
          </a:prstGeom>
        </p:spPr>
        <p:txBody>
          <a:bodyPr anchor="t" rtlCol="false" tIns="0" lIns="0" bIns="0" rIns="0">
            <a:spAutoFit/>
          </a:bodyPr>
          <a:lstStyle/>
          <a:p>
            <a:pPr algn="l">
              <a:lnSpc>
                <a:spcPts val="1400"/>
              </a:lnSpc>
              <a:spcBef>
                <a:spcPct val="0"/>
              </a:spcBef>
            </a:pPr>
            <a:r>
              <a:rPr lang="en-US" sz="1400">
                <a:solidFill>
                  <a:srgbClr val="000000"/>
                </a:solidFill>
                <a:latin typeface="Garet"/>
                <a:ea typeface="Garet"/>
                <a:cs typeface="Garet"/>
                <a:sym typeface="Garet"/>
              </a:rPr>
              <a:t>🔑</a:t>
            </a:r>
            <a:r>
              <a:rPr lang="en-US" b="true" sz="1400">
                <a:solidFill>
                  <a:srgbClr val="000000"/>
                </a:solidFill>
                <a:latin typeface="Garet Bold"/>
                <a:ea typeface="Garet Bold"/>
                <a:cs typeface="Garet Bold"/>
                <a:sym typeface="Garet Bold"/>
              </a:rPr>
              <a:t> Kritik Yol Analizi:</a:t>
            </a:r>
          </a:p>
          <a:p>
            <a:pPr algn="l">
              <a:lnSpc>
                <a:spcPts val="1400"/>
              </a:lnSpc>
              <a:spcBef>
                <a:spcPct val="0"/>
              </a:spcBef>
            </a:pPr>
          </a:p>
          <a:p>
            <a:pPr algn="l">
              <a:lnSpc>
                <a:spcPts val="1400"/>
              </a:lnSpc>
              <a:spcBef>
                <a:spcPct val="0"/>
              </a:spcBef>
            </a:pPr>
            <a:r>
              <a:rPr lang="en-US" sz="1400">
                <a:solidFill>
                  <a:srgbClr val="000000"/>
                </a:solidFill>
                <a:latin typeface="Garet"/>
                <a:ea typeface="Garet"/>
                <a:cs typeface="Garet"/>
                <a:sym typeface="Garet"/>
              </a:rPr>
              <a:t>Kritik Yol: </a:t>
            </a:r>
            <a:r>
              <a:rPr lang="en-US" b="true" sz="1400">
                <a:solidFill>
                  <a:srgbClr val="000000"/>
                </a:solidFill>
                <a:latin typeface="Garet Bold"/>
                <a:ea typeface="Garet Bold"/>
                <a:cs typeface="Garet Bold"/>
                <a:sym typeface="Garet Bold"/>
              </a:rPr>
              <a:t>A → B → C → E → G → H</a:t>
            </a:r>
            <a:r>
              <a:rPr lang="en-US" sz="1400">
                <a:solidFill>
                  <a:srgbClr val="000000"/>
                </a:solidFill>
                <a:latin typeface="Garet"/>
                <a:ea typeface="Garet"/>
                <a:cs typeface="Garet"/>
                <a:sym typeface="Garet"/>
              </a:rPr>
              <a:t>  </a:t>
            </a:r>
            <a:r>
              <a:rPr lang="en-US" sz="1400" i="true">
                <a:solidFill>
                  <a:srgbClr val="501419"/>
                </a:solidFill>
                <a:latin typeface="Garet Italics"/>
                <a:ea typeface="Garet Italics"/>
                <a:cs typeface="Garet Italics"/>
                <a:sym typeface="Garet Italics"/>
              </a:rPr>
              <a:t>(52 gün)</a:t>
            </a:r>
            <a:r>
              <a:rPr lang="en-US" sz="1400">
                <a:solidFill>
                  <a:srgbClr val="000000"/>
                </a:solidFill>
                <a:latin typeface="Garet"/>
                <a:ea typeface="Garet"/>
                <a:cs typeface="Garet"/>
                <a:sym typeface="Garet"/>
              </a:rPr>
              <a:t> — Bu yol üzerindeki herhangi bir gecikme tüm Deadline projesinin teslimini geciktirir. D (UI/UX) ve F (Donanım) aktiviteleri esnekliğe sahiptir.</a:t>
            </a:r>
          </a:p>
          <a:p>
            <a:pPr algn="l">
              <a:lnSpc>
                <a:spcPts val="1400"/>
              </a:lnSpc>
              <a:spcBef>
                <a:spcPct val="0"/>
              </a:spcBef>
            </a:pPr>
          </a:p>
          <a:p>
            <a:pPr algn="l">
              <a:lnSpc>
                <a:spcPts val="1400"/>
              </a:lnSpc>
              <a:spcBef>
                <a:spcPct val="0"/>
              </a:spcBef>
            </a:pPr>
            <a:r>
              <a:rPr lang="en-US" b="true" sz="1400">
                <a:solidFill>
                  <a:srgbClr val="000000"/>
                </a:solidFill>
                <a:latin typeface="Garet Bold"/>
                <a:ea typeface="Garet Bold"/>
                <a:cs typeface="Garet Bold"/>
                <a:sym typeface="Garet Bold"/>
              </a:rPr>
              <a:t>💡 Tablo Yorumu: </a:t>
            </a:r>
          </a:p>
          <a:p>
            <a:pPr algn="l">
              <a:lnSpc>
                <a:spcPts val="1400"/>
              </a:lnSpc>
              <a:spcBef>
                <a:spcPct val="0"/>
              </a:spcBef>
            </a:pPr>
          </a:p>
          <a:p>
            <a:pPr algn="l">
              <a:lnSpc>
                <a:spcPts val="1400"/>
              </a:lnSpc>
              <a:spcBef>
                <a:spcPct val="0"/>
              </a:spcBef>
            </a:pPr>
            <a:r>
              <a:rPr lang="en-US" sz="1400">
                <a:solidFill>
                  <a:srgbClr val="000000"/>
                </a:solidFill>
                <a:latin typeface="Garet"/>
                <a:ea typeface="Garet"/>
                <a:cs typeface="Garet"/>
                <a:sym typeface="Garet"/>
              </a:rPr>
              <a:t>Kırmızı satırlar sıfır bolluğa sahip kritik faaliyetleri gösterir. Donanım Kurulumu (F) 21 gün ile en yüksek esnekliğe sahip faaliyettir.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0" y="-1583731"/>
            <a:ext cx="12718022" cy="12718022"/>
          </a:xfrm>
          <a:custGeom>
            <a:avLst/>
            <a:gdLst/>
            <a:ahLst/>
            <a:cxnLst/>
            <a:rect r="r" b="b" t="t" l="l"/>
            <a:pathLst>
              <a:path h="12718022" w="12718022">
                <a:moveTo>
                  <a:pt x="0" y="0"/>
                </a:moveTo>
                <a:lnTo>
                  <a:pt x="12718022" y="0"/>
                </a:lnTo>
                <a:lnTo>
                  <a:pt x="12718022" y="12718022"/>
                </a:lnTo>
                <a:lnTo>
                  <a:pt x="0" y="12718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12904" y="1633935"/>
            <a:ext cx="8546396" cy="2425745"/>
          </a:xfrm>
          <a:custGeom>
            <a:avLst/>
            <a:gdLst/>
            <a:ahLst/>
            <a:cxnLst/>
            <a:rect r="r" b="b" t="t" l="l"/>
            <a:pathLst>
              <a:path h="2425745" w="8546396">
                <a:moveTo>
                  <a:pt x="0" y="0"/>
                </a:moveTo>
                <a:lnTo>
                  <a:pt x="8546396" y="0"/>
                </a:lnTo>
                <a:lnTo>
                  <a:pt x="8546396" y="2425745"/>
                </a:lnTo>
                <a:lnTo>
                  <a:pt x="0" y="2425745"/>
                </a:lnTo>
                <a:lnTo>
                  <a:pt x="0" y="0"/>
                </a:lnTo>
                <a:close/>
              </a:path>
            </a:pathLst>
          </a:custGeom>
          <a:blipFill>
            <a:blip r:embed="rId4"/>
            <a:stretch>
              <a:fillRect l="-20" t="0" r="-93128" b="0"/>
            </a:stretch>
          </a:blipFill>
        </p:spPr>
      </p:sp>
      <p:sp>
        <p:nvSpPr>
          <p:cNvPr name="Freeform 4" id="4"/>
          <p:cNvSpPr/>
          <p:nvPr/>
        </p:nvSpPr>
        <p:spPr>
          <a:xfrm flipH="false" flipV="false" rot="0">
            <a:off x="8204166" y="5545676"/>
            <a:ext cx="2186269" cy="2344524"/>
          </a:xfrm>
          <a:custGeom>
            <a:avLst/>
            <a:gdLst/>
            <a:ahLst/>
            <a:cxnLst/>
            <a:rect r="r" b="b" t="t" l="l"/>
            <a:pathLst>
              <a:path h="2344524" w="2186269">
                <a:moveTo>
                  <a:pt x="0" y="0"/>
                </a:moveTo>
                <a:lnTo>
                  <a:pt x="2186269" y="0"/>
                </a:lnTo>
                <a:lnTo>
                  <a:pt x="2186269" y="2344524"/>
                </a:lnTo>
                <a:lnTo>
                  <a:pt x="0" y="2344524"/>
                </a:lnTo>
                <a:lnTo>
                  <a:pt x="0" y="0"/>
                </a:lnTo>
                <a:close/>
              </a:path>
            </a:pathLst>
          </a:custGeom>
          <a:blipFill>
            <a:blip r:embed="rId5"/>
            <a:stretch>
              <a:fillRect l="0" t="0" r="0" b="0"/>
            </a:stretch>
          </a:blipFill>
        </p:spPr>
      </p:sp>
      <p:sp>
        <p:nvSpPr>
          <p:cNvPr name="Freeform 5" id="5"/>
          <p:cNvSpPr/>
          <p:nvPr/>
        </p:nvSpPr>
        <p:spPr>
          <a:xfrm flipH="false" flipV="false" rot="0">
            <a:off x="7343908" y="1295848"/>
            <a:ext cx="1255598" cy="2562444"/>
          </a:xfrm>
          <a:custGeom>
            <a:avLst/>
            <a:gdLst/>
            <a:ahLst/>
            <a:cxnLst/>
            <a:rect r="r" b="b" t="t" l="l"/>
            <a:pathLst>
              <a:path h="2562444" w="1255598">
                <a:moveTo>
                  <a:pt x="0" y="0"/>
                </a:moveTo>
                <a:lnTo>
                  <a:pt x="1255597" y="0"/>
                </a:lnTo>
                <a:lnTo>
                  <a:pt x="1255597" y="2562444"/>
                </a:lnTo>
                <a:lnTo>
                  <a:pt x="0" y="2562444"/>
                </a:lnTo>
                <a:lnTo>
                  <a:pt x="0" y="0"/>
                </a:lnTo>
                <a:close/>
              </a:path>
            </a:pathLst>
          </a:custGeom>
          <a:blipFill>
            <a:blip r:embed="rId6"/>
            <a:stretch>
              <a:fillRect l="0" t="0" r="0" b="0"/>
            </a:stretch>
          </a:blipFill>
        </p:spPr>
      </p:sp>
      <p:sp>
        <p:nvSpPr>
          <p:cNvPr name="Freeform 6" id="6"/>
          <p:cNvSpPr/>
          <p:nvPr/>
        </p:nvSpPr>
        <p:spPr>
          <a:xfrm flipH="false" flipV="false" rot="0">
            <a:off x="15336857" y="5834643"/>
            <a:ext cx="2951143" cy="3078115"/>
          </a:xfrm>
          <a:custGeom>
            <a:avLst/>
            <a:gdLst/>
            <a:ahLst/>
            <a:cxnLst/>
            <a:rect r="r" b="b" t="t" l="l"/>
            <a:pathLst>
              <a:path h="3078115" w="2951143">
                <a:moveTo>
                  <a:pt x="0" y="0"/>
                </a:moveTo>
                <a:lnTo>
                  <a:pt x="2951143" y="0"/>
                </a:lnTo>
                <a:lnTo>
                  <a:pt x="2951143" y="3078115"/>
                </a:lnTo>
                <a:lnTo>
                  <a:pt x="0" y="3078115"/>
                </a:lnTo>
                <a:lnTo>
                  <a:pt x="0" y="0"/>
                </a:lnTo>
                <a:close/>
              </a:path>
            </a:pathLst>
          </a:custGeom>
          <a:blipFill>
            <a:blip r:embed="rId7"/>
            <a:stretch>
              <a:fillRect l="0" t="0" r="0" b="0"/>
            </a:stretch>
          </a:blipFill>
        </p:spPr>
      </p:sp>
      <p:sp>
        <p:nvSpPr>
          <p:cNvPr name="Freeform 7" id="7"/>
          <p:cNvSpPr/>
          <p:nvPr/>
        </p:nvSpPr>
        <p:spPr>
          <a:xfrm flipH="false" flipV="false" rot="0">
            <a:off x="514018" y="7783275"/>
            <a:ext cx="8351316" cy="2370375"/>
          </a:xfrm>
          <a:custGeom>
            <a:avLst/>
            <a:gdLst/>
            <a:ahLst/>
            <a:cxnLst/>
            <a:rect r="r" b="b" t="t" l="l"/>
            <a:pathLst>
              <a:path h="2370375" w="8351316">
                <a:moveTo>
                  <a:pt x="0" y="0"/>
                </a:moveTo>
                <a:lnTo>
                  <a:pt x="8351316" y="0"/>
                </a:lnTo>
                <a:lnTo>
                  <a:pt x="8351316" y="2370375"/>
                </a:lnTo>
                <a:lnTo>
                  <a:pt x="0" y="2370375"/>
                </a:lnTo>
                <a:lnTo>
                  <a:pt x="0" y="0"/>
                </a:lnTo>
                <a:close/>
              </a:path>
            </a:pathLst>
          </a:custGeom>
          <a:blipFill>
            <a:blip r:embed="rId4"/>
            <a:stretch>
              <a:fillRect l="-20" t="0" r="-93128" b="0"/>
            </a:stretch>
          </a:blipFill>
        </p:spPr>
      </p:sp>
      <p:sp>
        <p:nvSpPr>
          <p:cNvPr name="Freeform 8" id="8"/>
          <p:cNvSpPr/>
          <p:nvPr/>
        </p:nvSpPr>
        <p:spPr>
          <a:xfrm flipH="false" flipV="false" rot="0">
            <a:off x="8177229" y="8072163"/>
            <a:ext cx="1376209" cy="2285567"/>
          </a:xfrm>
          <a:custGeom>
            <a:avLst/>
            <a:gdLst/>
            <a:ahLst/>
            <a:cxnLst/>
            <a:rect r="r" b="b" t="t" l="l"/>
            <a:pathLst>
              <a:path h="2285567" w="1376209">
                <a:moveTo>
                  <a:pt x="0" y="0"/>
                </a:moveTo>
                <a:lnTo>
                  <a:pt x="1376210" y="0"/>
                </a:lnTo>
                <a:lnTo>
                  <a:pt x="1376210" y="2285567"/>
                </a:lnTo>
                <a:lnTo>
                  <a:pt x="0" y="2285567"/>
                </a:lnTo>
                <a:lnTo>
                  <a:pt x="0" y="0"/>
                </a:lnTo>
                <a:close/>
              </a:path>
            </a:pathLst>
          </a:custGeom>
          <a:blipFill>
            <a:blip r:embed="rId4"/>
            <a:stretch>
              <a:fillRect l="-1030159" t="0" r="0" b="0"/>
            </a:stretch>
          </a:blipFill>
        </p:spPr>
      </p:sp>
      <p:sp>
        <p:nvSpPr>
          <p:cNvPr name="Freeform 9" id="9"/>
          <p:cNvSpPr/>
          <p:nvPr/>
        </p:nvSpPr>
        <p:spPr>
          <a:xfrm flipH="false" flipV="false" rot="0">
            <a:off x="9750027" y="7783275"/>
            <a:ext cx="7952357" cy="2297732"/>
          </a:xfrm>
          <a:custGeom>
            <a:avLst/>
            <a:gdLst/>
            <a:ahLst/>
            <a:cxnLst/>
            <a:rect r="r" b="b" t="t" l="l"/>
            <a:pathLst>
              <a:path h="2297732" w="7952357">
                <a:moveTo>
                  <a:pt x="0" y="0"/>
                </a:moveTo>
                <a:lnTo>
                  <a:pt x="7952357" y="0"/>
                </a:lnTo>
                <a:lnTo>
                  <a:pt x="7952357" y="2297732"/>
                </a:lnTo>
                <a:lnTo>
                  <a:pt x="0" y="2297732"/>
                </a:lnTo>
                <a:lnTo>
                  <a:pt x="0" y="0"/>
                </a:lnTo>
                <a:close/>
              </a:path>
            </a:pathLst>
          </a:custGeom>
          <a:blipFill>
            <a:blip r:embed="rId8"/>
            <a:stretch>
              <a:fillRect l="0" t="0" r="-38413" b="0"/>
            </a:stretch>
          </a:blipFill>
        </p:spPr>
      </p:sp>
      <p:sp>
        <p:nvSpPr>
          <p:cNvPr name="Freeform 10" id="10"/>
          <p:cNvSpPr/>
          <p:nvPr/>
        </p:nvSpPr>
        <p:spPr>
          <a:xfrm flipH="false" flipV="false" rot="0">
            <a:off x="16534359" y="1853010"/>
            <a:ext cx="1449882" cy="2407920"/>
          </a:xfrm>
          <a:custGeom>
            <a:avLst/>
            <a:gdLst/>
            <a:ahLst/>
            <a:cxnLst/>
            <a:rect r="r" b="b" t="t" l="l"/>
            <a:pathLst>
              <a:path h="2407920" w="1449882">
                <a:moveTo>
                  <a:pt x="0" y="0"/>
                </a:moveTo>
                <a:lnTo>
                  <a:pt x="1449882" y="0"/>
                </a:lnTo>
                <a:lnTo>
                  <a:pt x="1449882" y="2407920"/>
                </a:lnTo>
                <a:lnTo>
                  <a:pt x="0" y="2407920"/>
                </a:lnTo>
                <a:lnTo>
                  <a:pt x="0" y="0"/>
                </a:lnTo>
                <a:close/>
              </a:path>
            </a:pathLst>
          </a:custGeom>
          <a:blipFill>
            <a:blip r:embed="rId4"/>
            <a:stretch>
              <a:fillRect l="-1030159" t="0" r="0" b="0"/>
            </a:stretch>
          </a:blipFill>
        </p:spPr>
      </p:sp>
      <p:sp>
        <p:nvSpPr>
          <p:cNvPr name="TextBox 11" id="11"/>
          <p:cNvSpPr txBox="true"/>
          <p:nvPr/>
        </p:nvSpPr>
        <p:spPr>
          <a:xfrm rot="0">
            <a:off x="514018" y="331192"/>
            <a:ext cx="10430019" cy="491974"/>
          </a:xfrm>
          <a:prstGeom prst="rect">
            <a:avLst/>
          </a:prstGeom>
        </p:spPr>
        <p:txBody>
          <a:bodyPr anchor="t" rtlCol="false" tIns="0" lIns="0" bIns="0" rIns="0">
            <a:spAutoFit/>
          </a:bodyPr>
          <a:lstStyle/>
          <a:p>
            <a:pPr algn="l" marL="0" indent="0" lvl="0">
              <a:lnSpc>
                <a:spcPts val="3759"/>
              </a:lnSpc>
            </a:pPr>
            <a:r>
              <a:rPr lang="en-US" b="true" sz="3759">
                <a:solidFill>
                  <a:srgbClr val="E5E3E6"/>
                </a:solidFill>
                <a:latin typeface="Garet Bold"/>
                <a:ea typeface="Garet Bold"/>
                <a:cs typeface="Garet Bold"/>
                <a:sym typeface="Garet Bold"/>
              </a:rPr>
              <a:t>Öncül-Ardıl Gecikme (Lead-Lag) İlişkileri</a:t>
            </a:r>
          </a:p>
        </p:txBody>
      </p:sp>
      <p:sp>
        <p:nvSpPr>
          <p:cNvPr name="TextBox 12" id="12"/>
          <p:cNvSpPr txBox="true"/>
          <p:nvPr/>
        </p:nvSpPr>
        <p:spPr>
          <a:xfrm rot="0">
            <a:off x="542054" y="1178647"/>
            <a:ext cx="6688455" cy="455288"/>
          </a:xfrm>
          <a:prstGeom prst="rect">
            <a:avLst/>
          </a:prstGeom>
        </p:spPr>
        <p:txBody>
          <a:bodyPr anchor="t" rtlCol="false" tIns="0" lIns="0" bIns="0" rIns="0">
            <a:spAutoFit/>
          </a:bodyPr>
          <a:lstStyle/>
          <a:p>
            <a:pPr algn="ctr">
              <a:lnSpc>
                <a:spcPts val="3780"/>
              </a:lnSpc>
              <a:spcBef>
                <a:spcPct val="0"/>
              </a:spcBef>
            </a:pPr>
            <a:r>
              <a:rPr lang="en-US" b="true" sz="2700">
                <a:solidFill>
                  <a:srgbClr val="777A4A"/>
                </a:solidFill>
                <a:latin typeface="Garet Bold"/>
                <a:ea typeface="Garet Bold"/>
                <a:cs typeface="Garet Bold"/>
                <a:sym typeface="Garet Bold"/>
              </a:rPr>
              <a:t>🔗 4 TEMEL İLIŞKI TÜRÜ (AON ŞEBEKE)</a:t>
            </a:r>
          </a:p>
        </p:txBody>
      </p:sp>
      <p:sp>
        <p:nvSpPr>
          <p:cNvPr name="TextBox 13" id="13"/>
          <p:cNvSpPr txBox="true"/>
          <p:nvPr/>
        </p:nvSpPr>
        <p:spPr>
          <a:xfrm rot="0">
            <a:off x="1094557" y="1805385"/>
            <a:ext cx="6342709" cy="1108710"/>
          </a:xfrm>
          <a:prstGeom prst="rect">
            <a:avLst/>
          </a:prstGeom>
        </p:spPr>
        <p:txBody>
          <a:bodyPr anchor="t" rtlCol="false" tIns="0" lIns="0" bIns="0" rIns="0">
            <a:spAutoFit/>
          </a:bodyPr>
          <a:lstStyle/>
          <a:p>
            <a:pPr algn="l">
              <a:lnSpc>
                <a:spcPts val="2940"/>
              </a:lnSpc>
              <a:spcBef>
                <a:spcPct val="0"/>
              </a:spcBef>
            </a:pPr>
            <a:r>
              <a:rPr lang="en-US" b="true" sz="2100">
                <a:solidFill>
                  <a:srgbClr val="C1FF72"/>
                </a:solidFill>
                <a:latin typeface="Garet Bold"/>
                <a:ea typeface="Garet Bold"/>
                <a:cs typeface="Garet Bold"/>
                <a:sym typeface="Garet Bold"/>
              </a:rPr>
              <a:t>FS </a:t>
            </a:r>
            <a:r>
              <a:rPr lang="en-US" b="true" sz="2100">
                <a:solidFill>
                  <a:srgbClr val="FFFFFF"/>
                </a:solidFill>
                <a:latin typeface="Garet Bold"/>
                <a:ea typeface="Garet Bold"/>
                <a:cs typeface="Garet Bold"/>
                <a:sym typeface="Garet Bold"/>
              </a:rPr>
              <a:t>     FINISH-TO-START: </a:t>
            </a:r>
          </a:p>
          <a:p>
            <a:pPr algn="l">
              <a:lnSpc>
                <a:spcPts val="2940"/>
              </a:lnSpc>
              <a:spcBef>
                <a:spcPct val="0"/>
              </a:spcBef>
            </a:pPr>
            <a:r>
              <a:rPr lang="en-US" sz="2100">
                <a:solidFill>
                  <a:srgbClr val="FFFFFF"/>
                </a:solidFill>
                <a:latin typeface="Garet"/>
                <a:ea typeface="Garet"/>
                <a:cs typeface="Garet"/>
                <a:sym typeface="Garet"/>
              </a:rPr>
              <a:t>A bitmeden B başlayamaz. Standart (geleneksel) ilişki türüdür.</a:t>
            </a:r>
          </a:p>
        </p:txBody>
      </p:sp>
      <p:sp>
        <p:nvSpPr>
          <p:cNvPr name="TextBox 14" id="14"/>
          <p:cNvSpPr txBox="true"/>
          <p:nvPr/>
        </p:nvSpPr>
        <p:spPr>
          <a:xfrm rot="0">
            <a:off x="1094557" y="3266520"/>
            <a:ext cx="5264454" cy="1108710"/>
          </a:xfrm>
          <a:prstGeom prst="rect">
            <a:avLst/>
          </a:prstGeom>
        </p:spPr>
        <p:txBody>
          <a:bodyPr anchor="t" rtlCol="false" tIns="0" lIns="0" bIns="0" rIns="0">
            <a:spAutoFit/>
          </a:bodyPr>
          <a:lstStyle/>
          <a:p>
            <a:pPr algn="l">
              <a:lnSpc>
                <a:spcPts val="2940"/>
              </a:lnSpc>
              <a:spcBef>
                <a:spcPct val="0"/>
              </a:spcBef>
            </a:pPr>
            <a:r>
              <a:rPr lang="en-US" b="true" sz="2100">
                <a:solidFill>
                  <a:srgbClr val="00BF63"/>
                </a:solidFill>
                <a:latin typeface="Garet Bold"/>
                <a:ea typeface="Garet Bold"/>
                <a:cs typeface="Garet Bold"/>
                <a:sym typeface="Garet Bold"/>
              </a:rPr>
              <a:t>SS</a:t>
            </a:r>
            <a:r>
              <a:rPr lang="en-US" b="true" sz="2100">
                <a:solidFill>
                  <a:srgbClr val="FFFFFF"/>
                </a:solidFill>
                <a:latin typeface="Garet Bold"/>
                <a:ea typeface="Garet Bold"/>
                <a:cs typeface="Garet Bold"/>
                <a:sym typeface="Garet Bold"/>
              </a:rPr>
              <a:t> </a:t>
            </a:r>
            <a:r>
              <a:rPr lang="en-US" b="true" sz="2100">
                <a:solidFill>
                  <a:srgbClr val="FFFFFF"/>
                </a:solidFill>
                <a:latin typeface="Garet Bold"/>
                <a:ea typeface="Garet Bold"/>
                <a:cs typeface="Garet Bold"/>
                <a:sym typeface="Garet Bold"/>
              </a:rPr>
              <a:t>     START-TO-START: </a:t>
            </a:r>
          </a:p>
          <a:p>
            <a:pPr algn="l">
              <a:lnSpc>
                <a:spcPts val="2940"/>
              </a:lnSpc>
              <a:spcBef>
                <a:spcPct val="0"/>
              </a:spcBef>
            </a:pPr>
            <a:r>
              <a:rPr lang="en-US" sz="2100">
                <a:solidFill>
                  <a:srgbClr val="FFFFFF"/>
                </a:solidFill>
                <a:latin typeface="Garet"/>
                <a:ea typeface="Garet"/>
                <a:cs typeface="Garet"/>
                <a:sym typeface="Garet"/>
              </a:rPr>
              <a:t>A başlamadan B başlayamaz. SS=2 → B, A'dan en erken 2 gün sonra başlar.</a:t>
            </a:r>
          </a:p>
        </p:txBody>
      </p:sp>
      <p:sp>
        <p:nvSpPr>
          <p:cNvPr name="TextBox 15" id="15"/>
          <p:cNvSpPr txBox="true"/>
          <p:nvPr/>
        </p:nvSpPr>
        <p:spPr>
          <a:xfrm rot="0">
            <a:off x="1094557" y="4727655"/>
            <a:ext cx="5264454" cy="1108710"/>
          </a:xfrm>
          <a:prstGeom prst="rect">
            <a:avLst/>
          </a:prstGeom>
        </p:spPr>
        <p:txBody>
          <a:bodyPr anchor="t" rtlCol="false" tIns="0" lIns="0" bIns="0" rIns="0">
            <a:spAutoFit/>
          </a:bodyPr>
          <a:lstStyle/>
          <a:p>
            <a:pPr algn="l">
              <a:lnSpc>
                <a:spcPts val="2940"/>
              </a:lnSpc>
              <a:spcBef>
                <a:spcPct val="0"/>
              </a:spcBef>
            </a:pPr>
            <a:r>
              <a:rPr lang="en-US" b="true" sz="2100">
                <a:solidFill>
                  <a:srgbClr val="FF3131"/>
                </a:solidFill>
                <a:latin typeface="Garet Bold"/>
                <a:ea typeface="Garet Bold"/>
                <a:cs typeface="Garet Bold"/>
                <a:sym typeface="Garet Bold"/>
              </a:rPr>
              <a:t>FF</a:t>
            </a:r>
            <a:r>
              <a:rPr lang="en-US" b="true" sz="2100">
                <a:solidFill>
                  <a:srgbClr val="FFFFFF"/>
                </a:solidFill>
                <a:latin typeface="Garet Bold"/>
                <a:ea typeface="Garet Bold"/>
                <a:cs typeface="Garet Bold"/>
                <a:sym typeface="Garet Bold"/>
              </a:rPr>
              <a:t>      FINISH-TO-FINISH: </a:t>
            </a:r>
          </a:p>
          <a:p>
            <a:pPr algn="l">
              <a:lnSpc>
                <a:spcPts val="2940"/>
              </a:lnSpc>
              <a:spcBef>
                <a:spcPct val="0"/>
              </a:spcBef>
            </a:pPr>
            <a:r>
              <a:rPr lang="en-US" sz="2100">
                <a:solidFill>
                  <a:srgbClr val="FFFFFF"/>
                </a:solidFill>
                <a:latin typeface="Garet"/>
                <a:ea typeface="Garet"/>
                <a:cs typeface="Garet"/>
                <a:sym typeface="Garet"/>
              </a:rPr>
              <a:t>A bitmeden B bitiremez. FF=2 → B, A'dan en erken 2 gün sonra biter.</a:t>
            </a:r>
          </a:p>
        </p:txBody>
      </p:sp>
      <p:sp>
        <p:nvSpPr>
          <p:cNvPr name="TextBox 16" id="16"/>
          <p:cNvSpPr txBox="true"/>
          <p:nvPr/>
        </p:nvSpPr>
        <p:spPr>
          <a:xfrm rot="0">
            <a:off x="1028700" y="6188790"/>
            <a:ext cx="5715163" cy="737235"/>
          </a:xfrm>
          <a:prstGeom prst="rect">
            <a:avLst/>
          </a:prstGeom>
        </p:spPr>
        <p:txBody>
          <a:bodyPr anchor="t" rtlCol="false" tIns="0" lIns="0" bIns="0" rIns="0">
            <a:spAutoFit/>
          </a:bodyPr>
          <a:lstStyle/>
          <a:p>
            <a:pPr algn="l">
              <a:lnSpc>
                <a:spcPts val="2940"/>
              </a:lnSpc>
              <a:spcBef>
                <a:spcPct val="0"/>
              </a:spcBef>
            </a:pPr>
            <a:r>
              <a:rPr lang="en-US" b="true" sz="2100">
                <a:solidFill>
                  <a:srgbClr val="501419"/>
                </a:solidFill>
                <a:latin typeface="Garet Bold"/>
                <a:ea typeface="Garet Bold"/>
                <a:cs typeface="Garet Bold"/>
                <a:sym typeface="Garet Bold"/>
              </a:rPr>
              <a:t>SF      </a:t>
            </a:r>
            <a:r>
              <a:rPr lang="en-US" b="true" sz="2100">
                <a:solidFill>
                  <a:srgbClr val="FBFDFF"/>
                </a:solidFill>
                <a:latin typeface="Garet Bold"/>
                <a:ea typeface="Garet Bold"/>
                <a:cs typeface="Garet Bold"/>
                <a:sym typeface="Garet Bold"/>
              </a:rPr>
              <a:t>START-TO-FINISH: </a:t>
            </a:r>
          </a:p>
          <a:p>
            <a:pPr algn="l">
              <a:lnSpc>
                <a:spcPts val="2940"/>
              </a:lnSpc>
              <a:spcBef>
                <a:spcPct val="0"/>
              </a:spcBef>
            </a:pPr>
            <a:r>
              <a:rPr lang="en-US" sz="2100">
                <a:solidFill>
                  <a:srgbClr val="FBFDFF"/>
                </a:solidFill>
                <a:latin typeface="Garet"/>
                <a:ea typeface="Garet"/>
                <a:cs typeface="Garet"/>
                <a:sym typeface="Garet"/>
              </a:rPr>
              <a:t>A başlamadan B bitemez. Nadir kullanılır.</a:t>
            </a:r>
          </a:p>
        </p:txBody>
      </p:sp>
      <p:sp>
        <p:nvSpPr>
          <p:cNvPr name="TextBox 17" id="17"/>
          <p:cNvSpPr txBox="true"/>
          <p:nvPr/>
        </p:nvSpPr>
        <p:spPr>
          <a:xfrm rot="0">
            <a:off x="514018" y="7087950"/>
            <a:ext cx="8783282" cy="514350"/>
          </a:xfrm>
          <a:prstGeom prst="rect">
            <a:avLst/>
          </a:prstGeom>
        </p:spPr>
        <p:txBody>
          <a:bodyPr anchor="t" rtlCol="false" tIns="0" lIns="0" bIns="0" rIns="0">
            <a:spAutoFit/>
          </a:bodyPr>
          <a:lstStyle/>
          <a:p>
            <a:pPr algn="l">
              <a:lnSpc>
                <a:spcPts val="4200"/>
              </a:lnSpc>
              <a:spcBef>
                <a:spcPct val="0"/>
              </a:spcBef>
            </a:pPr>
            <a:r>
              <a:rPr lang="en-US" b="true" sz="3000">
                <a:solidFill>
                  <a:srgbClr val="FBFDFF"/>
                </a:solidFill>
                <a:latin typeface="Garet Bold"/>
                <a:ea typeface="Garet Bold"/>
                <a:cs typeface="Garet Bold"/>
                <a:sym typeface="Garet Bold"/>
              </a:rPr>
              <a:t>⚡ LEAD-LAG'IN SAĞLADIĞI FAYDALAR</a:t>
            </a:r>
          </a:p>
        </p:txBody>
      </p:sp>
      <p:sp>
        <p:nvSpPr>
          <p:cNvPr name="TextBox 18" id="18"/>
          <p:cNvSpPr txBox="true"/>
          <p:nvPr/>
        </p:nvSpPr>
        <p:spPr>
          <a:xfrm rot="0">
            <a:off x="1094557" y="8043588"/>
            <a:ext cx="7238060" cy="1821174"/>
          </a:xfrm>
          <a:prstGeom prst="rect">
            <a:avLst/>
          </a:prstGeom>
        </p:spPr>
        <p:txBody>
          <a:bodyPr anchor="t" rtlCol="false" tIns="0" lIns="0" bIns="0" rIns="0">
            <a:spAutoFit/>
          </a:bodyPr>
          <a:lstStyle/>
          <a:p>
            <a:pPr algn="l">
              <a:lnSpc>
                <a:spcPts val="1796"/>
              </a:lnSpc>
              <a:spcBef>
                <a:spcPct val="0"/>
              </a:spcBef>
            </a:pPr>
            <a:r>
              <a:rPr lang="en-US" sz="1283">
                <a:solidFill>
                  <a:srgbClr val="FBFDFF"/>
                </a:solidFill>
                <a:latin typeface="Garet"/>
                <a:ea typeface="Garet"/>
                <a:cs typeface="Garet"/>
                <a:sym typeface="Garet"/>
              </a:rPr>
              <a:t>• OVERLAP (ÖRTÜŞTÜRME):  AKTIVITELERI SIKIŞTIRMA VE ÜST ÜSTE BINDIRME IMKÂNI SAĞLAR</a:t>
            </a:r>
          </a:p>
          <a:p>
            <a:pPr algn="l">
              <a:lnSpc>
                <a:spcPts val="1796"/>
              </a:lnSpc>
              <a:spcBef>
                <a:spcPct val="0"/>
              </a:spcBef>
            </a:pPr>
          </a:p>
          <a:p>
            <a:pPr algn="l">
              <a:lnSpc>
                <a:spcPts val="1796"/>
              </a:lnSpc>
              <a:spcBef>
                <a:spcPct val="0"/>
              </a:spcBef>
            </a:pPr>
            <a:r>
              <a:rPr lang="en-US" sz="1283">
                <a:solidFill>
                  <a:srgbClr val="FBFDFF"/>
                </a:solidFill>
                <a:latin typeface="Garet"/>
                <a:ea typeface="Garet"/>
                <a:cs typeface="Garet"/>
                <a:sym typeface="Garet"/>
              </a:rPr>
              <a:t>• BIR ARDIL AKTIVITE, ÖNCÜLÜNÜN BITMESINI BEKLEMEK ZORUNDA KALMAZ</a:t>
            </a:r>
          </a:p>
          <a:p>
            <a:pPr algn="l">
              <a:lnSpc>
                <a:spcPts val="1796"/>
              </a:lnSpc>
              <a:spcBef>
                <a:spcPct val="0"/>
              </a:spcBef>
            </a:pPr>
          </a:p>
          <a:p>
            <a:pPr algn="l">
              <a:lnSpc>
                <a:spcPts val="1796"/>
              </a:lnSpc>
              <a:spcBef>
                <a:spcPct val="0"/>
              </a:spcBef>
            </a:pPr>
            <a:r>
              <a:rPr lang="en-US" sz="1283">
                <a:solidFill>
                  <a:srgbClr val="FBFDFF"/>
                </a:solidFill>
                <a:latin typeface="Garet"/>
                <a:ea typeface="Garet"/>
                <a:cs typeface="Garet"/>
                <a:sym typeface="Garet"/>
              </a:rPr>
              <a:t>• GELENEKSEL CPM'DE 30 GÜN SÜREN PROJE, KISITLAMALARLA 18 GÜNE INDIRILEBILIR</a:t>
            </a:r>
          </a:p>
          <a:p>
            <a:pPr algn="l">
              <a:lnSpc>
                <a:spcPts val="1796"/>
              </a:lnSpc>
              <a:spcBef>
                <a:spcPct val="0"/>
              </a:spcBef>
            </a:pPr>
          </a:p>
          <a:p>
            <a:pPr algn="l">
              <a:lnSpc>
                <a:spcPts val="1796"/>
              </a:lnSpc>
              <a:spcBef>
                <a:spcPct val="0"/>
              </a:spcBef>
            </a:pPr>
            <a:r>
              <a:rPr lang="en-US" sz="1283">
                <a:solidFill>
                  <a:srgbClr val="FBFDFF"/>
                </a:solidFill>
                <a:latin typeface="Garet"/>
                <a:ea typeface="Garet"/>
                <a:cs typeface="Garet"/>
                <a:sym typeface="Garet"/>
              </a:rPr>
              <a:t>• BIREYSEL AKTIVITE ZAMANLARINI MANIPÜLE ETMEDE DAHA FAZLA ESNEKLIK SAĞLAR</a:t>
            </a:r>
          </a:p>
        </p:txBody>
      </p:sp>
      <p:sp>
        <p:nvSpPr>
          <p:cNvPr name="TextBox 19" id="19"/>
          <p:cNvSpPr txBox="true"/>
          <p:nvPr/>
        </p:nvSpPr>
        <p:spPr>
          <a:xfrm rot="0">
            <a:off x="9962217" y="9055633"/>
            <a:ext cx="8060402" cy="617219"/>
          </a:xfrm>
          <a:prstGeom prst="rect">
            <a:avLst/>
          </a:prstGeom>
        </p:spPr>
        <p:txBody>
          <a:bodyPr anchor="t" rtlCol="false" tIns="0" lIns="0" bIns="0" rIns="0">
            <a:spAutoFit/>
          </a:bodyPr>
          <a:lstStyle/>
          <a:p>
            <a:pPr algn="l">
              <a:lnSpc>
                <a:spcPts val="1680"/>
              </a:lnSpc>
              <a:spcBef>
                <a:spcPct val="0"/>
              </a:spcBef>
            </a:pPr>
            <a:r>
              <a:rPr lang="en-US" b="true" sz="1200">
                <a:solidFill>
                  <a:srgbClr val="00BF63"/>
                </a:solidFill>
                <a:latin typeface="Garet Bold"/>
                <a:ea typeface="Garet Bold"/>
                <a:cs typeface="Garet Bold"/>
                <a:sym typeface="Garet Bold"/>
              </a:rPr>
              <a:t>💡 Deadline Projesi Avantajı: </a:t>
            </a:r>
          </a:p>
          <a:p>
            <a:pPr algn="l">
              <a:lnSpc>
                <a:spcPts val="1680"/>
              </a:lnSpc>
              <a:spcBef>
                <a:spcPct val="0"/>
              </a:spcBef>
            </a:pPr>
            <a:r>
              <a:rPr lang="en-US" sz="1200">
                <a:solidFill>
                  <a:srgbClr val="FBFDFF"/>
                </a:solidFill>
                <a:latin typeface="Garet"/>
                <a:ea typeface="Garet"/>
                <a:cs typeface="Garet"/>
                <a:sym typeface="Garet"/>
              </a:rPr>
              <a:t>Backend (C) ve UI/UX (D) arasında SS=3 kısıtı kullanarak, tasarımcıların backend API şeması hazır olur olmaz çalışmaya başlaması sağlanır → 4 günlük overlap kazancı!</a:t>
            </a:r>
          </a:p>
        </p:txBody>
      </p:sp>
      <p:sp>
        <p:nvSpPr>
          <p:cNvPr name="TextBox 20" id="20"/>
          <p:cNvSpPr txBox="true"/>
          <p:nvPr/>
        </p:nvSpPr>
        <p:spPr>
          <a:xfrm rot="0">
            <a:off x="8177229" y="1178647"/>
            <a:ext cx="942266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FBFDFF"/>
                </a:solidFill>
                <a:latin typeface="Garet Bold"/>
                <a:ea typeface="Garet Bold"/>
                <a:cs typeface="Garet Bold"/>
                <a:sym typeface="Garet Bold"/>
              </a:rPr>
              <a:t>📐 SS/FF KISITLAMALI İLERI/GERI GEÇIŞ HESAPLAMA ÖRNEĞI</a:t>
            </a:r>
          </a:p>
        </p:txBody>
      </p:sp>
      <p:sp>
        <p:nvSpPr>
          <p:cNvPr name="TextBox 21" id="21"/>
          <p:cNvSpPr txBox="true"/>
          <p:nvPr/>
        </p:nvSpPr>
        <p:spPr>
          <a:xfrm rot="0">
            <a:off x="8996307" y="1784541"/>
            <a:ext cx="2099429" cy="257175"/>
          </a:xfrm>
          <a:prstGeom prst="rect">
            <a:avLst/>
          </a:prstGeom>
        </p:spPr>
        <p:txBody>
          <a:bodyPr anchor="t" rtlCol="false" tIns="0" lIns="0" bIns="0" rIns="0">
            <a:spAutoFit/>
          </a:bodyPr>
          <a:lstStyle/>
          <a:p>
            <a:pPr algn="l">
              <a:lnSpc>
                <a:spcPts val="2100"/>
              </a:lnSpc>
              <a:spcBef>
                <a:spcPct val="0"/>
              </a:spcBef>
            </a:pPr>
            <a:r>
              <a:rPr lang="en-US" b="true" sz="1500">
                <a:solidFill>
                  <a:srgbClr val="FBFDFF"/>
                </a:solidFill>
                <a:latin typeface="Garet Bold"/>
                <a:ea typeface="Garet Bold"/>
                <a:cs typeface="Garet Bold"/>
                <a:sym typeface="Garet Bold"/>
              </a:rPr>
              <a:t>1. İleri Geçiş  Kuralları</a:t>
            </a:r>
          </a:p>
        </p:txBody>
      </p:sp>
      <p:sp>
        <p:nvSpPr>
          <p:cNvPr name="TextBox 22" id="22"/>
          <p:cNvSpPr txBox="true"/>
          <p:nvPr/>
        </p:nvSpPr>
        <p:spPr>
          <a:xfrm rot="0">
            <a:off x="9144000" y="2099436"/>
            <a:ext cx="2975038" cy="1484717"/>
          </a:xfrm>
          <a:prstGeom prst="rect">
            <a:avLst/>
          </a:prstGeom>
        </p:spPr>
        <p:txBody>
          <a:bodyPr anchor="t" rtlCol="false" tIns="0" lIns="0" bIns="0" rIns="0">
            <a:spAutoFit/>
          </a:bodyPr>
          <a:lstStyle/>
          <a:p>
            <a:pPr algn="l">
              <a:lnSpc>
                <a:spcPts val="1683"/>
              </a:lnSpc>
              <a:spcBef>
                <a:spcPct val="0"/>
              </a:spcBef>
            </a:pPr>
            <a:r>
              <a:rPr lang="en-US" sz="1202">
                <a:solidFill>
                  <a:srgbClr val="FBFDFF"/>
                </a:solidFill>
                <a:latin typeface="Garet"/>
                <a:ea typeface="Garet"/>
                <a:cs typeface="Garet"/>
                <a:sym typeface="Garet"/>
              </a:rPr>
              <a:t>SS Kısıtı ile ES (Erken Başlama) Hesabı:</a:t>
            </a:r>
          </a:p>
          <a:p>
            <a:pPr algn="l">
              <a:lnSpc>
                <a:spcPts val="1683"/>
              </a:lnSpc>
              <a:spcBef>
                <a:spcPct val="0"/>
              </a:spcBef>
            </a:pPr>
            <a:r>
              <a:rPr lang="en-US" sz="1202">
                <a:solidFill>
                  <a:srgbClr val="FBFDFF"/>
                </a:solidFill>
                <a:latin typeface="Garet"/>
                <a:ea typeface="Garet"/>
                <a:cs typeface="Garet"/>
                <a:sym typeface="Garet"/>
              </a:rPr>
              <a:t>ES(B) &gt;= ES(A) + SS_lag</a:t>
            </a:r>
          </a:p>
          <a:p>
            <a:pPr algn="l">
              <a:lnSpc>
                <a:spcPts val="1683"/>
              </a:lnSpc>
              <a:spcBef>
                <a:spcPct val="0"/>
              </a:spcBef>
            </a:pPr>
          </a:p>
          <a:p>
            <a:pPr algn="l">
              <a:lnSpc>
                <a:spcPts val="1683"/>
              </a:lnSpc>
              <a:spcBef>
                <a:spcPct val="0"/>
              </a:spcBef>
            </a:pPr>
            <a:r>
              <a:rPr lang="en-US" sz="1202">
                <a:solidFill>
                  <a:srgbClr val="FBFDFF"/>
                </a:solidFill>
                <a:latin typeface="Garet"/>
                <a:ea typeface="Garet"/>
                <a:cs typeface="Garet"/>
                <a:sym typeface="Garet"/>
              </a:rPr>
              <a:t>FF Kısıtı ile EF (Erken Bitiş) Hesabı:</a:t>
            </a:r>
          </a:p>
          <a:p>
            <a:pPr algn="l">
              <a:lnSpc>
                <a:spcPts val="1683"/>
              </a:lnSpc>
              <a:spcBef>
                <a:spcPct val="0"/>
              </a:spcBef>
            </a:pPr>
            <a:r>
              <a:rPr lang="en-US" sz="1202">
                <a:solidFill>
                  <a:srgbClr val="FBFDFF"/>
                </a:solidFill>
                <a:latin typeface="Garet"/>
                <a:ea typeface="Garet"/>
                <a:cs typeface="Garet"/>
                <a:sym typeface="Garet"/>
              </a:rPr>
              <a:t>EF(B) &gt;= EF(A) + FF_lag</a:t>
            </a:r>
          </a:p>
          <a:p>
            <a:pPr algn="l">
              <a:lnSpc>
                <a:spcPts val="1683"/>
              </a:lnSpc>
              <a:spcBef>
                <a:spcPct val="0"/>
              </a:spcBef>
            </a:pPr>
          </a:p>
          <a:p>
            <a:pPr algn="l">
              <a:lnSpc>
                <a:spcPts val="1683"/>
              </a:lnSpc>
              <a:spcBef>
                <a:spcPct val="0"/>
              </a:spcBef>
            </a:pPr>
            <a:r>
              <a:rPr lang="en-US" sz="1202">
                <a:solidFill>
                  <a:srgbClr val="FBFDFF"/>
                </a:solidFill>
                <a:latin typeface="Garet"/>
                <a:ea typeface="Garet"/>
                <a:cs typeface="Garet"/>
                <a:sym typeface="Garet"/>
              </a:rPr>
              <a:t>Sonuç: En büyük (max) değer alınır!</a:t>
            </a:r>
          </a:p>
        </p:txBody>
      </p:sp>
      <p:sp>
        <p:nvSpPr>
          <p:cNvPr name="TextBox 23" id="23"/>
          <p:cNvSpPr txBox="true"/>
          <p:nvPr/>
        </p:nvSpPr>
        <p:spPr>
          <a:xfrm rot="0">
            <a:off x="13260947" y="2109573"/>
            <a:ext cx="3273413" cy="1455419"/>
          </a:xfrm>
          <a:prstGeom prst="rect">
            <a:avLst/>
          </a:prstGeom>
        </p:spPr>
        <p:txBody>
          <a:bodyPr anchor="t" rtlCol="false" tIns="0" lIns="0" bIns="0" rIns="0">
            <a:spAutoFit/>
          </a:bodyPr>
          <a:lstStyle/>
          <a:p>
            <a:pPr algn="l">
              <a:lnSpc>
                <a:spcPts val="1680"/>
              </a:lnSpc>
              <a:spcBef>
                <a:spcPct val="0"/>
              </a:spcBef>
            </a:pPr>
            <a:r>
              <a:rPr lang="en-US" sz="1200">
                <a:solidFill>
                  <a:srgbClr val="FBFDFF"/>
                </a:solidFill>
                <a:latin typeface="Garet"/>
                <a:ea typeface="Garet"/>
                <a:cs typeface="Garet"/>
                <a:sym typeface="Garet"/>
              </a:rPr>
              <a:t>SS Kısıtı ile LS (Geç Başlama) Hesabı:</a:t>
            </a:r>
          </a:p>
          <a:p>
            <a:pPr algn="l">
              <a:lnSpc>
                <a:spcPts val="1680"/>
              </a:lnSpc>
              <a:spcBef>
                <a:spcPct val="0"/>
              </a:spcBef>
            </a:pPr>
            <a:r>
              <a:rPr lang="en-US" sz="1200">
                <a:solidFill>
                  <a:srgbClr val="FBFDFF"/>
                </a:solidFill>
                <a:latin typeface="Garet"/>
                <a:ea typeface="Garet"/>
                <a:cs typeface="Garet"/>
                <a:sym typeface="Garet"/>
              </a:rPr>
              <a:t>LS</a:t>
            </a:r>
            <a:r>
              <a:rPr lang="en-US" sz="1200">
                <a:solidFill>
                  <a:srgbClr val="FBFDFF"/>
                </a:solidFill>
                <a:latin typeface="Garet"/>
                <a:ea typeface="Garet"/>
                <a:cs typeface="Garet"/>
                <a:sym typeface="Garet"/>
              </a:rPr>
              <a:t>(</a:t>
            </a:r>
            <a:r>
              <a:rPr lang="en-US" sz="1200">
                <a:solidFill>
                  <a:srgbClr val="FBFDFF"/>
                </a:solidFill>
                <a:latin typeface="Garet"/>
                <a:ea typeface="Garet"/>
                <a:cs typeface="Garet"/>
                <a:sym typeface="Garet"/>
              </a:rPr>
              <a:t>A) &lt;= LS(B) - SS_lag</a:t>
            </a:r>
          </a:p>
          <a:p>
            <a:pPr algn="l">
              <a:lnSpc>
                <a:spcPts val="1680"/>
              </a:lnSpc>
              <a:spcBef>
                <a:spcPct val="0"/>
              </a:spcBef>
            </a:pPr>
          </a:p>
          <a:p>
            <a:pPr algn="l">
              <a:lnSpc>
                <a:spcPts val="1680"/>
              </a:lnSpc>
              <a:spcBef>
                <a:spcPct val="0"/>
              </a:spcBef>
            </a:pPr>
            <a:r>
              <a:rPr lang="en-US" sz="1200">
                <a:solidFill>
                  <a:srgbClr val="FBFDFF"/>
                </a:solidFill>
                <a:latin typeface="Garet"/>
                <a:ea typeface="Garet"/>
                <a:cs typeface="Garet"/>
                <a:sym typeface="Garet"/>
              </a:rPr>
              <a:t>FF Kısıtı ile LF (Geç Bitiş) Hesabı:</a:t>
            </a:r>
          </a:p>
          <a:p>
            <a:pPr algn="l">
              <a:lnSpc>
                <a:spcPts val="1680"/>
              </a:lnSpc>
              <a:spcBef>
                <a:spcPct val="0"/>
              </a:spcBef>
            </a:pPr>
            <a:r>
              <a:rPr lang="en-US" sz="1200">
                <a:solidFill>
                  <a:srgbClr val="FBFDFF"/>
                </a:solidFill>
                <a:latin typeface="Garet"/>
                <a:ea typeface="Garet"/>
                <a:cs typeface="Garet"/>
                <a:sym typeface="Garet"/>
              </a:rPr>
              <a:t>LF(A) &lt;= LF(B) - FF_lag</a:t>
            </a:r>
          </a:p>
          <a:p>
            <a:pPr algn="l">
              <a:lnSpc>
                <a:spcPts val="1680"/>
              </a:lnSpc>
              <a:spcBef>
                <a:spcPct val="0"/>
              </a:spcBef>
            </a:pPr>
          </a:p>
          <a:p>
            <a:pPr algn="l">
              <a:lnSpc>
                <a:spcPts val="1680"/>
              </a:lnSpc>
              <a:spcBef>
                <a:spcPct val="0"/>
              </a:spcBef>
            </a:pPr>
            <a:r>
              <a:rPr lang="en-US" sz="1200">
                <a:solidFill>
                  <a:srgbClr val="FBFDFF"/>
                </a:solidFill>
                <a:latin typeface="Garet"/>
                <a:ea typeface="Garet"/>
                <a:cs typeface="Garet"/>
                <a:sym typeface="Garet"/>
              </a:rPr>
              <a:t>Sonuç: En küçük (min) değer alınır!</a:t>
            </a:r>
          </a:p>
        </p:txBody>
      </p:sp>
      <p:sp>
        <p:nvSpPr>
          <p:cNvPr name="TextBox 24" id="24"/>
          <p:cNvSpPr txBox="true"/>
          <p:nvPr/>
        </p:nvSpPr>
        <p:spPr>
          <a:xfrm rot="0">
            <a:off x="10520830" y="4316855"/>
            <a:ext cx="6943175" cy="2966085"/>
          </a:xfrm>
          <a:prstGeom prst="rect">
            <a:avLst/>
          </a:prstGeom>
        </p:spPr>
        <p:txBody>
          <a:bodyPr anchor="t" rtlCol="false" tIns="0" lIns="0" bIns="0" rIns="0">
            <a:spAutoFit/>
          </a:bodyPr>
          <a:lstStyle/>
          <a:p>
            <a:pPr algn="l">
              <a:lnSpc>
                <a:spcPts val="2940"/>
              </a:lnSpc>
              <a:spcBef>
                <a:spcPct val="0"/>
              </a:spcBef>
            </a:pPr>
            <a:r>
              <a:rPr lang="en-US" b="true" sz="2100">
                <a:solidFill>
                  <a:srgbClr val="00BF63"/>
                </a:solidFill>
                <a:latin typeface="Garet Bold"/>
                <a:ea typeface="Garet Bold"/>
                <a:cs typeface="Garet Bold"/>
                <a:sym typeface="Garet Bold"/>
              </a:rPr>
              <a:t>Örnek:</a:t>
            </a:r>
          </a:p>
          <a:p>
            <a:pPr algn="l">
              <a:lnSpc>
                <a:spcPts val="2940"/>
              </a:lnSpc>
              <a:spcBef>
                <a:spcPct val="0"/>
              </a:spcBef>
            </a:pPr>
            <a:r>
              <a:rPr lang="en-US" sz="2100">
                <a:solidFill>
                  <a:srgbClr val="FBFDFF"/>
                </a:solidFill>
                <a:latin typeface="Garet"/>
                <a:ea typeface="Garet"/>
                <a:cs typeface="Garet"/>
                <a:sym typeface="Garet"/>
              </a:rPr>
              <a:t>Backend(C) = 14 gün, UI/UX(D) = 10 gün</a:t>
            </a:r>
          </a:p>
          <a:p>
            <a:pPr algn="l">
              <a:lnSpc>
                <a:spcPts val="2940"/>
              </a:lnSpc>
              <a:spcBef>
                <a:spcPct val="0"/>
              </a:spcBef>
            </a:pPr>
            <a:r>
              <a:rPr lang="en-US" sz="2100">
                <a:solidFill>
                  <a:srgbClr val="FBFDFF"/>
                </a:solidFill>
                <a:latin typeface="Garet"/>
                <a:ea typeface="Garet"/>
                <a:cs typeface="Garet"/>
                <a:sym typeface="Garet"/>
              </a:rPr>
              <a:t> C-D arası: SS=3, FF=1</a:t>
            </a:r>
          </a:p>
          <a:p>
            <a:pPr algn="l">
              <a:lnSpc>
                <a:spcPts val="2940"/>
              </a:lnSpc>
              <a:spcBef>
                <a:spcPct val="0"/>
              </a:spcBef>
            </a:pPr>
            <a:r>
              <a:rPr lang="en-US" sz="2100">
                <a:solidFill>
                  <a:srgbClr val="FBFDFF"/>
                </a:solidFill>
                <a:latin typeface="Garet"/>
                <a:ea typeface="Garet"/>
                <a:cs typeface="Garet"/>
                <a:sym typeface="Garet"/>
              </a:rPr>
              <a:t> </a:t>
            </a:r>
          </a:p>
          <a:p>
            <a:pPr algn="l">
              <a:lnSpc>
                <a:spcPts val="2940"/>
              </a:lnSpc>
              <a:spcBef>
                <a:spcPct val="0"/>
              </a:spcBef>
            </a:pPr>
            <a:r>
              <a:rPr lang="en-US" sz="2100">
                <a:solidFill>
                  <a:srgbClr val="FBFDFF"/>
                </a:solidFill>
                <a:latin typeface="Garet"/>
                <a:ea typeface="Garet"/>
                <a:cs typeface="Garet"/>
                <a:sym typeface="Garet"/>
              </a:rPr>
              <a:t> D: ES = max(?, ES_C + 3) = 15</a:t>
            </a:r>
          </a:p>
          <a:p>
            <a:pPr algn="l">
              <a:lnSpc>
                <a:spcPts val="2940"/>
              </a:lnSpc>
              <a:spcBef>
                <a:spcPct val="0"/>
              </a:spcBef>
            </a:pPr>
            <a:r>
              <a:rPr lang="en-US" sz="2100">
                <a:solidFill>
                  <a:srgbClr val="FBFDFF"/>
                </a:solidFill>
                <a:latin typeface="Garet"/>
                <a:ea typeface="Garet"/>
                <a:cs typeface="Garet"/>
                <a:sym typeface="Garet"/>
              </a:rPr>
              <a:t> Normal şartlarda EF = 15 + 10 = 25</a:t>
            </a:r>
          </a:p>
          <a:p>
            <a:pPr algn="l">
              <a:lnSpc>
                <a:spcPts val="2940"/>
              </a:lnSpc>
              <a:spcBef>
                <a:spcPct val="0"/>
              </a:spcBef>
            </a:pPr>
            <a:r>
              <a:rPr lang="en-US" sz="2100">
                <a:solidFill>
                  <a:srgbClr val="FBFDFF"/>
                </a:solidFill>
                <a:latin typeface="Garet"/>
                <a:ea typeface="Garet"/>
                <a:cs typeface="Garet"/>
                <a:sym typeface="Garet"/>
              </a:rPr>
              <a:t> FF kısıtı → EF &gt;= EF_C + 1 = (12+14)+1 = 27</a:t>
            </a:r>
          </a:p>
          <a:p>
            <a:pPr algn="l">
              <a:lnSpc>
                <a:spcPts val="2940"/>
              </a:lnSpc>
              <a:spcBef>
                <a:spcPct val="0"/>
              </a:spcBef>
            </a:pPr>
            <a:r>
              <a:rPr lang="en-US" sz="2100">
                <a:solidFill>
                  <a:srgbClr val="FBFDFF"/>
                </a:solidFill>
                <a:latin typeface="Garet"/>
                <a:ea typeface="Garet"/>
                <a:cs typeface="Garet"/>
                <a:sym typeface="Garet"/>
              </a:rPr>
              <a:t> EF = 27 (En erken bitiş)</a:t>
            </a:r>
          </a:p>
        </p:txBody>
      </p:sp>
      <p:sp>
        <p:nvSpPr>
          <p:cNvPr name="TextBox 25" id="25"/>
          <p:cNvSpPr txBox="true"/>
          <p:nvPr/>
        </p:nvSpPr>
        <p:spPr>
          <a:xfrm rot="0">
            <a:off x="9962217" y="7985450"/>
            <a:ext cx="8292878" cy="826769"/>
          </a:xfrm>
          <a:prstGeom prst="rect">
            <a:avLst/>
          </a:prstGeom>
        </p:spPr>
        <p:txBody>
          <a:bodyPr anchor="t" rtlCol="false" tIns="0" lIns="0" bIns="0" rIns="0">
            <a:spAutoFit/>
          </a:bodyPr>
          <a:lstStyle/>
          <a:p>
            <a:pPr algn="l">
              <a:lnSpc>
                <a:spcPts val="1680"/>
              </a:lnSpc>
              <a:spcBef>
                <a:spcPct val="0"/>
              </a:spcBef>
            </a:pPr>
            <a:r>
              <a:rPr lang="en-US" b="true" sz="1200">
                <a:solidFill>
                  <a:srgbClr val="00BF63"/>
                </a:solidFill>
                <a:latin typeface="Garet Bold"/>
                <a:ea typeface="Garet Bold"/>
                <a:cs typeface="Garet Bold"/>
                <a:sym typeface="Garet Bold"/>
              </a:rPr>
              <a:t>💡 Metodoloji Notu:</a:t>
            </a:r>
          </a:p>
          <a:p>
            <a:pPr algn="l">
              <a:lnSpc>
                <a:spcPts val="1680"/>
              </a:lnSpc>
              <a:spcBef>
                <a:spcPct val="0"/>
              </a:spcBef>
            </a:pPr>
            <a:r>
              <a:rPr lang="en-US" sz="1200">
                <a:solidFill>
                  <a:srgbClr val="FBFDFF"/>
                </a:solidFill>
                <a:latin typeface="Garet"/>
                <a:ea typeface="Garet"/>
                <a:cs typeface="Garet"/>
                <a:sym typeface="Garet"/>
              </a:rPr>
              <a:t> Gecikmeli kısıtlar (Lead/Lag), faaliyetlerin birbirinin tamamlanmasını beklemeden paralel şekilde yürütülmesini sağlar. Bu kısıtlar, Fast-Tracking sıkıştırma stratejilerinde ve şebeke çevrim sürelerinin optimize edilmesinde kritik rol oynar.</a:t>
            </a:r>
          </a:p>
        </p:txBody>
      </p:sp>
      <p:sp>
        <p:nvSpPr>
          <p:cNvPr name="Freeform 26" id="26"/>
          <p:cNvSpPr/>
          <p:nvPr/>
        </p:nvSpPr>
        <p:spPr>
          <a:xfrm flipH="false" flipV="false" rot="0">
            <a:off x="8813810" y="4059680"/>
            <a:ext cx="1148407" cy="3621743"/>
          </a:xfrm>
          <a:custGeom>
            <a:avLst/>
            <a:gdLst/>
            <a:ahLst/>
            <a:cxnLst/>
            <a:rect r="r" b="b" t="t" l="l"/>
            <a:pathLst>
              <a:path h="3621743" w="1148407">
                <a:moveTo>
                  <a:pt x="0" y="0"/>
                </a:moveTo>
                <a:lnTo>
                  <a:pt x="1148407" y="0"/>
                </a:lnTo>
                <a:lnTo>
                  <a:pt x="1148407" y="3621743"/>
                </a:lnTo>
                <a:lnTo>
                  <a:pt x="0" y="3621743"/>
                </a:lnTo>
                <a:lnTo>
                  <a:pt x="0" y="0"/>
                </a:lnTo>
                <a:close/>
              </a:path>
            </a:pathLst>
          </a:custGeom>
          <a:blipFill>
            <a:blip r:embed="rId4"/>
            <a:stretch>
              <a:fillRect l="-231" t="0" r="-2045878" b="0"/>
            </a:stretch>
          </a:blipFill>
        </p:spPr>
      </p:sp>
      <p:sp>
        <p:nvSpPr>
          <p:cNvPr name="Freeform 27" id="27"/>
          <p:cNvSpPr/>
          <p:nvPr/>
        </p:nvSpPr>
        <p:spPr>
          <a:xfrm flipH="false" flipV="false" rot="0">
            <a:off x="10763053" y="4059680"/>
            <a:ext cx="4085193" cy="3621743"/>
          </a:xfrm>
          <a:custGeom>
            <a:avLst/>
            <a:gdLst/>
            <a:ahLst/>
            <a:cxnLst/>
            <a:rect r="r" b="b" t="t" l="l"/>
            <a:pathLst>
              <a:path h="3621743" w="4085193">
                <a:moveTo>
                  <a:pt x="0" y="0"/>
                </a:moveTo>
                <a:lnTo>
                  <a:pt x="4085193" y="0"/>
                </a:lnTo>
                <a:lnTo>
                  <a:pt x="4085193" y="3621743"/>
                </a:lnTo>
                <a:lnTo>
                  <a:pt x="0" y="3621743"/>
                </a:lnTo>
                <a:lnTo>
                  <a:pt x="0" y="0"/>
                </a:lnTo>
                <a:close/>
              </a:path>
            </a:pathLst>
          </a:custGeom>
          <a:blipFill>
            <a:blip r:embed="rId4"/>
            <a:stretch>
              <a:fillRect l="-26081" t="0" r="-477221" b="0"/>
            </a:stretch>
          </a:blipFill>
        </p:spPr>
      </p:sp>
      <p:sp>
        <p:nvSpPr>
          <p:cNvPr name="Freeform 28" id="28"/>
          <p:cNvSpPr/>
          <p:nvPr/>
        </p:nvSpPr>
        <p:spPr>
          <a:xfrm flipH="false" flipV="false" rot="0">
            <a:off x="14848246" y="4059680"/>
            <a:ext cx="1268843" cy="3621743"/>
          </a:xfrm>
          <a:custGeom>
            <a:avLst/>
            <a:gdLst/>
            <a:ahLst/>
            <a:cxnLst/>
            <a:rect r="r" b="b" t="t" l="l"/>
            <a:pathLst>
              <a:path h="3621743" w="1268843">
                <a:moveTo>
                  <a:pt x="0" y="0"/>
                </a:moveTo>
                <a:lnTo>
                  <a:pt x="1268843" y="0"/>
                </a:lnTo>
                <a:lnTo>
                  <a:pt x="1268843" y="3621743"/>
                </a:lnTo>
                <a:lnTo>
                  <a:pt x="0" y="3621743"/>
                </a:lnTo>
                <a:lnTo>
                  <a:pt x="0" y="0"/>
                </a:lnTo>
                <a:close/>
              </a:path>
            </a:pathLst>
          </a:custGeom>
          <a:blipFill>
            <a:blip r:embed="rId4"/>
            <a:stretch>
              <a:fillRect l="-1838433" t="0" r="-3971" b="0"/>
            </a:stretch>
          </a:blipFill>
        </p:spPr>
      </p:sp>
      <p:sp>
        <p:nvSpPr>
          <p:cNvPr name="TextBox 29" id="29"/>
          <p:cNvSpPr txBox="true"/>
          <p:nvPr/>
        </p:nvSpPr>
        <p:spPr>
          <a:xfrm rot="0">
            <a:off x="13167419" y="1784541"/>
            <a:ext cx="2169438" cy="257175"/>
          </a:xfrm>
          <a:prstGeom prst="rect">
            <a:avLst/>
          </a:prstGeom>
        </p:spPr>
        <p:txBody>
          <a:bodyPr anchor="t" rtlCol="false" tIns="0" lIns="0" bIns="0" rIns="0">
            <a:spAutoFit/>
          </a:bodyPr>
          <a:lstStyle/>
          <a:p>
            <a:pPr algn="l">
              <a:lnSpc>
                <a:spcPts val="2100"/>
              </a:lnSpc>
              <a:spcBef>
                <a:spcPct val="0"/>
              </a:spcBef>
            </a:pPr>
            <a:r>
              <a:rPr lang="en-US" b="true" sz="1500">
                <a:solidFill>
                  <a:srgbClr val="FBFDFF"/>
                </a:solidFill>
                <a:latin typeface="Garet Bold"/>
                <a:ea typeface="Garet Bold"/>
                <a:cs typeface="Garet Bold"/>
                <a:sym typeface="Garet Bold"/>
              </a:rPr>
              <a:t>2</a:t>
            </a:r>
            <a:r>
              <a:rPr lang="en-US" b="true" sz="1500">
                <a:solidFill>
                  <a:srgbClr val="FBFDFF"/>
                </a:solidFill>
                <a:latin typeface="Garet Bold"/>
                <a:ea typeface="Garet Bold"/>
                <a:cs typeface="Garet Bold"/>
                <a:sym typeface="Garet Bold"/>
              </a:rPr>
              <a:t>. Geri Geçiş  Kuralları</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919462"/>
        </a:solidFill>
      </p:bgPr>
    </p:bg>
    <p:spTree>
      <p:nvGrpSpPr>
        <p:cNvPr id="1" name=""/>
        <p:cNvGrpSpPr/>
        <p:nvPr/>
      </p:nvGrpSpPr>
      <p:grpSpPr>
        <a:xfrm>
          <a:off x="0" y="0"/>
          <a:ext cx="0" cy="0"/>
          <a:chOff x="0" y="0"/>
          <a:chExt cx="0" cy="0"/>
        </a:xfrm>
      </p:grpSpPr>
      <p:sp>
        <p:nvSpPr>
          <p:cNvPr name="Freeform 2" id="2"/>
          <p:cNvSpPr/>
          <p:nvPr/>
        </p:nvSpPr>
        <p:spPr>
          <a:xfrm flipH="false" flipV="false" rot="0">
            <a:off x="493541" y="0"/>
            <a:ext cx="1646444" cy="793540"/>
          </a:xfrm>
          <a:custGeom>
            <a:avLst/>
            <a:gdLst/>
            <a:ahLst/>
            <a:cxnLst/>
            <a:rect r="r" b="b" t="t" l="l"/>
            <a:pathLst>
              <a:path h="793540" w="1646444">
                <a:moveTo>
                  <a:pt x="0" y="0"/>
                </a:moveTo>
                <a:lnTo>
                  <a:pt x="1646444" y="0"/>
                </a:lnTo>
                <a:lnTo>
                  <a:pt x="1646444" y="793540"/>
                </a:lnTo>
                <a:lnTo>
                  <a:pt x="0" y="793540"/>
                </a:lnTo>
                <a:lnTo>
                  <a:pt x="0" y="0"/>
                </a:lnTo>
                <a:close/>
              </a:path>
            </a:pathLst>
          </a:custGeom>
          <a:blipFill>
            <a:blip r:embed="rId2">
              <a:extLst>
                <a:ext uri="{96DAC541-7B7A-43D3-8B79-37D633B846F1}">
                  <asvg:svgBlip xmlns:asvg="http://schemas.microsoft.com/office/drawing/2016/SVG/main" r:embed="rId3"/>
                </a:ext>
              </a:extLst>
            </a:blip>
            <a:stretch>
              <a:fillRect l="0" t="0" r="0" b="-107480"/>
            </a:stretch>
          </a:blipFill>
        </p:spPr>
      </p:sp>
      <p:sp>
        <p:nvSpPr>
          <p:cNvPr name="Freeform 3" id="3"/>
          <p:cNvSpPr/>
          <p:nvPr/>
        </p:nvSpPr>
        <p:spPr>
          <a:xfrm flipH="false" flipV="false" rot="0">
            <a:off x="1933943" y="0"/>
            <a:ext cx="1646444" cy="793540"/>
          </a:xfrm>
          <a:custGeom>
            <a:avLst/>
            <a:gdLst/>
            <a:ahLst/>
            <a:cxnLst/>
            <a:rect r="r" b="b" t="t" l="l"/>
            <a:pathLst>
              <a:path h="793540" w="1646444">
                <a:moveTo>
                  <a:pt x="0" y="0"/>
                </a:moveTo>
                <a:lnTo>
                  <a:pt x="1646443" y="0"/>
                </a:lnTo>
                <a:lnTo>
                  <a:pt x="1646443" y="793540"/>
                </a:lnTo>
                <a:lnTo>
                  <a:pt x="0" y="793540"/>
                </a:lnTo>
                <a:lnTo>
                  <a:pt x="0" y="0"/>
                </a:lnTo>
                <a:close/>
              </a:path>
            </a:pathLst>
          </a:custGeom>
          <a:blipFill>
            <a:blip r:embed="rId4">
              <a:extLst>
                <a:ext uri="{96DAC541-7B7A-43D3-8B79-37D633B846F1}">
                  <asvg:svgBlip xmlns:asvg="http://schemas.microsoft.com/office/drawing/2016/SVG/main" r:embed="rId5"/>
                </a:ext>
              </a:extLst>
            </a:blip>
            <a:stretch>
              <a:fillRect l="0" t="0" r="0" b="-107480"/>
            </a:stretch>
          </a:blipFill>
        </p:spPr>
      </p:sp>
      <p:grpSp>
        <p:nvGrpSpPr>
          <p:cNvPr name="Group 4" id="4"/>
          <p:cNvGrpSpPr>
            <a:grpSpLocks noChangeAspect="true"/>
          </p:cNvGrpSpPr>
          <p:nvPr/>
        </p:nvGrpSpPr>
        <p:grpSpPr>
          <a:xfrm rot="0">
            <a:off x="7170264" y="2927929"/>
            <a:ext cx="4099911" cy="5872116"/>
            <a:chOff x="0" y="0"/>
            <a:chExt cx="4433570" cy="6350000"/>
          </a:xfrm>
        </p:grpSpPr>
        <p:sp>
          <p:nvSpPr>
            <p:cNvPr name="Freeform 5" id="5"/>
            <p:cNvSpPr/>
            <p:nvPr/>
          </p:nvSpPr>
          <p:spPr>
            <a:xfrm flipH="false" flipV="false" rot="5400000">
              <a:off x="-958215" y="958215"/>
              <a:ext cx="6350000" cy="4433570"/>
            </a:xfrm>
            <a:custGeom>
              <a:avLst/>
              <a:gdLst/>
              <a:ahLst/>
              <a:cxnLst/>
              <a:rect r="r" b="b" t="t" l="l"/>
              <a:pathLst>
                <a:path h="4433570" w="6350000">
                  <a:moveTo>
                    <a:pt x="0" y="2216150"/>
                  </a:moveTo>
                  <a:lnTo>
                    <a:pt x="0" y="2216150"/>
                  </a:lnTo>
                  <a:cubicBezTo>
                    <a:pt x="0" y="991870"/>
                    <a:pt x="993140" y="0"/>
                    <a:pt x="2217420" y="0"/>
                  </a:cubicBezTo>
                  <a:lnTo>
                    <a:pt x="6350000" y="0"/>
                  </a:lnTo>
                  <a:lnTo>
                    <a:pt x="6350000" y="0"/>
                  </a:lnTo>
                  <a:lnTo>
                    <a:pt x="6350000" y="4433570"/>
                  </a:lnTo>
                  <a:lnTo>
                    <a:pt x="6350000" y="4433570"/>
                  </a:lnTo>
                  <a:lnTo>
                    <a:pt x="2217420" y="4433570"/>
                  </a:lnTo>
                  <a:cubicBezTo>
                    <a:pt x="993140" y="4433570"/>
                    <a:pt x="0" y="3440430"/>
                    <a:pt x="0" y="2216150"/>
                  </a:cubicBezTo>
                  <a:close/>
                </a:path>
              </a:pathLst>
            </a:custGeom>
            <a:blipFill>
              <a:blip r:embed="rId6">
                <a:alphaModFix amt="27000"/>
              </a:blip>
              <a:stretch>
                <a:fillRect l="-2397" t="0" r="-2397" b="0"/>
              </a:stretch>
            </a:blipFill>
          </p:spPr>
        </p:sp>
      </p:grpSp>
      <p:sp>
        <p:nvSpPr>
          <p:cNvPr name="Freeform 6" id="6"/>
          <p:cNvSpPr/>
          <p:nvPr/>
        </p:nvSpPr>
        <p:spPr>
          <a:xfrm flipH="false" flipV="false" rot="0">
            <a:off x="8414276" y="1279205"/>
            <a:ext cx="2046178" cy="2057400"/>
          </a:xfrm>
          <a:custGeom>
            <a:avLst/>
            <a:gdLst/>
            <a:ahLst/>
            <a:cxnLst/>
            <a:rect r="r" b="b" t="t" l="l"/>
            <a:pathLst>
              <a:path h="2057400" w="2046178">
                <a:moveTo>
                  <a:pt x="0" y="0"/>
                </a:moveTo>
                <a:lnTo>
                  <a:pt x="2046178" y="0"/>
                </a:lnTo>
                <a:lnTo>
                  <a:pt x="2046178" y="2057400"/>
                </a:lnTo>
                <a:lnTo>
                  <a:pt x="0" y="20574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086100" y="229506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9130" y="781050"/>
            <a:ext cx="7530477" cy="5098619"/>
          </a:xfrm>
          <a:custGeom>
            <a:avLst/>
            <a:gdLst/>
            <a:ahLst/>
            <a:cxnLst/>
            <a:rect r="r" b="b" t="t" l="l"/>
            <a:pathLst>
              <a:path h="5098619" w="7530477">
                <a:moveTo>
                  <a:pt x="0" y="0"/>
                </a:moveTo>
                <a:lnTo>
                  <a:pt x="7530477" y="0"/>
                </a:lnTo>
                <a:lnTo>
                  <a:pt x="7530477" y="5098619"/>
                </a:lnTo>
                <a:lnTo>
                  <a:pt x="0" y="5098619"/>
                </a:lnTo>
                <a:lnTo>
                  <a:pt x="0" y="0"/>
                </a:lnTo>
                <a:close/>
              </a:path>
            </a:pathLst>
          </a:custGeom>
          <a:blipFill>
            <a:blip r:embed="rId11"/>
            <a:stretch>
              <a:fillRect l="0" t="0" r="-32110" b="0"/>
            </a:stretch>
          </a:blipFill>
        </p:spPr>
      </p:sp>
      <p:sp>
        <p:nvSpPr>
          <p:cNvPr name="TextBox 9" id="9"/>
          <p:cNvSpPr txBox="true"/>
          <p:nvPr/>
        </p:nvSpPr>
        <p:spPr>
          <a:xfrm rot="0">
            <a:off x="493541" y="1347865"/>
            <a:ext cx="7262132" cy="455660"/>
          </a:xfrm>
          <a:prstGeom prst="rect">
            <a:avLst/>
          </a:prstGeom>
        </p:spPr>
        <p:txBody>
          <a:bodyPr anchor="t" rtlCol="false" tIns="0" lIns="0" bIns="0" rIns="0">
            <a:spAutoFit/>
          </a:bodyPr>
          <a:lstStyle/>
          <a:p>
            <a:pPr algn="l">
              <a:lnSpc>
                <a:spcPts val="3759"/>
              </a:lnSpc>
            </a:pPr>
            <a:r>
              <a:rPr lang="en-US" sz="2685">
                <a:solidFill>
                  <a:srgbClr val="272731"/>
                </a:solidFill>
                <a:latin typeface="Garet"/>
                <a:ea typeface="Garet"/>
                <a:cs typeface="Garet"/>
                <a:sym typeface="Garet"/>
              </a:rPr>
              <a:t> Aktivite Bölümleme Nedir?</a:t>
            </a:r>
          </a:p>
        </p:txBody>
      </p:sp>
      <p:sp>
        <p:nvSpPr>
          <p:cNvPr name="TextBox 10" id="10"/>
          <p:cNvSpPr txBox="true"/>
          <p:nvPr/>
        </p:nvSpPr>
        <p:spPr>
          <a:xfrm rot="0">
            <a:off x="493541" y="1967412"/>
            <a:ext cx="7726838" cy="10572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Gecikme kısıtlamalarını (SS, FF) geleneksel AON'a dönüştürmek için aktiviteler parçalara ayrılır</a:t>
            </a:r>
          </a:p>
          <a:p>
            <a:pPr algn="l">
              <a:lnSpc>
                <a:spcPts val="2100"/>
              </a:lnSpc>
              <a:spcBef>
                <a:spcPct val="0"/>
              </a:spcBef>
            </a:pPr>
            <a:r>
              <a:rPr lang="en-US" sz="1500">
                <a:solidFill>
                  <a:srgbClr val="FBFDFF"/>
                </a:solidFill>
                <a:latin typeface="Garet"/>
                <a:ea typeface="Garet"/>
                <a:cs typeface="Garet"/>
                <a:sym typeface="Garet"/>
              </a:rPr>
              <a:t>• Bölümlemeden sonra geleneksel ileri/geri geçiş yapılabilir</a:t>
            </a:r>
          </a:p>
          <a:p>
            <a:pPr algn="l">
              <a:lnSpc>
                <a:spcPts val="2100"/>
              </a:lnSpc>
              <a:spcBef>
                <a:spcPct val="0"/>
              </a:spcBef>
            </a:pPr>
            <a:r>
              <a:rPr lang="en-US" sz="1500">
                <a:solidFill>
                  <a:srgbClr val="FBFDFF"/>
                </a:solidFill>
                <a:latin typeface="Garet"/>
                <a:ea typeface="Garet"/>
                <a:cs typeface="Garet"/>
                <a:sym typeface="Garet"/>
              </a:rPr>
              <a:t>• Aktiviteleri üst üste bindirerek (overlap) proje süresini kısaltır</a:t>
            </a:r>
          </a:p>
        </p:txBody>
      </p:sp>
      <p:sp>
        <p:nvSpPr>
          <p:cNvPr name="Freeform 11" id="11"/>
          <p:cNvSpPr/>
          <p:nvPr/>
        </p:nvSpPr>
        <p:spPr>
          <a:xfrm flipH="false" flipV="false" rot="0">
            <a:off x="7619607" y="806030"/>
            <a:ext cx="921901" cy="5086129"/>
          </a:xfrm>
          <a:custGeom>
            <a:avLst/>
            <a:gdLst/>
            <a:ahLst/>
            <a:cxnLst/>
            <a:rect r="r" b="b" t="t" l="l"/>
            <a:pathLst>
              <a:path h="5086129" w="921901">
                <a:moveTo>
                  <a:pt x="0" y="0"/>
                </a:moveTo>
                <a:lnTo>
                  <a:pt x="921901" y="0"/>
                </a:lnTo>
                <a:lnTo>
                  <a:pt x="921901" y="5086129"/>
                </a:lnTo>
                <a:lnTo>
                  <a:pt x="0" y="5086129"/>
                </a:lnTo>
                <a:lnTo>
                  <a:pt x="0" y="0"/>
                </a:lnTo>
                <a:close/>
              </a:path>
            </a:pathLst>
          </a:custGeom>
          <a:blipFill>
            <a:blip r:embed="rId11"/>
            <a:stretch>
              <a:fillRect l="-979253" t="-302" r="-493" b="0"/>
            </a:stretch>
          </a:blipFill>
        </p:spPr>
      </p:sp>
      <p:sp>
        <p:nvSpPr>
          <p:cNvPr name="Freeform 12" id="12"/>
          <p:cNvSpPr/>
          <p:nvPr/>
        </p:nvSpPr>
        <p:spPr>
          <a:xfrm flipH="false" flipV="false" rot="0">
            <a:off x="9437365" y="793540"/>
            <a:ext cx="7360984" cy="5098619"/>
          </a:xfrm>
          <a:custGeom>
            <a:avLst/>
            <a:gdLst/>
            <a:ahLst/>
            <a:cxnLst/>
            <a:rect r="r" b="b" t="t" l="l"/>
            <a:pathLst>
              <a:path h="5098619" w="7360984">
                <a:moveTo>
                  <a:pt x="0" y="0"/>
                </a:moveTo>
                <a:lnTo>
                  <a:pt x="7360985" y="0"/>
                </a:lnTo>
                <a:lnTo>
                  <a:pt x="7360985" y="5098619"/>
                </a:lnTo>
                <a:lnTo>
                  <a:pt x="0" y="5098619"/>
                </a:lnTo>
                <a:lnTo>
                  <a:pt x="0" y="0"/>
                </a:lnTo>
                <a:close/>
              </a:path>
            </a:pathLst>
          </a:custGeom>
          <a:blipFill>
            <a:blip r:embed="rId11"/>
            <a:stretch>
              <a:fillRect l="0" t="0" r="-35152" b="0"/>
            </a:stretch>
          </a:blipFill>
        </p:spPr>
      </p:sp>
      <p:sp>
        <p:nvSpPr>
          <p:cNvPr name="Freeform 13" id="13"/>
          <p:cNvSpPr/>
          <p:nvPr/>
        </p:nvSpPr>
        <p:spPr>
          <a:xfrm flipH="false" flipV="false" rot="0">
            <a:off x="16798350" y="806030"/>
            <a:ext cx="921901" cy="5086129"/>
          </a:xfrm>
          <a:custGeom>
            <a:avLst/>
            <a:gdLst/>
            <a:ahLst/>
            <a:cxnLst/>
            <a:rect r="r" b="b" t="t" l="l"/>
            <a:pathLst>
              <a:path h="5086129" w="921901">
                <a:moveTo>
                  <a:pt x="0" y="0"/>
                </a:moveTo>
                <a:lnTo>
                  <a:pt x="921900" y="0"/>
                </a:lnTo>
                <a:lnTo>
                  <a:pt x="921900" y="5086129"/>
                </a:lnTo>
                <a:lnTo>
                  <a:pt x="0" y="5086129"/>
                </a:lnTo>
                <a:lnTo>
                  <a:pt x="0" y="0"/>
                </a:lnTo>
                <a:close/>
              </a:path>
            </a:pathLst>
          </a:custGeom>
          <a:blipFill>
            <a:blip r:embed="rId11"/>
            <a:stretch>
              <a:fillRect l="-979253" t="-302" r="-493" b="0"/>
            </a:stretch>
          </a:blipFill>
        </p:spPr>
      </p:sp>
      <p:sp>
        <p:nvSpPr>
          <p:cNvPr name="Freeform 14" id="14"/>
          <p:cNvSpPr/>
          <p:nvPr/>
        </p:nvSpPr>
        <p:spPr>
          <a:xfrm flipH="false" flipV="false" rot="0">
            <a:off x="10384739" y="3503087"/>
            <a:ext cx="3636391" cy="1819531"/>
          </a:xfrm>
          <a:custGeom>
            <a:avLst/>
            <a:gdLst/>
            <a:ahLst/>
            <a:cxnLst/>
            <a:rect r="r" b="b" t="t" l="l"/>
            <a:pathLst>
              <a:path h="1819531" w="3636391">
                <a:moveTo>
                  <a:pt x="0" y="0"/>
                </a:moveTo>
                <a:lnTo>
                  <a:pt x="3636391" y="0"/>
                </a:lnTo>
                <a:lnTo>
                  <a:pt x="3636391" y="1819532"/>
                </a:lnTo>
                <a:lnTo>
                  <a:pt x="0" y="1819532"/>
                </a:lnTo>
                <a:lnTo>
                  <a:pt x="0" y="0"/>
                </a:lnTo>
                <a:close/>
              </a:path>
            </a:pathLst>
          </a:custGeom>
          <a:blipFill>
            <a:blip r:embed="rId12"/>
            <a:stretch>
              <a:fillRect l="0" t="0" r="-139864" b="0"/>
            </a:stretch>
          </a:blipFill>
        </p:spPr>
      </p:sp>
      <p:sp>
        <p:nvSpPr>
          <p:cNvPr name="TextBox 15" id="15"/>
          <p:cNvSpPr txBox="true"/>
          <p:nvPr/>
        </p:nvSpPr>
        <p:spPr>
          <a:xfrm rot="0">
            <a:off x="10727829" y="3723561"/>
            <a:ext cx="5701958" cy="1359535"/>
          </a:xfrm>
          <a:prstGeom prst="rect">
            <a:avLst/>
          </a:prstGeom>
        </p:spPr>
        <p:txBody>
          <a:bodyPr anchor="t" rtlCol="false" tIns="0" lIns="0" bIns="0" rIns="0">
            <a:spAutoFit/>
          </a:bodyPr>
          <a:lstStyle/>
          <a:p>
            <a:pPr algn="l">
              <a:lnSpc>
                <a:spcPts val="2240"/>
              </a:lnSpc>
              <a:spcBef>
                <a:spcPct val="0"/>
              </a:spcBef>
            </a:pPr>
            <a:r>
              <a:rPr lang="en-US" sz="1600">
                <a:solidFill>
                  <a:srgbClr val="272731"/>
                </a:solidFill>
                <a:latin typeface="Garet"/>
                <a:ea typeface="Garet"/>
                <a:cs typeface="Garet"/>
                <a:sym typeface="Garet"/>
              </a:rPr>
              <a:t>📊 Gantt Analizi: Bölünmüş aktivitelerde fiziksel boşluklar oluşabilir. Bu boşluk, ilgili parçanın kritik yol üzerinde olmaması durumunda projeyi geciktirmez. Ancak kritik yol üzerindeki bir parçanın gecikmesi tüm projeyi geciktirir.</a:t>
            </a:r>
          </a:p>
        </p:txBody>
      </p:sp>
      <p:sp>
        <p:nvSpPr>
          <p:cNvPr name="Freeform 16" id="16"/>
          <p:cNvSpPr/>
          <p:nvPr/>
        </p:nvSpPr>
        <p:spPr>
          <a:xfrm flipH="false" flipV="false" rot="0">
            <a:off x="14021130" y="3503087"/>
            <a:ext cx="2893490" cy="1819531"/>
          </a:xfrm>
          <a:custGeom>
            <a:avLst/>
            <a:gdLst/>
            <a:ahLst/>
            <a:cxnLst/>
            <a:rect r="r" b="b" t="t" l="l"/>
            <a:pathLst>
              <a:path h="1819531" w="2893490">
                <a:moveTo>
                  <a:pt x="0" y="0"/>
                </a:moveTo>
                <a:lnTo>
                  <a:pt x="2893490" y="0"/>
                </a:lnTo>
                <a:lnTo>
                  <a:pt x="2893490" y="1819532"/>
                </a:lnTo>
                <a:lnTo>
                  <a:pt x="0" y="1819532"/>
                </a:lnTo>
                <a:lnTo>
                  <a:pt x="0" y="0"/>
                </a:lnTo>
                <a:close/>
              </a:path>
            </a:pathLst>
          </a:custGeom>
          <a:blipFill>
            <a:blip r:embed="rId12"/>
            <a:stretch>
              <a:fillRect l="-200329" t="0" r="-1120" b="0"/>
            </a:stretch>
          </a:blipFill>
        </p:spPr>
      </p:sp>
      <p:sp>
        <p:nvSpPr>
          <p:cNvPr name="Freeform 17" id="17"/>
          <p:cNvSpPr/>
          <p:nvPr/>
        </p:nvSpPr>
        <p:spPr>
          <a:xfrm flipH="false" flipV="false" rot="0">
            <a:off x="89130" y="6162107"/>
            <a:ext cx="17631121" cy="3085446"/>
          </a:xfrm>
          <a:custGeom>
            <a:avLst/>
            <a:gdLst/>
            <a:ahLst/>
            <a:cxnLst/>
            <a:rect r="r" b="b" t="t" l="l"/>
            <a:pathLst>
              <a:path h="3085446" w="17631121">
                <a:moveTo>
                  <a:pt x="0" y="0"/>
                </a:moveTo>
                <a:lnTo>
                  <a:pt x="17631120" y="0"/>
                </a:lnTo>
                <a:lnTo>
                  <a:pt x="17631120" y="3085446"/>
                </a:lnTo>
                <a:lnTo>
                  <a:pt x="0" y="3085446"/>
                </a:lnTo>
                <a:lnTo>
                  <a:pt x="0" y="0"/>
                </a:lnTo>
                <a:close/>
              </a:path>
            </a:pathLst>
          </a:custGeom>
          <a:blipFill>
            <a:blip r:embed="rId13"/>
            <a:stretch>
              <a:fillRect l="0" t="0" r="0" b="0"/>
            </a:stretch>
          </a:blipFill>
        </p:spPr>
      </p:sp>
      <p:sp>
        <p:nvSpPr>
          <p:cNvPr name="TextBox 18" id="18"/>
          <p:cNvSpPr txBox="true"/>
          <p:nvPr/>
        </p:nvSpPr>
        <p:spPr>
          <a:xfrm rot="0">
            <a:off x="285320" y="953408"/>
            <a:ext cx="7138097" cy="365428"/>
          </a:xfrm>
          <a:prstGeom prst="rect">
            <a:avLst/>
          </a:prstGeom>
        </p:spPr>
        <p:txBody>
          <a:bodyPr anchor="t" rtlCol="false" tIns="0" lIns="0" bIns="0" rIns="0">
            <a:spAutoFit/>
          </a:bodyPr>
          <a:lstStyle/>
          <a:p>
            <a:pPr algn="l" marL="0" indent="0" lvl="0">
              <a:lnSpc>
                <a:spcPts val="2778"/>
              </a:lnSpc>
            </a:pPr>
            <a:r>
              <a:rPr lang="en-US" b="true" sz="2778">
                <a:solidFill>
                  <a:srgbClr val="E5E3E6"/>
                </a:solidFill>
                <a:latin typeface="Garet Bold"/>
                <a:ea typeface="Garet Bold"/>
                <a:cs typeface="Garet Bold"/>
                <a:sym typeface="Garet Bold"/>
              </a:rPr>
              <a:t>AktiviteBölümleme ve Sıkıştırma</a:t>
            </a:r>
          </a:p>
        </p:txBody>
      </p:sp>
      <p:sp>
        <p:nvSpPr>
          <p:cNvPr name="TextBox 19" id="19"/>
          <p:cNvSpPr txBox="true"/>
          <p:nvPr/>
        </p:nvSpPr>
        <p:spPr>
          <a:xfrm rot="0">
            <a:off x="2016024" y="3210969"/>
            <a:ext cx="4027676" cy="2375193"/>
          </a:xfrm>
          <a:prstGeom prst="rect">
            <a:avLst/>
          </a:prstGeom>
        </p:spPr>
        <p:txBody>
          <a:bodyPr anchor="t" rtlCol="false" tIns="0" lIns="0" bIns="0" rIns="0">
            <a:spAutoFit/>
          </a:bodyPr>
          <a:lstStyle/>
          <a:p>
            <a:pPr algn="l">
              <a:lnSpc>
                <a:spcPts val="1908"/>
              </a:lnSpc>
              <a:spcBef>
                <a:spcPct val="0"/>
              </a:spcBef>
            </a:pPr>
            <a:r>
              <a:rPr lang="en-US" b="true" sz="1363">
                <a:solidFill>
                  <a:srgbClr val="FBFDFF"/>
                </a:solidFill>
                <a:latin typeface="Garet Bold"/>
                <a:ea typeface="Garet Bold"/>
                <a:cs typeface="Garet Bold"/>
                <a:sym typeface="Garet Bold"/>
              </a:rPr>
              <a:t>Bölümleme Örneği</a:t>
            </a:r>
          </a:p>
          <a:p>
            <a:pPr algn="l">
              <a:lnSpc>
                <a:spcPts val="1908"/>
              </a:lnSpc>
              <a:spcBef>
                <a:spcPct val="0"/>
              </a:spcBef>
            </a:pPr>
            <a:r>
              <a:rPr lang="en-US" sz="1363">
                <a:solidFill>
                  <a:srgbClr val="FBFDFF"/>
                </a:solidFill>
                <a:latin typeface="Garet"/>
                <a:ea typeface="Garet"/>
                <a:cs typeface="Garet"/>
                <a:sym typeface="Garet"/>
              </a:rPr>
              <a:t>A=10, B=10, C=10 gün (seri = 30 gün)</a:t>
            </a:r>
          </a:p>
          <a:p>
            <a:pPr algn="l">
              <a:lnSpc>
                <a:spcPts val="1908"/>
              </a:lnSpc>
              <a:spcBef>
                <a:spcPct val="0"/>
              </a:spcBef>
            </a:pPr>
            <a:r>
              <a:rPr lang="en-US" sz="1363">
                <a:solidFill>
                  <a:srgbClr val="FBFDFF"/>
                </a:solidFill>
                <a:latin typeface="Garet"/>
                <a:ea typeface="Garet"/>
                <a:cs typeface="Garet"/>
                <a:sym typeface="Garet"/>
              </a:rPr>
              <a:t> A-B arası SS=2, FF=2 | B-C arası SS=2, FF=2</a:t>
            </a:r>
          </a:p>
          <a:p>
            <a:pPr algn="l">
              <a:lnSpc>
                <a:spcPts val="1908"/>
              </a:lnSpc>
              <a:spcBef>
                <a:spcPct val="0"/>
              </a:spcBef>
            </a:pPr>
            <a:r>
              <a:rPr lang="en-US" sz="1363">
                <a:solidFill>
                  <a:srgbClr val="FBFDFF"/>
                </a:solidFill>
                <a:latin typeface="Garet"/>
                <a:ea typeface="Garet"/>
                <a:cs typeface="Garet"/>
                <a:sym typeface="Garet"/>
              </a:rPr>
              <a:t> </a:t>
            </a:r>
          </a:p>
          <a:p>
            <a:pPr algn="l">
              <a:lnSpc>
                <a:spcPts val="1908"/>
              </a:lnSpc>
              <a:spcBef>
                <a:spcPct val="0"/>
              </a:spcBef>
            </a:pPr>
            <a:r>
              <a:rPr lang="en-US" sz="1363">
                <a:solidFill>
                  <a:srgbClr val="FBFDFF"/>
                </a:solidFill>
                <a:latin typeface="Garet"/>
                <a:ea typeface="Garet"/>
                <a:cs typeface="Garet"/>
                <a:sym typeface="Garet"/>
              </a:rPr>
              <a:t> Sonuç bölümleme:</a:t>
            </a:r>
          </a:p>
          <a:p>
            <a:pPr algn="l">
              <a:lnSpc>
                <a:spcPts val="1908"/>
              </a:lnSpc>
              <a:spcBef>
                <a:spcPct val="0"/>
              </a:spcBef>
            </a:pPr>
            <a:r>
              <a:rPr lang="en-US" sz="1363">
                <a:solidFill>
                  <a:srgbClr val="FBFDFF"/>
                </a:solidFill>
                <a:latin typeface="Garet"/>
                <a:ea typeface="Garet"/>
                <a:cs typeface="Garet"/>
                <a:sym typeface="Garet"/>
              </a:rPr>
              <a:t> A → A₁(2) + A₂(8)</a:t>
            </a:r>
          </a:p>
          <a:p>
            <a:pPr algn="l">
              <a:lnSpc>
                <a:spcPts val="1908"/>
              </a:lnSpc>
              <a:spcBef>
                <a:spcPct val="0"/>
              </a:spcBef>
            </a:pPr>
            <a:r>
              <a:rPr lang="en-US" sz="1363">
                <a:solidFill>
                  <a:srgbClr val="FBFDFF"/>
                </a:solidFill>
                <a:latin typeface="Garet"/>
                <a:ea typeface="Garet"/>
                <a:cs typeface="Garet"/>
                <a:sym typeface="Garet"/>
              </a:rPr>
              <a:t> B → B₁(2) + B₂(6) + B₃(2)</a:t>
            </a:r>
          </a:p>
          <a:p>
            <a:pPr algn="l">
              <a:lnSpc>
                <a:spcPts val="1908"/>
              </a:lnSpc>
              <a:spcBef>
                <a:spcPct val="0"/>
              </a:spcBef>
            </a:pPr>
            <a:r>
              <a:rPr lang="en-US" sz="1363">
                <a:solidFill>
                  <a:srgbClr val="FBFDFF"/>
                </a:solidFill>
                <a:latin typeface="Garet"/>
                <a:ea typeface="Garet"/>
                <a:cs typeface="Garet"/>
                <a:sym typeface="Garet"/>
              </a:rPr>
              <a:t> C → C₁(8) + C₂(2)</a:t>
            </a:r>
          </a:p>
          <a:p>
            <a:pPr algn="l">
              <a:lnSpc>
                <a:spcPts val="1908"/>
              </a:lnSpc>
              <a:spcBef>
                <a:spcPct val="0"/>
              </a:spcBef>
            </a:pPr>
            <a:r>
              <a:rPr lang="en-US" sz="1363">
                <a:solidFill>
                  <a:srgbClr val="FBFDFF"/>
                </a:solidFill>
                <a:latin typeface="Garet"/>
                <a:ea typeface="Garet"/>
                <a:cs typeface="Garet"/>
                <a:sym typeface="Garet"/>
              </a:rPr>
              <a:t> </a:t>
            </a:r>
          </a:p>
          <a:p>
            <a:pPr algn="l">
              <a:lnSpc>
                <a:spcPts val="1908"/>
              </a:lnSpc>
              <a:spcBef>
                <a:spcPct val="0"/>
              </a:spcBef>
            </a:pPr>
            <a:r>
              <a:rPr lang="en-US" sz="1363">
                <a:solidFill>
                  <a:srgbClr val="FBFDFF"/>
                </a:solidFill>
                <a:latin typeface="Garet"/>
                <a:ea typeface="Garet"/>
                <a:cs typeface="Garet"/>
                <a:sym typeface="Garet"/>
              </a:rPr>
              <a:t> Toplam süre: 30 gün → 14 gün (%53 kazanç!)</a:t>
            </a:r>
          </a:p>
        </p:txBody>
      </p:sp>
      <p:sp>
        <p:nvSpPr>
          <p:cNvPr name="TextBox 20" id="20"/>
          <p:cNvSpPr txBox="true"/>
          <p:nvPr/>
        </p:nvSpPr>
        <p:spPr>
          <a:xfrm rot="0">
            <a:off x="9898316" y="940195"/>
            <a:ext cx="7360984" cy="455295"/>
          </a:xfrm>
          <a:prstGeom prst="rect">
            <a:avLst/>
          </a:prstGeom>
        </p:spPr>
        <p:txBody>
          <a:bodyPr anchor="t" rtlCol="false" tIns="0" lIns="0" bIns="0" rIns="0">
            <a:spAutoFit/>
          </a:bodyPr>
          <a:lstStyle/>
          <a:p>
            <a:pPr algn="l">
              <a:lnSpc>
                <a:spcPts val="3779"/>
              </a:lnSpc>
              <a:spcBef>
                <a:spcPct val="0"/>
              </a:spcBef>
            </a:pPr>
            <a:r>
              <a:rPr lang="en-US" b="true" sz="2699">
                <a:solidFill>
                  <a:srgbClr val="272731"/>
                </a:solidFill>
                <a:latin typeface="Garet Bold"/>
                <a:ea typeface="Garet Bold"/>
                <a:cs typeface="Garet Bold"/>
                <a:sym typeface="Garet Bold"/>
              </a:rPr>
              <a:t>Bölünmeyi Etkileyen Faktörler</a:t>
            </a:r>
          </a:p>
        </p:txBody>
      </p:sp>
      <p:sp>
        <p:nvSpPr>
          <p:cNvPr name="TextBox 21" id="21"/>
          <p:cNvSpPr txBox="true"/>
          <p:nvPr/>
        </p:nvSpPr>
        <p:spPr>
          <a:xfrm rot="0">
            <a:off x="10046672" y="1485435"/>
            <a:ext cx="7300297" cy="1590675"/>
          </a:xfrm>
          <a:prstGeom prst="rect">
            <a:avLst/>
          </a:prstGeom>
        </p:spPr>
        <p:txBody>
          <a:bodyPr anchor="t" rtlCol="false" tIns="0" lIns="0" bIns="0" rIns="0">
            <a:spAutoFit/>
          </a:bodyPr>
          <a:lstStyle/>
          <a:p>
            <a:pPr algn="l">
              <a:lnSpc>
                <a:spcPts val="2100"/>
              </a:lnSpc>
              <a:spcBef>
                <a:spcPct val="0"/>
              </a:spcBef>
            </a:pPr>
            <a:r>
              <a:rPr lang="en-US" sz="1500">
                <a:solidFill>
                  <a:srgbClr val="272731"/>
                </a:solidFill>
                <a:latin typeface="Garet"/>
                <a:ea typeface="Garet"/>
                <a:cs typeface="Garet"/>
                <a:sym typeface="Garet"/>
              </a:rPr>
              <a:t>• Teknik/mantıksal sınırlamalar: Her aktivite bölünebilir olmayabilir</a:t>
            </a:r>
          </a:p>
          <a:p>
            <a:pPr algn="l">
              <a:lnSpc>
                <a:spcPts val="2100"/>
              </a:lnSpc>
              <a:spcBef>
                <a:spcPct val="0"/>
              </a:spcBef>
            </a:pPr>
            <a:r>
              <a:rPr lang="en-US" sz="1500">
                <a:solidFill>
                  <a:srgbClr val="272731"/>
                </a:solidFill>
                <a:latin typeface="Garet"/>
                <a:ea typeface="Garet"/>
                <a:cs typeface="Garet"/>
                <a:sym typeface="Garet"/>
              </a:rPr>
              <a:t>• Hazırlık süreleri: Bölünmüş görevleri yeniden başlatmak için ek süre gerekebilir</a:t>
            </a:r>
          </a:p>
          <a:p>
            <a:pPr algn="l">
              <a:lnSpc>
                <a:spcPts val="2100"/>
              </a:lnSpc>
              <a:spcBef>
                <a:spcPct val="0"/>
              </a:spcBef>
            </a:pPr>
            <a:r>
              <a:rPr lang="en-US" sz="1500">
                <a:solidFill>
                  <a:srgbClr val="272731"/>
                </a:solidFill>
                <a:latin typeface="Garet"/>
                <a:ea typeface="Garet"/>
                <a:cs typeface="Garet"/>
                <a:sym typeface="Garet"/>
              </a:rPr>
              <a:t>• Kaynak yönetimi: Paralel çalışma kaynakları zorlayabilir</a:t>
            </a:r>
          </a:p>
          <a:p>
            <a:pPr algn="l">
              <a:lnSpc>
                <a:spcPts val="2100"/>
              </a:lnSpc>
              <a:spcBef>
                <a:spcPct val="0"/>
              </a:spcBef>
            </a:pPr>
            <a:r>
              <a:rPr lang="en-US" sz="1500">
                <a:solidFill>
                  <a:srgbClr val="272731"/>
                </a:solidFill>
                <a:latin typeface="Garet"/>
                <a:ea typeface="Garet"/>
                <a:cs typeface="Garet"/>
                <a:sym typeface="Garet"/>
              </a:rPr>
              <a:t>• İş tutarlılığı: Bölünme kalite kaybına yol açabilir</a:t>
            </a:r>
          </a:p>
          <a:p>
            <a:pPr algn="l">
              <a:lnSpc>
                <a:spcPts val="2100"/>
              </a:lnSpc>
              <a:spcBef>
                <a:spcPct val="0"/>
              </a:spcBef>
            </a:pPr>
            <a:r>
              <a:rPr lang="en-US" sz="1500">
                <a:solidFill>
                  <a:srgbClr val="272731"/>
                </a:solidFill>
                <a:latin typeface="Garet"/>
                <a:ea typeface="Garet"/>
                <a:cs typeface="Garet"/>
                <a:sym typeface="Garet"/>
              </a:rPr>
              <a:t>• Yönetim politikası: İşlerin bölünmesine ilişkin kurumsal kurallar</a:t>
            </a:r>
          </a:p>
        </p:txBody>
      </p:sp>
      <p:sp>
        <p:nvSpPr>
          <p:cNvPr name="TextBox 22" id="22"/>
          <p:cNvSpPr txBox="true"/>
          <p:nvPr/>
        </p:nvSpPr>
        <p:spPr>
          <a:xfrm rot="0">
            <a:off x="143774" y="5851094"/>
            <a:ext cx="8076605" cy="280670"/>
          </a:xfrm>
          <a:prstGeom prst="rect">
            <a:avLst/>
          </a:prstGeom>
        </p:spPr>
        <p:txBody>
          <a:bodyPr anchor="t" rtlCol="false" tIns="0" lIns="0" bIns="0" rIns="0">
            <a:spAutoFit/>
          </a:bodyPr>
          <a:lstStyle/>
          <a:p>
            <a:pPr algn="l">
              <a:lnSpc>
                <a:spcPts val="2380"/>
              </a:lnSpc>
              <a:spcBef>
                <a:spcPct val="0"/>
              </a:spcBef>
            </a:pPr>
            <a:r>
              <a:rPr lang="en-US" b="true" sz="1700">
                <a:solidFill>
                  <a:srgbClr val="FFFFFF"/>
                </a:solidFill>
                <a:latin typeface="Garet Bold"/>
                <a:ea typeface="Garet Bold"/>
                <a:cs typeface="Garet Bold"/>
                <a:sym typeface="Garet Bold"/>
              </a:rPr>
              <a:t>📊 Deadline Projesi — Erken Başlangıç Gantt Şeması ve Sıkıştırma Analizi</a:t>
            </a:r>
          </a:p>
        </p:txBody>
      </p:sp>
      <p:sp>
        <p:nvSpPr>
          <p:cNvPr name="TextBox 23" id="23"/>
          <p:cNvSpPr txBox="true"/>
          <p:nvPr/>
        </p:nvSpPr>
        <p:spPr>
          <a:xfrm rot="0">
            <a:off x="315530" y="9295178"/>
            <a:ext cx="8904690" cy="790575"/>
          </a:xfrm>
          <a:prstGeom prst="rect">
            <a:avLst/>
          </a:prstGeom>
        </p:spPr>
        <p:txBody>
          <a:bodyPr anchor="t" rtlCol="false" tIns="0" lIns="0" bIns="0" rIns="0">
            <a:spAutoFit/>
          </a:bodyPr>
          <a:lstStyle/>
          <a:p>
            <a:pPr algn="l">
              <a:lnSpc>
                <a:spcPts val="2100"/>
              </a:lnSpc>
              <a:spcBef>
                <a:spcPct val="0"/>
              </a:spcBef>
            </a:pPr>
            <a:r>
              <a:rPr lang="en-US" sz="1500">
                <a:solidFill>
                  <a:srgbClr val="272731"/>
                </a:solidFill>
                <a:latin typeface="Garet"/>
                <a:ea typeface="Garet"/>
                <a:cs typeface="Garet"/>
                <a:sym typeface="Garet"/>
              </a:rPr>
              <a:t>💡 Şema Okuma Notu: Düz renkli çubuklar faaliyet sürelerini, kesikli çizgili boşluklar ise faaliyetlerin ardıllarını veya proje teslimatını geciktirmeden kullanabileceği serbest esneklik sürelerini (Free Slack) temsil eder.</a:t>
            </a:r>
          </a:p>
        </p:txBody>
      </p:sp>
      <p:sp>
        <p:nvSpPr>
          <p:cNvPr name="TextBox 24" id="24"/>
          <p:cNvSpPr txBox="true"/>
          <p:nvPr/>
        </p:nvSpPr>
        <p:spPr>
          <a:xfrm rot="0">
            <a:off x="9745414" y="9295178"/>
            <a:ext cx="8311575" cy="790575"/>
          </a:xfrm>
          <a:prstGeom prst="rect">
            <a:avLst/>
          </a:prstGeom>
        </p:spPr>
        <p:txBody>
          <a:bodyPr anchor="t" rtlCol="false" tIns="0" lIns="0" bIns="0" rIns="0">
            <a:spAutoFit/>
          </a:bodyPr>
          <a:lstStyle/>
          <a:p>
            <a:pPr algn="l">
              <a:lnSpc>
                <a:spcPts val="2100"/>
              </a:lnSpc>
              <a:spcBef>
                <a:spcPct val="0"/>
              </a:spcBef>
            </a:pPr>
            <a:r>
              <a:rPr lang="en-US" sz="1500">
                <a:solidFill>
                  <a:srgbClr val="272731"/>
                </a:solidFill>
                <a:latin typeface="Garet"/>
                <a:ea typeface="Garet"/>
                <a:cs typeface="Garet"/>
                <a:sym typeface="Garet"/>
              </a:rPr>
              <a:t>🚀 Sıkıştırma Fırsatı: Backend (C) ve UI/UX (D) arasına SS=3 kısıtı uygulanarak D'nin ES değeri 12'den 15'e çekilir, toplam proje süresi overlap sayesinde optimize edilebilir. Donanım (F) aktivitesinin 21 gün bolluğu sayesinde kaynak çakışması önlenir.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true" flipV="false" rot="0">
            <a:off x="6016570" y="-946819"/>
            <a:ext cx="12718022" cy="12718022"/>
          </a:xfrm>
          <a:custGeom>
            <a:avLst/>
            <a:gdLst/>
            <a:ahLst/>
            <a:cxnLst/>
            <a:rect r="r" b="b" t="t" l="l"/>
            <a:pathLst>
              <a:path h="12718022" w="12718022">
                <a:moveTo>
                  <a:pt x="12718021" y="0"/>
                </a:moveTo>
                <a:lnTo>
                  <a:pt x="0" y="0"/>
                </a:lnTo>
                <a:lnTo>
                  <a:pt x="0" y="12718022"/>
                </a:lnTo>
                <a:lnTo>
                  <a:pt x="12718021" y="12718022"/>
                </a:lnTo>
                <a:lnTo>
                  <a:pt x="127180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814777" y="1479605"/>
            <a:ext cx="7677599" cy="14287"/>
          </a:xfrm>
          <a:prstGeom prst="line">
            <a:avLst/>
          </a:prstGeom>
          <a:ln cap="flat" w="28575">
            <a:solidFill>
              <a:srgbClr val="FBFDFF"/>
            </a:solidFill>
            <a:prstDash val="solid"/>
            <a:headEnd type="none" len="sm" w="sm"/>
            <a:tailEnd type="none" len="sm" w="sm"/>
          </a:ln>
        </p:spPr>
      </p:sp>
      <p:sp>
        <p:nvSpPr>
          <p:cNvPr name="AutoShape 4" id="4"/>
          <p:cNvSpPr/>
          <p:nvPr/>
        </p:nvSpPr>
        <p:spPr>
          <a:xfrm flipV="true">
            <a:off x="9093248" y="5965591"/>
            <a:ext cx="8162189" cy="0"/>
          </a:xfrm>
          <a:prstGeom prst="line">
            <a:avLst/>
          </a:prstGeom>
          <a:ln cap="flat" w="28575">
            <a:solidFill>
              <a:srgbClr val="FBFDFF"/>
            </a:solidFill>
            <a:prstDash val="solid"/>
            <a:headEnd type="none" len="sm" w="sm"/>
            <a:tailEnd type="none" len="sm" w="sm"/>
          </a:ln>
        </p:spPr>
      </p:sp>
      <p:sp>
        <p:nvSpPr>
          <p:cNvPr name="AutoShape 5" id="5"/>
          <p:cNvSpPr/>
          <p:nvPr/>
        </p:nvSpPr>
        <p:spPr>
          <a:xfrm flipV="true">
            <a:off x="814777" y="9776904"/>
            <a:ext cx="16444523" cy="0"/>
          </a:xfrm>
          <a:prstGeom prst="line">
            <a:avLst/>
          </a:prstGeom>
          <a:ln cap="flat" w="28575">
            <a:solidFill>
              <a:srgbClr val="FBFDFF"/>
            </a:solidFill>
            <a:prstDash val="solid"/>
            <a:headEnd type="none" len="sm" w="sm"/>
            <a:tailEnd type="none" len="sm" w="sm"/>
          </a:ln>
        </p:spPr>
      </p:sp>
      <p:sp>
        <p:nvSpPr>
          <p:cNvPr name="AutoShape 6" id="6"/>
          <p:cNvSpPr/>
          <p:nvPr/>
        </p:nvSpPr>
        <p:spPr>
          <a:xfrm>
            <a:off x="9093248" y="1497055"/>
            <a:ext cx="8162189" cy="0"/>
          </a:xfrm>
          <a:prstGeom prst="line">
            <a:avLst/>
          </a:prstGeom>
          <a:ln cap="flat" w="28575">
            <a:solidFill>
              <a:srgbClr val="FBFDFF"/>
            </a:solidFill>
            <a:prstDash val="solid"/>
            <a:headEnd type="none" len="sm" w="sm"/>
            <a:tailEnd type="none" len="sm" w="sm"/>
          </a:ln>
        </p:spPr>
      </p:sp>
      <p:sp>
        <p:nvSpPr>
          <p:cNvPr name="AutoShape 7" id="7"/>
          <p:cNvSpPr/>
          <p:nvPr/>
        </p:nvSpPr>
        <p:spPr>
          <a:xfrm>
            <a:off x="13531384" y="1793651"/>
            <a:ext cx="0" cy="3875344"/>
          </a:xfrm>
          <a:prstGeom prst="line">
            <a:avLst/>
          </a:prstGeom>
          <a:ln cap="flat" w="28575">
            <a:solidFill>
              <a:srgbClr val="FBFDFF"/>
            </a:solidFill>
            <a:prstDash val="solid"/>
            <a:headEnd type="none" len="sm" w="sm"/>
            <a:tailEnd type="none" len="sm" w="sm"/>
          </a:ln>
        </p:spPr>
      </p:sp>
      <p:sp>
        <p:nvSpPr>
          <p:cNvPr name="Freeform 8" id="8"/>
          <p:cNvSpPr/>
          <p:nvPr/>
        </p:nvSpPr>
        <p:spPr>
          <a:xfrm flipH="false" flipV="false" rot="0">
            <a:off x="2956663" y="3034695"/>
            <a:ext cx="3217130" cy="1648405"/>
          </a:xfrm>
          <a:custGeom>
            <a:avLst/>
            <a:gdLst/>
            <a:ahLst/>
            <a:cxnLst/>
            <a:rect r="r" b="b" t="t" l="l"/>
            <a:pathLst>
              <a:path h="1648405" w="3217130">
                <a:moveTo>
                  <a:pt x="0" y="0"/>
                </a:moveTo>
                <a:lnTo>
                  <a:pt x="3217130" y="0"/>
                </a:lnTo>
                <a:lnTo>
                  <a:pt x="3217130" y="1648406"/>
                </a:lnTo>
                <a:lnTo>
                  <a:pt x="0" y="1648406"/>
                </a:lnTo>
                <a:lnTo>
                  <a:pt x="0" y="0"/>
                </a:lnTo>
                <a:close/>
              </a:path>
            </a:pathLst>
          </a:custGeom>
          <a:blipFill>
            <a:blip r:embed="rId4"/>
            <a:stretch>
              <a:fillRect l="0" t="0" r="0" b="0"/>
            </a:stretch>
          </a:blipFill>
        </p:spPr>
      </p:sp>
      <p:sp>
        <p:nvSpPr>
          <p:cNvPr name="AutoShape 9" id="9"/>
          <p:cNvSpPr/>
          <p:nvPr/>
        </p:nvSpPr>
        <p:spPr>
          <a:xfrm>
            <a:off x="814777" y="4859313"/>
            <a:ext cx="7677599" cy="0"/>
          </a:xfrm>
          <a:prstGeom prst="line">
            <a:avLst/>
          </a:prstGeom>
          <a:ln cap="flat" w="28575">
            <a:solidFill>
              <a:srgbClr val="FBFDFF"/>
            </a:solidFill>
            <a:prstDash val="solid"/>
            <a:headEnd type="none" len="sm" w="sm"/>
            <a:tailEnd type="none" len="sm" w="sm"/>
          </a:ln>
        </p:spPr>
      </p:sp>
      <p:sp>
        <p:nvSpPr>
          <p:cNvPr name="Freeform 10" id="10"/>
          <p:cNvSpPr/>
          <p:nvPr/>
        </p:nvSpPr>
        <p:spPr>
          <a:xfrm flipH="false" flipV="false" rot="0">
            <a:off x="1441486" y="8289691"/>
            <a:ext cx="5934449" cy="1237949"/>
          </a:xfrm>
          <a:custGeom>
            <a:avLst/>
            <a:gdLst/>
            <a:ahLst/>
            <a:cxnLst/>
            <a:rect r="r" b="b" t="t" l="l"/>
            <a:pathLst>
              <a:path h="1237949" w="5934449">
                <a:moveTo>
                  <a:pt x="0" y="0"/>
                </a:moveTo>
                <a:lnTo>
                  <a:pt x="5934449" y="0"/>
                </a:lnTo>
                <a:lnTo>
                  <a:pt x="5934449" y="1237949"/>
                </a:lnTo>
                <a:lnTo>
                  <a:pt x="0" y="1237949"/>
                </a:lnTo>
                <a:lnTo>
                  <a:pt x="0" y="0"/>
                </a:lnTo>
                <a:close/>
              </a:path>
            </a:pathLst>
          </a:custGeom>
          <a:blipFill>
            <a:blip r:embed="rId5"/>
            <a:stretch>
              <a:fillRect l="0" t="0" r="0" b="0"/>
            </a:stretch>
          </a:blipFill>
        </p:spPr>
      </p:sp>
      <p:sp>
        <p:nvSpPr>
          <p:cNvPr name="TextBox 11" id="11"/>
          <p:cNvSpPr txBox="true"/>
          <p:nvPr/>
        </p:nvSpPr>
        <p:spPr>
          <a:xfrm rot="0">
            <a:off x="1028700" y="437776"/>
            <a:ext cx="9024414" cy="404577"/>
          </a:xfrm>
          <a:prstGeom prst="rect">
            <a:avLst/>
          </a:prstGeom>
        </p:spPr>
        <p:txBody>
          <a:bodyPr anchor="t" rtlCol="false" tIns="0" lIns="0" bIns="0" rIns="0">
            <a:spAutoFit/>
          </a:bodyPr>
          <a:lstStyle/>
          <a:p>
            <a:pPr algn="l" marL="0" indent="0" lvl="0">
              <a:lnSpc>
                <a:spcPts val="3178"/>
              </a:lnSpc>
            </a:pPr>
            <a:r>
              <a:rPr lang="en-US" b="true" sz="3178">
                <a:solidFill>
                  <a:srgbClr val="E5E3E6"/>
                </a:solidFill>
                <a:latin typeface="Garet Bold"/>
                <a:ea typeface="Garet Bold"/>
                <a:cs typeface="Garet Bold"/>
                <a:sym typeface="Garet Bold"/>
              </a:rPr>
              <a:t>DoğrusalProgramlama (LP) ile CPM</a:t>
            </a:r>
          </a:p>
        </p:txBody>
      </p:sp>
      <p:sp>
        <p:nvSpPr>
          <p:cNvPr name="TextBox 12" id="12"/>
          <p:cNvSpPr txBox="true"/>
          <p:nvPr/>
        </p:nvSpPr>
        <p:spPr>
          <a:xfrm rot="0">
            <a:off x="1028700" y="951920"/>
            <a:ext cx="4281130"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E5E3E6"/>
                </a:solidFill>
                <a:latin typeface="Garet Bold"/>
                <a:ea typeface="Garet Bold"/>
                <a:cs typeface="Garet Bold"/>
                <a:sym typeface="Garet Bold"/>
              </a:rPr>
              <a:t>🧮 LP ILE CPM FORMÜLASYONU</a:t>
            </a:r>
          </a:p>
        </p:txBody>
      </p:sp>
      <p:sp>
        <p:nvSpPr>
          <p:cNvPr name="TextBox 13" id="13"/>
          <p:cNvSpPr txBox="true"/>
          <p:nvPr/>
        </p:nvSpPr>
        <p:spPr>
          <a:xfrm rot="0">
            <a:off x="1299367" y="1636797"/>
            <a:ext cx="7193009" cy="13239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Şebeke problemleri doğrusal program (LP) olarak formüle edilip standart algoritmalarla çözülebilir</a:t>
            </a:r>
          </a:p>
          <a:p>
            <a:pPr algn="l">
              <a:lnSpc>
                <a:spcPts val="2100"/>
              </a:lnSpc>
              <a:spcBef>
                <a:spcPct val="0"/>
              </a:spcBef>
            </a:pPr>
            <a:r>
              <a:rPr lang="en-US" sz="1500">
                <a:solidFill>
                  <a:srgbClr val="FBFDFF"/>
                </a:solidFill>
                <a:latin typeface="Garet"/>
                <a:ea typeface="Garet"/>
                <a:cs typeface="Garet"/>
                <a:sym typeface="Garet"/>
              </a:rPr>
              <a:t>• Çok sayıda aktivite içeren karmaşık şebekelerde manuel analiz yerine kullanılır</a:t>
            </a:r>
          </a:p>
          <a:p>
            <a:pPr algn="l">
              <a:lnSpc>
                <a:spcPts val="2100"/>
              </a:lnSpc>
              <a:spcBef>
                <a:spcPct val="0"/>
              </a:spcBef>
            </a:pPr>
            <a:r>
              <a:rPr lang="en-US" sz="1500">
                <a:solidFill>
                  <a:srgbClr val="FBFDFF"/>
                </a:solidFill>
                <a:latin typeface="Garet"/>
                <a:ea typeface="Garet"/>
                <a:cs typeface="Garet"/>
                <a:sym typeface="Garet"/>
              </a:rPr>
              <a:t>• Karar değişkenleri: Her olay düğümünün başlangıç zamanı (t_i)</a:t>
            </a:r>
          </a:p>
        </p:txBody>
      </p:sp>
      <p:sp>
        <p:nvSpPr>
          <p:cNvPr name="TextBox 14" id="14"/>
          <p:cNvSpPr txBox="true"/>
          <p:nvPr/>
        </p:nvSpPr>
        <p:spPr>
          <a:xfrm rot="0">
            <a:off x="2956663" y="3179341"/>
            <a:ext cx="3059906" cy="1057275"/>
          </a:xfrm>
          <a:prstGeom prst="rect">
            <a:avLst/>
          </a:prstGeom>
        </p:spPr>
        <p:txBody>
          <a:bodyPr anchor="t" rtlCol="false" tIns="0" lIns="0" bIns="0" rIns="0">
            <a:spAutoFit/>
          </a:bodyPr>
          <a:lstStyle/>
          <a:p>
            <a:pPr algn="ctr">
              <a:lnSpc>
                <a:spcPts val="2100"/>
              </a:lnSpc>
              <a:spcBef>
                <a:spcPct val="0"/>
              </a:spcBef>
            </a:pPr>
            <a:r>
              <a:rPr lang="en-US" b="true" sz="1500">
                <a:solidFill>
                  <a:srgbClr val="FBFDFF"/>
                </a:solidFill>
                <a:latin typeface="Garet Bold"/>
                <a:ea typeface="Garet Bold"/>
                <a:cs typeface="Garet Bold"/>
                <a:sym typeface="Garet Bold"/>
              </a:rPr>
              <a:t>Genel LP Formülasyonu</a:t>
            </a:r>
          </a:p>
          <a:p>
            <a:pPr algn="ctr">
              <a:lnSpc>
                <a:spcPts val="2100"/>
              </a:lnSpc>
              <a:spcBef>
                <a:spcPct val="0"/>
              </a:spcBef>
            </a:pPr>
            <a:r>
              <a:rPr lang="en-US" b="true" sz="1500">
                <a:solidFill>
                  <a:srgbClr val="FBFDFF"/>
                </a:solidFill>
                <a:latin typeface="Garet Bold"/>
                <a:ea typeface="Garet Bold"/>
                <a:cs typeface="Garet Bold"/>
                <a:sym typeface="Garet Bold"/>
              </a:rPr>
              <a:t>Minimize: t_n</a:t>
            </a:r>
          </a:p>
          <a:p>
            <a:pPr algn="ctr">
              <a:lnSpc>
                <a:spcPts val="2100"/>
              </a:lnSpc>
              <a:spcBef>
                <a:spcPct val="0"/>
              </a:spcBef>
            </a:pPr>
            <a:r>
              <a:rPr lang="en-US" b="true" sz="1500">
                <a:solidFill>
                  <a:srgbClr val="FBFDFF"/>
                </a:solidFill>
                <a:latin typeface="Garet Bold"/>
                <a:ea typeface="Garet Bold"/>
                <a:cs typeface="Garet Bold"/>
                <a:sym typeface="Garet Bold"/>
              </a:rPr>
              <a:t> Kısıtlar: t_j − t_i &gt;= L_ij ∀(i,j)∈A</a:t>
            </a:r>
          </a:p>
          <a:p>
            <a:pPr algn="ctr">
              <a:lnSpc>
                <a:spcPts val="2100"/>
              </a:lnSpc>
              <a:spcBef>
                <a:spcPct val="0"/>
              </a:spcBef>
            </a:pPr>
            <a:r>
              <a:rPr lang="en-US" b="true" sz="1500">
                <a:solidFill>
                  <a:srgbClr val="FBFDFF"/>
                </a:solidFill>
                <a:latin typeface="Garet Bold"/>
                <a:ea typeface="Garet Bold"/>
                <a:cs typeface="Garet Bold"/>
                <a:sym typeface="Garet Bold"/>
              </a:rPr>
              <a:t> t_1 = 0, t_i &gt;= 0 ∀i∈N</a:t>
            </a:r>
          </a:p>
        </p:txBody>
      </p:sp>
      <p:sp>
        <p:nvSpPr>
          <p:cNvPr name="TextBox 15" id="15"/>
          <p:cNvSpPr txBox="true"/>
          <p:nvPr/>
        </p:nvSpPr>
        <p:spPr>
          <a:xfrm rot="0">
            <a:off x="1028700" y="4987901"/>
            <a:ext cx="2689027" cy="365760"/>
          </a:xfrm>
          <a:prstGeom prst="rect">
            <a:avLst/>
          </a:prstGeom>
        </p:spPr>
        <p:txBody>
          <a:bodyPr anchor="t" rtlCol="false" tIns="0" lIns="0" bIns="0" rIns="0">
            <a:spAutoFit/>
          </a:bodyPr>
          <a:lstStyle/>
          <a:p>
            <a:pPr algn="l">
              <a:lnSpc>
                <a:spcPts val="2940"/>
              </a:lnSpc>
              <a:spcBef>
                <a:spcPct val="0"/>
              </a:spcBef>
            </a:pPr>
            <a:r>
              <a:rPr lang="en-US" sz="2100">
                <a:solidFill>
                  <a:srgbClr val="FBFDFF"/>
                </a:solidFill>
                <a:latin typeface="Garet"/>
                <a:ea typeface="Garet"/>
                <a:cs typeface="Garet"/>
                <a:sym typeface="Garet"/>
              </a:rPr>
              <a:t>🔍 LP ve CPM İlişkisi</a:t>
            </a:r>
          </a:p>
        </p:txBody>
      </p:sp>
      <p:sp>
        <p:nvSpPr>
          <p:cNvPr name="TextBox 16" id="16"/>
          <p:cNvSpPr txBox="true"/>
          <p:nvPr/>
        </p:nvSpPr>
        <p:spPr>
          <a:xfrm rot="0">
            <a:off x="1299367" y="5657270"/>
            <a:ext cx="7193009" cy="21240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LP'deki bağlayıcı olmayan kısıtların bolluğu → ilgili aktivitenin bolluğunu temsil eder</a:t>
            </a:r>
          </a:p>
          <a:p>
            <a:pPr algn="l">
              <a:lnSpc>
                <a:spcPts val="2100"/>
              </a:lnSpc>
              <a:spcBef>
                <a:spcPct val="0"/>
              </a:spcBef>
            </a:pPr>
            <a:r>
              <a:rPr lang="en-US" sz="1500">
                <a:solidFill>
                  <a:srgbClr val="FBFDFF"/>
                </a:solidFill>
                <a:latin typeface="Garet"/>
                <a:ea typeface="Garet"/>
                <a:cs typeface="Garet"/>
                <a:sym typeface="Garet"/>
              </a:rPr>
              <a:t>• Toplam bolluğu bulmak için LP üzerinde duyarlılık (aralık) analizi yapmak gerekir</a:t>
            </a:r>
          </a:p>
          <a:p>
            <a:pPr algn="l">
              <a:lnSpc>
                <a:spcPts val="2100"/>
              </a:lnSpc>
              <a:spcBef>
                <a:spcPct val="0"/>
              </a:spcBef>
            </a:pPr>
            <a:r>
              <a:rPr lang="en-US" sz="1500">
                <a:solidFill>
                  <a:srgbClr val="FBFDFF"/>
                </a:solidFill>
                <a:latin typeface="Garet"/>
                <a:ea typeface="Garet"/>
                <a:cs typeface="Garet"/>
                <a:sym typeface="Garet"/>
              </a:rPr>
              <a:t>• Her L_ij değerinin optimal çözümü değiştirmeden artırılabileceği miktar = aktivitenin toplam bolluğu</a:t>
            </a:r>
          </a:p>
          <a:p>
            <a:pPr algn="l">
              <a:lnSpc>
                <a:spcPts val="2100"/>
              </a:lnSpc>
              <a:spcBef>
                <a:spcPct val="0"/>
              </a:spcBef>
            </a:pPr>
            <a:r>
              <a:rPr lang="en-US" sz="1500">
                <a:solidFill>
                  <a:srgbClr val="FBFDFF"/>
                </a:solidFill>
                <a:latin typeface="Garet"/>
                <a:ea typeface="Garet"/>
                <a:cs typeface="Garet"/>
                <a:sym typeface="Garet"/>
              </a:rPr>
              <a:t>• En erken zamanları garanti etmek için amaç fonksiyonuna ε∑t_i ceza terimi eklenebilir</a:t>
            </a:r>
          </a:p>
        </p:txBody>
      </p:sp>
      <p:sp>
        <p:nvSpPr>
          <p:cNvPr name="TextBox 17" id="17"/>
          <p:cNvSpPr txBox="true"/>
          <p:nvPr/>
        </p:nvSpPr>
        <p:spPr>
          <a:xfrm rot="0">
            <a:off x="1598003" y="8467725"/>
            <a:ext cx="5621414" cy="7905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Neden LP? Büyük şebekeler için öncül-ardıl ilişkilerinin manuel analizi çok yorucu olduğundan yazılım tabanlı LP çözücüleri gereklidir.</a:t>
            </a:r>
          </a:p>
        </p:txBody>
      </p:sp>
      <p:sp>
        <p:nvSpPr>
          <p:cNvPr name="TextBox 18" id="18"/>
          <p:cNvSpPr txBox="true"/>
          <p:nvPr/>
        </p:nvSpPr>
        <p:spPr>
          <a:xfrm rot="0">
            <a:off x="9868361" y="636270"/>
            <a:ext cx="6697937"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FBFDFF"/>
                </a:solidFill>
                <a:latin typeface="Garet Bold"/>
                <a:ea typeface="Garet Bold"/>
                <a:cs typeface="Garet Bold"/>
                <a:sym typeface="Garet Bold"/>
              </a:rPr>
              <a:t>📐 Deadline Restoran Otomasyon — LP Formülasyonu ve Çözümü</a:t>
            </a:r>
          </a:p>
        </p:txBody>
      </p:sp>
      <p:sp>
        <p:nvSpPr>
          <p:cNvPr name="TextBox 19" id="19"/>
          <p:cNvSpPr txBox="true"/>
          <p:nvPr/>
        </p:nvSpPr>
        <p:spPr>
          <a:xfrm rot="0">
            <a:off x="9282569" y="1636797"/>
            <a:ext cx="3438882" cy="280670"/>
          </a:xfrm>
          <a:prstGeom prst="rect">
            <a:avLst/>
          </a:prstGeom>
        </p:spPr>
        <p:txBody>
          <a:bodyPr anchor="t" rtlCol="false" tIns="0" lIns="0" bIns="0" rIns="0">
            <a:spAutoFit/>
          </a:bodyPr>
          <a:lstStyle/>
          <a:p>
            <a:pPr algn="ctr">
              <a:lnSpc>
                <a:spcPts val="2380"/>
              </a:lnSpc>
              <a:spcBef>
                <a:spcPct val="0"/>
              </a:spcBef>
            </a:pPr>
            <a:r>
              <a:rPr lang="en-US" b="true" sz="1700">
                <a:solidFill>
                  <a:srgbClr val="FBFDFF"/>
                </a:solidFill>
                <a:latin typeface="Garet Bold"/>
                <a:ea typeface="Garet Bold"/>
                <a:cs typeface="Garet Bold"/>
                <a:sym typeface="Garet Bold"/>
              </a:rPr>
              <a:t>LP FORMÜLASYONU &amp; KISITLAR</a:t>
            </a:r>
          </a:p>
        </p:txBody>
      </p:sp>
      <p:sp>
        <p:nvSpPr>
          <p:cNvPr name="TextBox 20" id="20"/>
          <p:cNvSpPr txBox="true"/>
          <p:nvPr/>
        </p:nvSpPr>
        <p:spPr>
          <a:xfrm rot="0">
            <a:off x="14341316" y="1592029"/>
            <a:ext cx="2610683" cy="280670"/>
          </a:xfrm>
          <a:prstGeom prst="rect">
            <a:avLst/>
          </a:prstGeom>
        </p:spPr>
        <p:txBody>
          <a:bodyPr anchor="t" rtlCol="false" tIns="0" lIns="0" bIns="0" rIns="0">
            <a:spAutoFit/>
          </a:bodyPr>
          <a:lstStyle/>
          <a:p>
            <a:pPr algn="ctr">
              <a:lnSpc>
                <a:spcPts val="2380"/>
              </a:lnSpc>
              <a:spcBef>
                <a:spcPct val="0"/>
              </a:spcBef>
            </a:pPr>
            <a:r>
              <a:rPr lang="en-US" b="true" sz="1700">
                <a:solidFill>
                  <a:srgbClr val="FBFDFF"/>
                </a:solidFill>
                <a:latin typeface="Garet Bold"/>
                <a:ea typeface="Garet Bold"/>
                <a:cs typeface="Garet Bold"/>
                <a:sym typeface="Garet Bold"/>
              </a:rPr>
              <a:t>✓ LP OPTIMAL ÇÖZÜMÜ</a:t>
            </a:r>
          </a:p>
        </p:txBody>
      </p:sp>
      <p:sp>
        <p:nvSpPr>
          <p:cNvPr name="TextBox 21" id="21"/>
          <p:cNvSpPr txBox="true"/>
          <p:nvPr/>
        </p:nvSpPr>
        <p:spPr>
          <a:xfrm rot="0">
            <a:off x="9367996" y="2093679"/>
            <a:ext cx="3268028" cy="3457575"/>
          </a:xfrm>
          <a:prstGeom prst="rect">
            <a:avLst/>
          </a:prstGeom>
        </p:spPr>
        <p:txBody>
          <a:bodyPr anchor="t" rtlCol="false" tIns="0" lIns="0" bIns="0" rIns="0">
            <a:spAutoFit/>
          </a:bodyPr>
          <a:lstStyle/>
          <a:p>
            <a:pPr algn="l">
              <a:lnSpc>
                <a:spcPts val="2100"/>
              </a:lnSpc>
              <a:spcBef>
                <a:spcPct val="0"/>
              </a:spcBef>
            </a:pPr>
            <a:r>
              <a:rPr lang="en-US" b="true" sz="1500">
                <a:solidFill>
                  <a:srgbClr val="FBFDFF"/>
                </a:solidFill>
                <a:latin typeface="Garet Bold"/>
                <a:ea typeface="Garet Bold"/>
                <a:cs typeface="Garet Bold"/>
                <a:sym typeface="Garet Bold"/>
              </a:rPr>
              <a:t>Minimize: t_8 (proje bitiş zamanı)</a:t>
            </a:r>
          </a:p>
          <a:p>
            <a:pPr algn="l">
              <a:lnSpc>
                <a:spcPts val="2100"/>
              </a:lnSpc>
              <a:spcBef>
                <a:spcPct val="0"/>
              </a:spcBef>
            </a:pPr>
            <a:r>
              <a:rPr lang="en-US" b="true" sz="1500">
                <a:solidFill>
                  <a:srgbClr val="FBFDFF"/>
                </a:solidFill>
                <a:latin typeface="Garet Bold"/>
                <a:ea typeface="Garet Bold"/>
                <a:cs typeface="Garet Bold"/>
                <a:sym typeface="Garet Bold"/>
              </a:rPr>
              <a:t> </a:t>
            </a:r>
          </a:p>
          <a:p>
            <a:pPr algn="l">
              <a:lnSpc>
                <a:spcPts val="2100"/>
              </a:lnSpc>
              <a:spcBef>
                <a:spcPct val="0"/>
              </a:spcBef>
            </a:pPr>
            <a:r>
              <a:rPr lang="en-US" b="true" sz="1500">
                <a:solidFill>
                  <a:srgbClr val="FBFDFF"/>
                </a:solidFill>
                <a:latin typeface="Garet Bold"/>
                <a:ea typeface="Garet Bold"/>
                <a:cs typeface="Garet Bold"/>
                <a:sym typeface="Garet Bold"/>
              </a:rPr>
              <a:t>Kısıtlar:</a:t>
            </a:r>
          </a:p>
          <a:p>
            <a:pPr algn="l">
              <a:lnSpc>
                <a:spcPts val="2100"/>
              </a:lnSpc>
              <a:spcBef>
                <a:spcPct val="0"/>
              </a:spcBef>
            </a:pPr>
            <a:r>
              <a:rPr lang="en-US" b="true" sz="1500">
                <a:solidFill>
                  <a:srgbClr val="FBFDFF"/>
                </a:solidFill>
                <a:latin typeface="Garet Bold"/>
                <a:ea typeface="Garet Bold"/>
                <a:cs typeface="Garet Bold"/>
                <a:sym typeface="Garet Bold"/>
              </a:rPr>
              <a:t>t_2 − t_1 &gt;= 7 (A: Analiz)</a:t>
            </a:r>
          </a:p>
          <a:p>
            <a:pPr algn="l">
              <a:lnSpc>
                <a:spcPts val="2100"/>
              </a:lnSpc>
              <a:spcBef>
                <a:spcPct val="0"/>
              </a:spcBef>
            </a:pPr>
            <a:r>
              <a:rPr lang="en-US" b="true" sz="1500">
                <a:solidFill>
                  <a:srgbClr val="FBFDFF"/>
                </a:solidFill>
                <a:latin typeface="Garet Bold"/>
                <a:ea typeface="Garet Bold"/>
                <a:cs typeface="Garet Bold"/>
                <a:sym typeface="Garet Bold"/>
              </a:rPr>
              <a:t> t_3 − t_2 &gt;= 5 (B: Mimari)</a:t>
            </a:r>
          </a:p>
          <a:p>
            <a:pPr algn="l">
              <a:lnSpc>
                <a:spcPts val="2100"/>
              </a:lnSpc>
              <a:spcBef>
                <a:spcPct val="0"/>
              </a:spcBef>
            </a:pPr>
            <a:r>
              <a:rPr lang="en-US" b="true" sz="1500">
                <a:solidFill>
                  <a:srgbClr val="FBFDFF"/>
                </a:solidFill>
                <a:latin typeface="Garet Bold"/>
                <a:ea typeface="Garet Bold"/>
                <a:cs typeface="Garet Bold"/>
                <a:sym typeface="Garet Bold"/>
              </a:rPr>
              <a:t> t_4 − t_3 &gt;= 14 (C: Backend)</a:t>
            </a:r>
          </a:p>
          <a:p>
            <a:pPr algn="l">
              <a:lnSpc>
                <a:spcPts val="2100"/>
              </a:lnSpc>
              <a:spcBef>
                <a:spcPct val="0"/>
              </a:spcBef>
            </a:pPr>
            <a:r>
              <a:rPr lang="en-US" b="true" sz="1500">
                <a:solidFill>
                  <a:srgbClr val="FBFDFF"/>
                </a:solidFill>
                <a:latin typeface="Garet Bold"/>
                <a:ea typeface="Garet Bold"/>
                <a:cs typeface="Garet Bold"/>
                <a:sym typeface="Garet Bold"/>
              </a:rPr>
              <a:t> t_5 − t_3 &gt;= 10 (D: UI/UX)</a:t>
            </a:r>
          </a:p>
          <a:p>
            <a:pPr algn="l">
              <a:lnSpc>
                <a:spcPts val="2100"/>
              </a:lnSpc>
              <a:spcBef>
                <a:spcPct val="0"/>
              </a:spcBef>
            </a:pPr>
            <a:r>
              <a:rPr lang="en-US" b="true" sz="1500">
                <a:solidFill>
                  <a:srgbClr val="FBFDFF"/>
                </a:solidFill>
                <a:latin typeface="Garet Bold"/>
                <a:ea typeface="Garet Bold"/>
                <a:cs typeface="Garet Bold"/>
                <a:sym typeface="Garet Bold"/>
              </a:rPr>
              <a:t> t_6 − t_4 &gt;= 14 (E: Entegrasyon)</a:t>
            </a:r>
          </a:p>
          <a:p>
            <a:pPr algn="l">
              <a:lnSpc>
                <a:spcPts val="2100"/>
              </a:lnSpc>
              <a:spcBef>
                <a:spcPct val="0"/>
              </a:spcBef>
            </a:pPr>
            <a:r>
              <a:rPr lang="en-US" b="true" sz="1500">
                <a:solidFill>
                  <a:srgbClr val="FBFDFF"/>
                </a:solidFill>
                <a:latin typeface="Garet Bold"/>
                <a:ea typeface="Garet Bold"/>
                <a:cs typeface="Garet Bold"/>
                <a:sym typeface="Garet Bold"/>
              </a:rPr>
              <a:t> t_6 − t_5 &gt;= 0 (D→E bağımlılık)</a:t>
            </a:r>
          </a:p>
          <a:p>
            <a:pPr algn="l">
              <a:lnSpc>
                <a:spcPts val="2100"/>
              </a:lnSpc>
              <a:spcBef>
                <a:spcPct val="0"/>
              </a:spcBef>
            </a:pPr>
            <a:r>
              <a:rPr lang="en-US" b="true" sz="1500">
                <a:solidFill>
                  <a:srgbClr val="FBFDFF"/>
                </a:solidFill>
                <a:latin typeface="Garet Bold"/>
                <a:ea typeface="Garet Bold"/>
                <a:cs typeface="Garet Bold"/>
                <a:sym typeface="Garet Bold"/>
              </a:rPr>
              <a:t> t_6 − t_3 &gt;= 7 (F: Donanım)</a:t>
            </a:r>
          </a:p>
          <a:p>
            <a:pPr algn="l">
              <a:lnSpc>
                <a:spcPts val="2100"/>
              </a:lnSpc>
              <a:spcBef>
                <a:spcPct val="0"/>
              </a:spcBef>
            </a:pPr>
            <a:r>
              <a:rPr lang="en-US" b="true" sz="1500">
                <a:solidFill>
                  <a:srgbClr val="FBFDFF"/>
                </a:solidFill>
                <a:latin typeface="Garet Bold"/>
                <a:ea typeface="Garet Bold"/>
                <a:cs typeface="Garet Bold"/>
                <a:sym typeface="Garet Bold"/>
              </a:rPr>
              <a:t> t_7 − t_6 &gt;= 7 (G: Testler)</a:t>
            </a:r>
          </a:p>
          <a:p>
            <a:pPr algn="l">
              <a:lnSpc>
                <a:spcPts val="2100"/>
              </a:lnSpc>
              <a:spcBef>
                <a:spcPct val="0"/>
              </a:spcBef>
            </a:pPr>
            <a:r>
              <a:rPr lang="en-US" b="true" sz="1500">
                <a:solidFill>
                  <a:srgbClr val="FBFDFF"/>
                </a:solidFill>
                <a:latin typeface="Garet Bold"/>
                <a:ea typeface="Garet Bold"/>
                <a:cs typeface="Garet Bold"/>
                <a:sym typeface="Garet Bold"/>
              </a:rPr>
              <a:t> t_8 − t_7 &gt;= 5 (H: Teslimat)</a:t>
            </a:r>
          </a:p>
          <a:p>
            <a:pPr algn="l">
              <a:lnSpc>
                <a:spcPts val="2100"/>
              </a:lnSpc>
              <a:spcBef>
                <a:spcPct val="0"/>
              </a:spcBef>
            </a:pPr>
            <a:r>
              <a:rPr lang="en-US" b="true" sz="1500">
                <a:solidFill>
                  <a:srgbClr val="FBFDFF"/>
                </a:solidFill>
                <a:latin typeface="Garet Bold"/>
                <a:ea typeface="Garet Bold"/>
                <a:cs typeface="Garet Bold"/>
                <a:sym typeface="Garet Bold"/>
              </a:rPr>
              <a:t> t_1 = 0</a:t>
            </a:r>
          </a:p>
        </p:txBody>
      </p:sp>
      <p:sp>
        <p:nvSpPr>
          <p:cNvPr name="TextBox 22" id="22"/>
          <p:cNvSpPr txBox="true"/>
          <p:nvPr/>
        </p:nvSpPr>
        <p:spPr>
          <a:xfrm rot="0">
            <a:off x="14341316" y="2932197"/>
            <a:ext cx="2663071" cy="21240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t₁ (Başlangıç) → 0</a:t>
            </a:r>
          </a:p>
          <a:p>
            <a:pPr algn="l">
              <a:lnSpc>
                <a:spcPts val="2100"/>
              </a:lnSpc>
              <a:spcBef>
                <a:spcPct val="0"/>
              </a:spcBef>
            </a:pPr>
            <a:r>
              <a:rPr lang="en-US" sz="1500">
                <a:solidFill>
                  <a:srgbClr val="FBFDFF"/>
                </a:solidFill>
                <a:latin typeface="Garet"/>
                <a:ea typeface="Garet"/>
                <a:cs typeface="Garet"/>
                <a:sym typeface="Garet"/>
              </a:rPr>
              <a:t>• t₂ (Analiz sonu) → 7</a:t>
            </a:r>
          </a:p>
          <a:p>
            <a:pPr algn="l">
              <a:lnSpc>
                <a:spcPts val="2100"/>
              </a:lnSpc>
              <a:spcBef>
                <a:spcPct val="0"/>
              </a:spcBef>
            </a:pPr>
            <a:r>
              <a:rPr lang="en-US" sz="1500">
                <a:solidFill>
                  <a:srgbClr val="FBFDFF"/>
                </a:solidFill>
                <a:latin typeface="Garet"/>
                <a:ea typeface="Garet"/>
                <a:cs typeface="Garet"/>
                <a:sym typeface="Garet"/>
              </a:rPr>
              <a:t>• t₃ (Mimari sonu) → 12</a:t>
            </a:r>
          </a:p>
          <a:p>
            <a:pPr algn="l">
              <a:lnSpc>
                <a:spcPts val="2100"/>
              </a:lnSpc>
              <a:spcBef>
                <a:spcPct val="0"/>
              </a:spcBef>
            </a:pPr>
            <a:r>
              <a:rPr lang="en-US" sz="1500">
                <a:solidFill>
                  <a:srgbClr val="FBFDFF"/>
                </a:solidFill>
                <a:latin typeface="Garet"/>
                <a:ea typeface="Garet"/>
                <a:cs typeface="Garet"/>
                <a:sym typeface="Garet"/>
              </a:rPr>
              <a:t>• t₄ (Backend sonu) → 26</a:t>
            </a:r>
          </a:p>
          <a:p>
            <a:pPr algn="l">
              <a:lnSpc>
                <a:spcPts val="2100"/>
              </a:lnSpc>
              <a:spcBef>
                <a:spcPct val="0"/>
              </a:spcBef>
            </a:pPr>
            <a:r>
              <a:rPr lang="en-US" sz="1500">
                <a:solidFill>
                  <a:srgbClr val="FBFDFF"/>
                </a:solidFill>
                <a:latin typeface="Garet"/>
                <a:ea typeface="Garet"/>
                <a:cs typeface="Garet"/>
                <a:sym typeface="Garet"/>
              </a:rPr>
              <a:t>• t₅ (UI/UX sonu) → 22</a:t>
            </a:r>
          </a:p>
          <a:p>
            <a:pPr algn="l">
              <a:lnSpc>
                <a:spcPts val="2100"/>
              </a:lnSpc>
              <a:spcBef>
                <a:spcPct val="0"/>
              </a:spcBef>
            </a:pPr>
            <a:r>
              <a:rPr lang="en-US" sz="1500">
                <a:solidFill>
                  <a:srgbClr val="FBFDFF"/>
                </a:solidFill>
                <a:latin typeface="Garet"/>
                <a:ea typeface="Garet"/>
                <a:cs typeface="Garet"/>
                <a:sym typeface="Garet"/>
              </a:rPr>
              <a:t>• t₆ (Enteg./Don. sonu) → 40</a:t>
            </a:r>
          </a:p>
          <a:p>
            <a:pPr algn="l">
              <a:lnSpc>
                <a:spcPts val="2100"/>
              </a:lnSpc>
              <a:spcBef>
                <a:spcPct val="0"/>
              </a:spcBef>
            </a:pPr>
            <a:r>
              <a:rPr lang="en-US" sz="1500">
                <a:solidFill>
                  <a:srgbClr val="FBFDFF"/>
                </a:solidFill>
                <a:latin typeface="Garet"/>
                <a:ea typeface="Garet"/>
                <a:cs typeface="Garet"/>
                <a:sym typeface="Garet"/>
              </a:rPr>
              <a:t>• t₇ (Test sonu) → 47</a:t>
            </a:r>
          </a:p>
          <a:p>
            <a:pPr algn="l">
              <a:lnSpc>
                <a:spcPts val="2100"/>
              </a:lnSpc>
              <a:spcBef>
                <a:spcPct val="0"/>
              </a:spcBef>
            </a:pPr>
            <a:r>
              <a:rPr lang="en-US" sz="1500">
                <a:solidFill>
                  <a:srgbClr val="FBFDFF"/>
                </a:solidFill>
                <a:latin typeface="Garet"/>
                <a:ea typeface="Garet"/>
                <a:cs typeface="Garet"/>
                <a:sym typeface="Garet"/>
              </a:rPr>
              <a:t>• t₈ (Proje Bitiş) → 52 gün</a:t>
            </a:r>
          </a:p>
        </p:txBody>
      </p:sp>
      <p:sp>
        <p:nvSpPr>
          <p:cNvPr name="TextBox 23" id="23"/>
          <p:cNvSpPr txBox="true"/>
          <p:nvPr/>
        </p:nvSpPr>
        <p:spPr>
          <a:xfrm rot="0">
            <a:off x="9282569" y="6270391"/>
            <a:ext cx="6725376" cy="7905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Doğrulama: LP çözümü t=(0,7,12,26,22,40,47,52) → CPM kritik yol analizi ile tam uyumludur. Bağlayıcı olmayan kısıt bolluğu: D=4 gün, F=21 gün.</a:t>
            </a:r>
          </a:p>
        </p:txBody>
      </p:sp>
      <p:sp>
        <p:nvSpPr>
          <p:cNvPr name="TextBox 24" id="24"/>
          <p:cNvSpPr txBox="true"/>
          <p:nvPr/>
        </p:nvSpPr>
        <p:spPr>
          <a:xfrm rot="0">
            <a:off x="9282569" y="7499116"/>
            <a:ext cx="6725376" cy="790575"/>
          </a:xfrm>
          <a:prstGeom prst="rect">
            <a:avLst/>
          </a:prstGeom>
        </p:spPr>
        <p:txBody>
          <a:bodyPr anchor="t" rtlCol="false" tIns="0" lIns="0" bIns="0" rIns="0">
            <a:spAutoFit/>
          </a:bodyPr>
          <a:lstStyle/>
          <a:p>
            <a:pPr algn="l">
              <a:lnSpc>
                <a:spcPts val="2100"/>
              </a:lnSpc>
              <a:spcBef>
                <a:spcPct val="0"/>
              </a:spcBef>
            </a:pPr>
            <a:r>
              <a:rPr lang="en-US" sz="1500">
                <a:solidFill>
                  <a:srgbClr val="FBFDFF"/>
                </a:solidFill>
                <a:latin typeface="Garet"/>
                <a:ea typeface="Garet"/>
                <a:cs typeface="Garet"/>
                <a:sym typeface="Garet"/>
              </a:rPr>
              <a:t>💡 Model Yorumu: Kısıtlar, düğümler arasındaki faaliyet sürelerini sınırlar. Model çözüldüğünde elde edilen t_i değerleri faaliyetlerin en erken başlama zamanları olan CPM sonuçlarıyla tam uyum gösterir.</a:t>
            </a:r>
          </a:p>
        </p:txBody>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3900539" y="4855905"/>
            <a:ext cx="10172725" cy="5150127"/>
          </a:xfrm>
          <a:custGeom>
            <a:avLst/>
            <a:gdLst/>
            <a:ahLst/>
            <a:cxnLst/>
            <a:rect r="r" b="b" t="t" l="l"/>
            <a:pathLst>
              <a:path h="5150127" w="10172725">
                <a:moveTo>
                  <a:pt x="0" y="0"/>
                </a:moveTo>
                <a:lnTo>
                  <a:pt x="10172725" y="0"/>
                </a:lnTo>
                <a:lnTo>
                  <a:pt x="10172725" y="5150127"/>
                </a:lnTo>
                <a:lnTo>
                  <a:pt x="0" y="5150127"/>
                </a:lnTo>
                <a:lnTo>
                  <a:pt x="0" y="0"/>
                </a:lnTo>
                <a:close/>
              </a:path>
            </a:pathLst>
          </a:custGeom>
          <a:blipFill>
            <a:blip r:embed="rId2"/>
            <a:stretch>
              <a:fillRect l="-1468" t="0" r="-8099" b="0"/>
            </a:stretch>
          </a:blipFill>
        </p:spPr>
      </p:sp>
      <p:sp>
        <p:nvSpPr>
          <p:cNvPr name="TextBox 3" id="3"/>
          <p:cNvSpPr txBox="true"/>
          <p:nvPr/>
        </p:nvSpPr>
        <p:spPr>
          <a:xfrm rot="0">
            <a:off x="3143160" y="260649"/>
            <a:ext cx="11687484" cy="507096"/>
          </a:xfrm>
          <a:prstGeom prst="rect">
            <a:avLst/>
          </a:prstGeom>
        </p:spPr>
        <p:txBody>
          <a:bodyPr anchor="t" rtlCol="false" tIns="0" lIns="0" bIns="0" rIns="0">
            <a:spAutoFit/>
          </a:bodyPr>
          <a:lstStyle/>
          <a:p>
            <a:pPr algn="ctr">
              <a:lnSpc>
                <a:spcPts val="3800"/>
              </a:lnSpc>
              <a:spcBef>
                <a:spcPct val="0"/>
              </a:spcBef>
            </a:pPr>
            <a:r>
              <a:rPr lang="en-US" b="true" sz="3619">
                <a:solidFill>
                  <a:srgbClr val="FFFFFF"/>
                </a:solidFill>
                <a:latin typeface="Garet Bold"/>
                <a:ea typeface="Garet Bold"/>
                <a:cs typeface="Garet Bold"/>
                <a:sym typeface="Garet Bold"/>
              </a:rPr>
              <a:t>BELİRSİZLİK ALTINDA PERT ANALİZİ</a:t>
            </a:r>
          </a:p>
        </p:txBody>
      </p:sp>
      <p:sp>
        <p:nvSpPr>
          <p:cNvPr name="TextBox 4" id="4"/>
          <p:cNvSpPr txBox="true"/>
          <p:nvPr/>
        </p:nvSpPr>
        <p:spPr>
          <a:xfrm rot="0">
            <a:off x="3589114" y="1272628"/>
            <a:ext cx="11241530" cy="3712817"/>
          </a:xfrm>
          <a:prstGeom prst="rect">
            <a:avLst/>
          </a:prstGeom>
        </p:spPr>
        <p:txBody>
          <a:bodyPr anchor="t" rtlCol="false" tIns="0" lIns="0" bIns="0" rIns="0">
            <a:spAutoFit/>
          </a:bodyPr>
          <a:lstStyle/>
          <a:p>
            <a:pPr algn="l">
              <a:lnSpc>
                <a:spcPts val="4201"/>
              </a:lnSpc>
            </a:pPr>
            <a:r>
              <a:rPr lang="en-US" sz="2800">
                <a:solidFill>
                  <a:srgbClr val="E5E3E6"/>
                </a:solidFill>
                <a:latin typeface="Garet"/>
                <a:ea typeface="Garet"/>
                <a:cs typeface="Garet"/>
                <a:sym typeface="Garet"/>
              </a:rPr>
              <a:t>PERT Tekniğinin Amacı;</a:t>
            </a:r>
          </a:p>
          <a:p>
            <a:pPr algn="l" marL="604677" indent="-302338" lvl="1">
              <a:lnSpc>
                <a:spcPts val="4201"/>
              </a:lnSpc>
              <a:buFont typeface="Arial"/>
              <a:buChar char="•"/>
            </a:pPr>
            <a:r>
              <a:rPr lang="en-US" sz="2800">
                <a:solidFill>
                  <a:srgbClr val="E5E3E6"/>
                </a:solidFill>
                <a:latin typeface="Garet"/>
                <a:ea typeface="Garet"/>
                <a:cs typeface="Garet"/>
                <a:sym typeface="Garet"/>
              </a:rPr>
              <a:t>CPM, sürelerin kesin olarak bilindiği projelerde kullanılır.</a:t>
            </a:r>
          </a:p>
          <a:p>
            <a:pPr algn="l" marL="604677" indent="-302338" lvl="1">
              <a:lnSpc>
                <a:spcPts val="4201"/>
              </a:lnSpc>
              <a:buFont typeface="Arial"/>
              <a:buChar char="•"/>
            </a:pPr>
            <a:r>
              <a:rPr lang="en-US" sz="2800">
                <a:solidFill>
                  <a:srgbClr val="E5E3E6"/>
                </a:solidFill>
                <a:latin typeface="Garet"/>
                <a:ea typeface="Garet"/>
                <a:cs typeface="Garet"/>
                <a:sym typeface="Garet"/>
              </a:rPr>
              <a:t>PERT, süre belirsizliği bulunan yazılım, Ar-Ge ve yenilikçi projelerde tercih edilir.</a:t>
            </a:r>
          </a:p>
          <a:p>
            <a:pPr algn="l" marL="604677" indent="-302338" lvl="1">
              <a:lnSpc>
                <a:spcPts val="4201"/>
              </a:lnSpc>
              <a:buFont typeface="Arial"/>
              <a:buChar char="•"/>
            </a:pPr>
            <a:r>
              <a:rPr lang="en-US" sz="2800">
                <a:solidFill>
                  <a:srgbClr val="E5E3E6"/>
                </a:solidFill>
                <a:latin typeface="Garet"/>
                <a:ea typeface="Garet"/>
                <a:cs typeface="Garet"/>
                <a:sym typeface="Garet"/>
              </a:rPr>
              <a:t>Belirsizlikleri dikkate alarak daha gerçekçi proje süresi tahminleri yapılmasını sağlar.</a:t>
            </a:r>
          </a:p>
          <a:p>
            <a:pPr algn="l">
              <a:lnSpc>
                <a:spcPts val="4201"/>
              </a:lnSpc>
              <a:spcBef>
                <a:spcPct val="0"/>
              </a:spcBef>
            </a:pPr>
          </a:p>
        </p:txBody>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8666424" y="4024009"/>
            <a:ext cx="8950678" cy="5870547"/>
          </a:xfrm>
          <a:custGeom>
            <a:avLst/>
            <a:gdLst/>
            <a:ahLst/>
            <a:cxnLst/>
            <a:rect r="r" b="b" t="t" l="l"/>
            <a:pathLst>
              <a:path h="5870547" w="8950678">
                <a:moveTo>
                  <a:pt x="0" y="0"/>
                </a:moveTo>
                <a:lnTo>
                  <a:pt x="8950678" y="0"/>
                </a:lnTo>
                <a:lnTo>
                  <a:pt x="8950678" y="5870547"/>
                </a:lnTo>
                <a:lnTo>
                  <a:pt x="0" y="5870547"/>
                </a:lnTo>
                <a:lnTo>
                  <a:pt x="0" y="0"/>
                </a:lnTo>
                <a:close/>
              </a:path>
            </a:pathLst>
          </a:custGeom>
          <a:blipFill>
            <a:blip r:embed="rId2"/>
            <a:stretch>
              <a:fillRect l="0" t="0" r="0" b="0"/>
            </a:stretch>
          </a:blipFill>
        </p:spPr>
      </p:sp>
      <p:sp>
        <p:nvSpPr>
          <p:cNvPr name="TextBox 3" id="3"/>
          <p:cNvSpPr txBox="true"/>
          <p:nvPr/>
        </p:nvSpPr>
        <p:spPr>
          <a:xfrm rot="0">
            <a:off x="736505" y="6272466"/>
            <a:ext cx="7443219" cy="1326009"/>
          </a:xfrm>
          <a:prstGeom prst="rect">
            <a:avLst/>
          </a:prstGeom>
        </p:spPr>
        <p:txBody>
          <a:bodyPr anchor="t" rtlCol="false" tIns="0" lIns="0" bIns="0" rIns="0">
            <a:spAutoFit/>
          </a:bodyPr>
          <a:lstStyle/>
          <a:p>
            <a:pPr algn="ctr">
              <a:lnSpc>
                <a:spcPts val="3562"/>
              </a:lnSpc>
              <a:spcBef>
                <a:spcPct val="0"/>
              </a:spcBef>
            </a:pPr>
            <a:r>
              <a:rPr lang="en-US" sz="2544" i="true">
                <a:solidFill>
                  <a:srgbClr val="FFFFFF"/>
                </a:solidFill>
                <a:latin typeface="Garet Italics"/>
                <a:ea typeface="Garet Italics"/>
                <a:cs typeface="Garet Italics"/>
                <a:sym typeface="Garet Italics"/>
              </a:rPr>
              <a:t>Deadline Restoran Otomasyon Sistemi projesi için belirlenen üçlü süre tahminleri yandaki tabloda verilmiştir:</a:t>
            </a:r>
          </a:p>
        </p:txBody>
      </p:sp>
      <p:sp>
        <p:nvSpPr>
          <p:cNvPr name="TextBox 4" id="4"/>
          <p:cNvSpPr txBox="true"/>
          <p:nvPr/>
        </p:nvSpPr>
        <p:spPr>
          <a:xfrm rot="0">
            <a:off x="3739127" y="664661"/>
            <a:ext cx="11021876" cy="3789470"/>
          </a:xfrm>
          <a:prstGeom prst="rect">
            <a:avLst/>
          </a:prstGeom>
        </p:spPr>
        <p:txBody>
          <a:bodyPr anchor="t" rtlCol="false" tIns="0" lIns="0" bIns="0" rIns="0">
            <a:spAutoFit/>
          </a:bodyPr>
          <a:lstStyle/>
          <a:p>
            <a:pPr algn="l">
              <a:lnSpc>
                <a:spcPts val="4304"/>
              </a:lnSpc>
            </a:pPr>
            <a:r>
              <a:rPr lang="en-US" sz="2869">
                <a:solidFill>
                  <a:srgbClr val="E5E3E6"/>
                </a:solidFill>
                <a:latin typeface="Garet"/>
                <a:ea typeface="Garet"/>
                <a:cs typeface="Garet"/>
                <a:sym typeface="Garet"/>
              </a:rPr>
              <a:t>PERT'te her faaliyet için üç farklı süre tahmini kullanılır:</a:t>
            </a:r>
          </a:p>
          <a:p>
            <a:pPr algn="l" marL="619559" indent="-309779" lvl="1">
              <a:lnSpc>
                <a:spcPts val="4304"/>
              </a:lnSpc>
              <a:buFont typeface="Arial"/>
              <a:buChar char="•"/>
            </a:pPr>
            <a:r>
              <a:rPr lang="en-US" sz="2869">
                <a:solidFill>
                  <a:srgbClr val="E5E3E6"/>
                </a:solidFill>
                <a:latin typeface="Garet"/>
                <a:ea typeface="Garet"/>
                <a:cs typeface="Garet"/>
                <a:sym typeface="Garet"/>
              </a:rPr>
              <a:t>İyimser Süre (a): En kısa süre</a:t>
            </a:r>
          </a:p>
          <a:p>
            <a:pPr algn="l" marL="619559" indent="-309779" lvl="1">
              <a:lnSpc>
                <a:spcPts val="4304"/>
              </a:lnSpc>
              <a:buFont typeface="Arial"/>
              <a:buChar char="•"/>
            </a:pPr>
            <a:r>
              <a:rPr lang="en-US" sz="2869">
                <a:solidFill>
                  <a:srgbClr val="E5E3E6"/>
                </a:solidFill>
                <a:latin typeface="Garet"/>
                <a:ea typeface="Garet"/>
                <a:cs typeface="Garet"/>
                <a:sym typeface="Garet"/>
              </a:rPr>
              <a:t>En Olası Süre (m): Beklenen süre</a:t>
            </a:r>
          </a:p>
          <a:p>
            <a:pPr algn="l" marL="619559" indent="-309779" lvl="1">
              <a:lnSpc>
                <a:spcPts val="4304"/>
              </a:lnSpc>
              <a:buFont typeface="Arial"/>
              <a:buChar char="•"/>
            </a:pPr>
            <a:r>
              <a:rPr lang="en-US" sz="2869">
                <a:solidFill>
                  <a:srgbClr val="E5E3E6"/>
                </a:solidFill>
                <a:latin typeface="Garet"/>
                <a:ea typeface="Garet"/>
                <a:cs typeface="Garet"/>
                <a:sym typeface="Garet"/>
              </a:rPr>
              <a:t>Kötümser Süre (b): En uzun süre</a:t>
            </a:r>
          </a:p>
          <a:p>
            <a:pPr algn="l">
              <a:lnSpc>
                <a:spcPts val="4304"/>
              </a:lnSpc>
            </a:pPr>
            <a:r>
              <a:rPr lang="en-US" sz="2869">
                <a:solidFill>
                  <a:srgbClr val="E5E3E6"/>
                </a:solidFill>
                <a:latin typeface="Garet"/>
                <a:ea typeface="Garet"/>
                <a:cs typeface="Garet"/>
                <a:sym typeface="Garet"/>
              </a:rPr>
              <a:t>Bu tahminler, uzman görüşlerine dayanan Delphi Tekniği ile belirlenir.</a:t>
            </a:r>
          </a:p>
          <a:p>
            <a:pPr algn="l">
              <a:lnSpc>
                <a:spcPts val="4304"/>
              </a:lnSpc>
              <a:spcBef>
                <a:spcPct val="0"/>
              </a:spcBef>
            </a:pPr>
          </a:p>
        </p:txBody>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3D3D47"/>
        </a:solidFill>
      </p:bgPr>
    </p:bg>
    <p:spTree>
      <p:nvGrpSpPr>
        <p:cNvPr id="1" name=""/>
        <p:cNvGrpSpPr/>
        <p:nvPr/>
      </p:nvGrpSpPr>
      <p:grpSpPr>
        <a:xfrm>
          <a:off x="0" y="0"/>
          <a:ext cx="0" cy="0"/>
          <a:chOff x="0" y="0"/>
          <a:chExt cx="0" cy="0"/>
        </a:xfrm>
      </p:grpSpPr>
      <p:sp>
        <p:nvSpPr>
          <p:cNvPr name="Freeform 2" id="2"/>
          <p:cNvSpPr/>
          <p:nvPr/>
        </p:nvSpPr>
        <p:spPr>
          <a:xfrm flipH="true" flipV="false" rot="0">
            <a:off x="1077038" y="-1262855"/>
            <a:ext cx="16551394" cy="16551394"/>
          </a:xfrm>
          <a:custGeom>
            <a:avLst/>
            <a:gdLst/>
            <a:ahLst/>
            <a:cxnLst/>
            <a:rect r="r" b="b" t="t" l="l"/>
            <a:pathLst>
              <a:path h="16551394" w="16551394">
                <a:moveTo>
                  <a:pt x="16551395" y="0"/>
                </a:moveTo>
                <a:lnTo>
                  <a:pt x="0" y="0"/>
                </a:lnTo>
                <a:lnTo>
                  <a:pt x="0" y="16551394"/>
                </a:lnTo>
                <a:lnTo>
                  <a:pt x="16551395" y="16551394"/>
                </a:lnTo>
                <a:lnTo>
                  <a:pt x="16551395" y="0"/>
                </a:lnTo>
                <a:close/>
              </a:path>
            </a:pathLst>
          </a:custGeom>
          <a:blipFill>
            <a:blip r:embed="rId2">
              <a:extLst>
                <a:ext uri="{96DAC541-7B7A-43D3-8B79-37D633B846F1}">
                  <asvg:svgBlip xmlns:asvg="http://schemas.microsoft.com/office/drawing/2016/SVG/main" r:embed="rId3"/>
                </a:ext>
              </a:extLst>
            </a:blip>
            <a:stretch>
              <a:fillRect l="0" t="0" r="0" b="0"/>
            </a:stretch>
          </a:blipFill>
          <a:ln cap="rnd">
            <a:noFill/>
            <a:prstDash val="solid"/>
            <a:round/>
          </a:ln>
        </p:spPr>
      </p:sp>
      <p:sp>
        <p:nvSpPr>
          <p:cNvPr name="Freeform 3" id="3"/>
          <p:cNvSpPr/>
          <p:nvPr/>
        </p:nvSpPr>
        <p:spPr>
          <a:xfrm flipH="false" flipV="false" rot="0">
            <a:off x="444718" y="2917007"/>
            <a:ext cx="7548032" cy="6341293"/>
          </a:xfrm>
          <a:custGeom>
            <a:avLst/>
            <a:gdLst/>
            <a:ahLst/>
            <a:cxnLst/>
            <a:rect r="r" b="b" t="t" l="l"/>
            <a:pathLst>
              <a:path h="6341293" w="7548032">
                <a:moveTo>
                  <a:pt x="0" y="0"/>
                </a:moveTo>
                <a:lnTo>
                  <a:pt x="7548032" y="0"/>
                </a:lnTo>
                <a:lnTo>
                  <a:pt x="7548032" y="6341293"/>
                </a:lnTo>
                <a:lnTo>
                  <a:pt x="0" y="6341293"/>
                </a:lnTo>
                <a:lnTo>
                  <a:pt x="0" y="0"/>
                </a:lnTo>
                <a:close/>
              </a:path>
            </a:pathLst>
          </a:custGeom>
          <a:blipFill>
            <a:blip r:embed="rId4"/>
            <a:stretch>
              <a:fillRect l="0" t="0" r="0" b="0"/>
            </a:stretch>
          </a:blipFill>
        </p:spPr>
      </p:sp>
      <p:sp>
        <p:nvSpPr>
          <p:cNvPr name="Freeform 4" id="4"/>
          <p:cNvSpPr/>
          <p:nvPr/>
        </p:nvSpPr>
        <p:spPr>
          <a:xfrm flipH="false" flipV="false" rot="0">
            <a:off x="16230600" y="-20574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594741" y="4038623"/>
            <a:ext cx="9405664" cy="4363533"/>
          </a:xfrm>
          <a:custGeom>
            <a:avLst/>
            <a:gdLst/>
            <a:ahLst/>
            <a:cxnLst/>
            <a:rect r="r" b="b" t="t" l="l"/>
            <a:pathLst>
              <a:path h="4363533" w="9405664">
                <a:moveTo>
                  <a:pt x="0" y="0"/>
                </a:moveTo>
                <a:lnTo>
                  <a:pt x="9405664" y="0"/>
                </a:lnTo>
                <a:lnTo>
                  <a:pt x="9405664" y="4363533"/>
                </a:lnTo>
                <a:lnTo>
                  <a:pt x="0" y="4363533"/>
                </a:lnTo>
                <a:lnTo>
                  <a:pt x="0" y="0"/>
                </a:lnTo>
                <a:close/>
              </a:path>
            </a:pathLst>
          </a:custGeom>
          <a:blipFill>
            <a:blip r:embed="rId7"/>
            <a:stretch>
              <a:fillRect l="0" t="-802" r="0" b="-802"/>
            </a:stretch>
          </a:blipFill>
        </p:spPr>
      </p:sp>
      <p:sp>
        <p:nvSpPr>
          <p:cNvPr name="TextBox 6" id="6"/>
          <p:cNvSpPr txBox="true"/>
          <p:nvPr/>
        </p:nvSpPr>
        <p:spPr>
          <a:xfrm rot="0">
            <a:off x="9612304" y="2186383"/>
            <a:ext cx="8016128" cy="1281039"/>
          </a:xfrm>
          <a:prstGeom prst="rect">
            <a:avLst/>
          </a:prstGeom>
        </p:spPr>
        <p:txBody>
          <a:bodyPr anchor="t" rtlCol="false" tIns="0" lIns="0" bIns="0" rIns="0">
            <a:spAutoFit/>
          </a:bodyPr>
          <a:lstStyle/>
          <a:p>
            <a:pPr algn="ctr">
              <a:lnSpc>
                <a:spcPts val="3420"/>
              </a:lnSpc>
              <a:spcBef>
                <a:spcPct val="0"/>
              </a:spcBef>
            </a:pPr>
            <a:r>
              <a:rPr lang="en-US" sz="2630">
                <a:solidFill>
                  <a:srgbClr val="FFFFFF"/>
                </a:solidFill>
                <a:latin typeface="Garet"/>
                <a:ea typeface="Garet"/>
                <a:cs typeface="Garet"/>
                <a:sym typeface="Garet"/>
              </a:rPr>
              <a:t>Bu formüller kullanılarak elde edilen beklenen süre ve varyans değerleri aşağıdaki tabloda gösterilmektedir.</a:t>
            </a:r>
          </a:p>
        </p:txBody>
      </p:sp>
      <p:sp>
        <p:nvSpPr>
          <p:cNvPr name="TextBox 7" id="7"/>
          <p:cNvSpPr txBox="true"/>
          <p:nvPr/>
        </p:nvSpPr>
        <p:spPr>
          <a:xfrm rot="0">
            <a:off x="444718" y="542685"/>
            <a:ext cx="8991941" cy="1672273"/>
          </a:xfrm>
          <a:prstGeom prst="rect">
            <a:avLst/>
          </a:prstGeom>
        </p:spPr>
        <p:txBody>
          <a:bodyPr anchor="t" rtlCol="false" tIns="0" lIns="0" bIns="0" rIns="0">
            <a:spAutoFit/>
          </a:bodyPr>
          <a:lstStyle/>
          <a:p>
            <a:pPr algn="ctr">
              <a:lnSpc>
                <a:spcPts val="3347"/>
              </a:lnSpc>
              <a:spcBef>
                <a:spcPct val="0"/>
              </a:spcBef>
            </a:pPr>
            <a:r>
              <a:rPr lang="en-US" sz="2574">
                <a:solidFill>
                  <a:srgbClr val="FFFFFF"/>
                </a:solidFill>
                <a:latin typeface="Garet"/>
                <a:ea typeface="Garet"/>
                <a:cs typeface="Garet"/>
                <a:sym typeface="Garet"/>
              </a:rPr>
              <a:t>PERT yöntemine göre faaliyet süreleri istatistiksel olarak Beta Dağılımına uyar. </a:t>
            </a:r>
          </a:p>
          <a:p>
            <a:pPr algn="ctr">
              <a:lnSpc>
                <a:spcPts val="3347"/>
              </a:lnSpc>
              <a:spcBef>
                <a:spcPct val="0"/>
              </a:spcBef>
            </a:pPr>
            <a:r>
              <a:rPr lang="en-US" sz="2574">
                <a:solidFill>
                  <a:srgbClr val="FFFFFF"/>
                </a:solidFill>
                <a:latin typeface="Garet"/>
                <a:ea typeface="Garet"/>
                <a:cs typeface="Garet"/>
                <a:sym typeface="Garet"/>
              </a:rPr>
              <a:t>Bu yaklaşımla: Beklenen Süre ve Varyans değerleri aşağıdaki formüllerle elde edilir:</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3645897" y="96256"/>
            <a:ext cx="10996207" cy="742950"/>
          </a:xfrm>
          <a:prstGeom prst="rect">
            <a:avLst/>
          </a:prstGeom>
        </p:spPr>
        <p:txBody>
          <a:bodyPr anchor="t" rtlCol="false" tIns="0" lIns="0" bIns="0" rIns="0">
            <a:spAutoFit/>
          </a:bodyPr>
          <a:lstStyle/>
          <a:p>
            <a:pPr algn="ctr" marL="0" indent="0" lvl="0">
              <a:lnSpc>
                <a:spcPts val="5812"/>
              </a:lnSpc>
              <a:spcBef>
                <a:spcPct val="0"/>
              </a:spcBef>
            </a:pPr>
            <a:r>
              <a:rPr lang="en-US" b="true" sz="4843" strike="noStrike" u="none">
                <a:solidFill>
                  <a:srgbClr val="FFFFFF"/>
                </a:solidFill>
                <a:latin typeface="Garet Bold"/>
                <a:ea typeface="Garet Bold"/>
                <a:cs typeface="Garet Bold"/>
                <a:sym typeface="Garet Bold"/>
              </a:rPr>
              <a:t>Kritik Yol Hesaplamaları</a:t>
            </a:r>
          </a:p>
        </p:txBody>
      </p:sp>
      <p:sp>
        <p:nvSpPr>
          <p:cNvPr name="TextBox 3" id="3"/>
          <p:cNvSpPr txBox="true"/>
          <p:nvPr/>
        </p:nvSpPr>
        <p:spPr>
          <a:xfrm rot="0">
            <a:off x="323201" y="1987745"/>
            <a:ext cx="7688165" cy="481330"/>
          </a:xfrm>
          <a:prstGeom prst="rect">
            <a:avLst/>
          </a:prstGeom>
        </p:spPr>
        <p:txBody>
          <a:bodyPr anchor="t" rtlCol="false" tIns="0" lIns="0" bIns="0" rIns="0">
            <a:spAutoFit/>
          </a:bodyPr>
          <a:lstStyle/>
          <a:p>
            <a:pPr algn="ctr">
              <a:lnSpc>
                <a:spcPts val="3740"/>
              </a:lnSpc>
              <a:spcBef>
                <a:spcPct val="0"/>
              </a:spcBef>
            </a:pPr>
            <a:r>
              <a:rPr lang="en-US" b="true" sz="3400" i="true">
                <a:solidFill>
                  <a:srgbClr val="FFFFFF"/>
                </a:solidFill>
                <a:latin typeface="Garet Bold Italics"/>
                <a:ea typeface="Garet Bold Italics"/>
                <a:cs typeface="Garet Bold Italics"/>
                <a:sym typeface="Garet Bold Italics"/>
              </a:rPr>
              <a:t>Kritik Yolun Beklenen Süresi</a:t>
            </a:r>
          </a:p>
        </p:txBody>
      </p:sp>
      <p:sp>
        <p:nvSpPr>
          <p:cNvPr name="TextBox 4" id="4"/>
          <p:cNvSpPr txBox="true"/>
          <p:nvPr/>
        </p:nvSpPr>
        <p:spPr>
          <a:xfrm rot="0">
            <a:off x="1904464" y="5172075"/>
            <a:ext cx="4026098" cy="481330"/>
          </a:xfrm>
          <a:prstGeom prst="rect">
            <a:avLst/>
          </a:prstGeom>
        </p:spPr>
        <p:txBody>
          <a:bodyPr anchor="t" rtlCol="false" tIns="0" lIns="0" bIns="0" rIns="0">
            <a:spAutoFit/>
          </a:bodyPr>
          <a:lstStyle/>
          <a:p>
            <a:pPr algn="ctr">
              <a:lnSpc>
                <a:spcPts val="3740"/>
              </a:lnSpc>
              <a:spcBef>
                <a:spcPct val="0"/>
              </a:spcBef>
            </a:pPr>
            <a:r>
              <a:rPr lang="en-US" b="true" sz="3400" i="true">
                <a:solidFill>
                  <a:srgbClr val="FFFFFF"/>
                </a:solidFill>
                <a:latin typeface="Garet Bold Italics"/>
                <a:ea typeface="Garet Bold Italics"/>
                <a:cs typeface="Garet Bold Italics"/>
                <a:sym typeface="Garet Bold Italics"/>
              </a:rPr>
              <a:t>Kritik Yol Varyansı</a:t>
            </a:r>
          </a:p>
        </p:txBody>
      </p:sp>
      <p:sp>
        <p:nvSpPr>
          <p:cNvPr name="TextBox 5" id="5"/>
          <p:cNvSpPr txBox="true"/>
          <p:nvPr/>
        </p:nvSpPr>
        <p:spPr>
          <a:xfrm rot="0">
            <a:off x="1227422" y="8279035"/>
            <a:ext cx="6135648" cy="481330"/>
          </a:xfrm>
          <a:prstGeom prst="rect">
            <a:avLst/>
          </a:prstGeom>
        </p:spPr>
        <p:txBody>
          <a:bodyPr anchor="t" rtlCol="false" tIns="0" lIns="0" bIns="0" rIns="0">
            <a:spAutoFit/>
          </a:bodyPr>
          <a:lstStyle/>
          <a:p>
            <a:pPr algn="ctr">
              <a:lnSpc>
                <a:spcPts val="3740"/>
              </a:lnSpc>
              <a:spcBef>
                <a:spcPct val="0"/>
              </a:spcBef>
            </a:pPr>
            <a:r>
              <a:rPr lang="en-US" b="true" sz="3400" i="true">
                <a:solidFill>
                  <a:srgbClr val="FFFFFF"/>
                </a:solidFill>
                <a:latin typeface="Garet Bold Italics"/>
                <a:ea typeface="Garet Bold Italics"/>
                <a:cs typeface="Garet Bold Italics"/>
                <a:sym typeface="Garet Bold Italics"/>
              </a:rPr>
              <a:t>Kritik Yol Standart Sapması</a:t>
            </a:r>
          </a:p>
        </p:txBody>
      </p:sp>
      <p:sp>
        <p:nvSpPr>
          <p:cNvPr name="Freeform 6" id="6"/>
          <p:cNvSpPr/>
          <p:nvPr/>
        </p:nvSpPr>
        <p:spPr>
          <a:xfrm flipH="false" flipV="false" rot="0">
            <a:off x="16236211" y="8229600"/>
            <a:ext cx="2046178" cy="2057400"/>
          </a:xfrm>
          <a:custGeom>
            <a:avLst/>
            <a:gdLst/>
            <a:ahLst/>
            <a:cxnLst/>
            <a:rect r="r" b="b" t="t" l="l"/>
            <a:pathLst>
              <a:path h="2057400" w="2046178">
                <a:moveTo>
                  <a:pt x="0" y="0"/>
                </a:moveTo>
                <a:lnTo>
                  <a:pt x="2046178" y="0"/>
                </a:lnTo>
                <a:lnTo>
                  <a:pt x="2046178"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306342" y="1066800"/>
            <a:ext cx="5675315" cy="492125"/>
          </a:xfrm>
          <a:prstGeom prst="rect">
            <a:avLst/>
          </a:prstGeom>
        </p:spPr>
        <p:txBody>
          <a:bodyPr anchor="t" rtlCol="false" tIns="0" lIns="0" bIns="0" rIns="0">
            <a:spAutoFit/>
          </a:bodyPr>
          <a:lstStyle/>
          <a:p>
            <a:pPr algn="ctr">
              <a:lnSpc>
                <a:spcPts val="3850"/>
              </a:lnSpc>
              <a:spcBef>
                <a:spcPct val="0"/>
              </a:spcBef>
            </a:pPr>
            <a:r>
              <a:rPr lang="en-US" b="true" sz="3500">
                <a:solidFill>
                  <a:srgbClr val="FFFFFF"/>
                </a:solidFill>
                <a:latin typeface="Garet Bold"/>
                <a:ea typeface="Garet Bold"/>
                <a:cs typeface="Garet Bold"/>
                <a:sym typeface="Garet Bold"/>
              </a:rPr>
              <a:t> A → B → C → E → G → H</a:t>
            </a:r>
          </a:p>
        </p:txBody>
      </p:sp>
      <p:sp>
        <p:nvSpPr>
          <p:cNvPr name="TextBox 8" id="8"/>
          <p:cNvSpPr txBox="true"/>
          <p:nvPr/>
        </p:nvSpPr>
        <p:spPr>
          <a:xfrm rot="0">
            <a:off x="447086" y="2924874"/>
            <a:ext cx="8404860" cy="481330"/>
          </a:xfrm>
          <a:prstGeom prst="rect">
            <a:avLst/>
          </a:prstGeom>
        </p:spPr>
        <p:txBody>
          <a:bodyPr anchor="t" rtlCol="false" tIns="0" lIns="0" bIns="0" rIns="0">
            <a:spAutoFit/>
          </a:bodyPr>
          <a:lstStyle/>
          <a:p>
            <a:pPr algn="ctr">
              <a:lnSpc>
                <a:spcPts val="3740"/>
              </a:lnSpc>
              <a:spcBef>
                <a:spcPct val="0"/>
              </a:spcBef>
            </a:pPr>
            <a:r>
              <a:rPr lang="en-US" sz="3400">
                <a:solidFill>
                  <a:srgbClr val="FFFFFF"/>
                </a:solidFill>
                <a:latin typeface="Garet"/>
                <a:ea typeface="Garet"/>
                <a:cs typeface="Garet"/>
                <a:sym typeface="Garet"/>
              </a:rPr>
              <a:t>μ = 7.50 + 5.50 + 15.17 + 14.67 + 7.67 + 5.50</a:t>
            </a:r>
          </a:p>
        </p:txBody>
      </p:sp>
      <p:sp>
        <p:nvSpPr>
          <p:cNvPr name="TextBox 9" id="9"/>
          <p:cNvSpPr txBox="true"/>
          <p:nvPr/>
        </p:nvSpPr>
        <p:spPr>
          <a:xfrm rot="0">
            <a:off x="447086" y="3579910"/>
            <a:ext cx="2809042" cy="481330"/>
          </a:xfrm>
          <a:prstGeom prst="rect">
            <a:avLst/>
          </a:prstGeom>
        </p:spPr>
        <p:txBody>
          <a:bodyPr anchor="t" rtlCol="false" tIns="0" lIns="0" bIns="0" rIns="0">
            <a:spAutoFit/>
          </a:bodyPr>
          <a:lstStyle/>
          <a:p>
            <a:pPr algn="ctr">
              <a:lnSpc>
                <a:spcPts val="3740"/>
              </a:lnSpc>
              <a:spcBef>
                <a:spcPct val="0"/>
              </a:spcBef>
            </a:pPr>
            <a:r>
              <a:rPr lang="en-US" sz="3400">
                <a:solidFill>
                  <a:srgbClr val="FFFFFF"/>
                </a:solidFill>
                <a:latin typeface="Garet"/>
                <a:ea typeface="Garet"/>
                <a:cs typeface="Garet"/>
                <a:sym typeface="Garet"/>
              </a:rPr>
              <a:t>μ = 56.01 gün</a:t>
            </a:r>
          </a:p>
        </p:txBody>
      </p:sp>
      <p:sp>
        <p:nvSpPr>
          <p:cNvPr name="TextBox 10" id="10"/>
          <p:cNvSpPr txBox="true"/>
          <p:nvPr/>
        </p:nvSpPr>
        <p:spPr>
          <a:xfrm rot="0">
            <a:off x="323201" y="5913850"/>
            <a:ext cx="8445461" cy="481330"/>
          </a:xfrm>
          <a:prstGeom prst="rect">
            <a:avLst/>
          </a:prstGeom>
        </p:spPr>
        <p:txBody>
          <a:bodyPr anchor="t" rtlCol="false" tIns="0" lIns="0" bIns="0" rIns="0">
            <a:spAutoFit/>
          </a:bodyPr>
          <a:lstStyle/>
          <a:p>
            <a:pPr algn="ctr">
              <a:lnSpc>
                <a:spcPts val="3740"/>
              </a:lnSpc>
              <a:spcBef>
                <a:spcPct val="0"/>
              </a:spcBef>
            </a:pPr>
            <a:r>
              <a:rPr lang="en-US" sz="3400">
                <a:solidFill>
                  <a:srgbClr val="FFFFFF"/>
                </a:solidFill>
                <a:latin typeface="Garet"/>
                <a:ea typeface="Garet"/>
                <a:cs typeface="Garet"/>
                <a:sym typeface="Garet"/>
              </a:rPr>
              <a:t>Vp = 1.36 + 1.36 + 6.25 + 4.00 + 2.78 + 1.36</a:t>
            </a:r>
          </a:p>
        </p:txBody>
      </p:sp>
      <p:sp>
        <p:nvSpPr>
          <p:cNvPr name="TextBox 11" id="11"/>
          <p:cNvSpPr txBox="true"/>
          <p:nvPr/>
        </p:nvSpPr>
        <p:spPr>
          <a:xfrm rot="0">
            <a:off x="331298" y="6691498"/>
            <a:ext cx="1792248" cy="481330"/>
          </a:xfrm>
          <a:prstGeom prst="rect">
            <a:avLst/>
          </a:prstGeom>
        </p:spPr>
        <p:txBody>
          <a:bodyPr anchor="t" rtlCol="false" tIns="0" lIns="0" bIns="0" rIns="0">
            <a:spAutoFit/>
          </a:bodyPr>
          <a:lstStyle/>
          <a:p>
            <a:pPr algn="ctr">
              <a:lnSpc>
                <a:spcPts val="3740"/>
              </a:lnSpc>
              <a:spcBef>
                <a:spcPct val="0"/>
              </a:spcBef>
            </a:pPr>
            <a:r>
              <a:rPr lang="en-US" sz="3400">
                <a:solidFill>
                  <a:srgbClr val="FFFFFF"/>
                </a:solidFill>
                <a:latin typeface="Garet"/>
                <a:ea typeface="Garet"/>
                <a:cs typeface="Garet"/>
                <a:sym typeface="Garet"/>
              </a:rPr>
              <a:t>Vp = 17.11</a:t>
            </a:r>
          </a:p>
        </p:txBody>
      </p:sp>
      <p:sp>
        <p:nvSpPr>
          <p:cNvPr name="TextBox 12" id="12"/>
          <p:cNvSpPr txBox="true"/>
          <p:nvPr/>
        </p:nvSpPr>
        <p:spPr>
          <a:xfrm rot="0">
            <a:off x="2044570" y="9032463"/>
            <a:ext cx="3959662" cy="481330"/>
          </a:xfrm>
          <a:prstGeom prst="rect">
            <a:avLst/>
          </a:prstGeom>
        </p:spPr>
        <p:txBody>
          <a:bodyPr anchor="t" rtlCol="false" tIns="0" lIns="0" bIns="0" rIns="0">
            <a:spAutoFit/>
          </a:bodyPr>
          <a:lstStyle/>
          <a:p>
            <a:pPr algn="ctr">
              <a:lnSpc>
                <a:spcPts val="3740"/>
              </a:lnSpc>
              <a:spcBef>
                <a:spcPct val="0"/>
              </a:spcBef>
            </a:pPr>
            <a:r>
              <a:rPr lang="en-US" sz="3400">
                <a:solidFill>
                  <a:srgbClr val="FFFFFF"/>
                </a:solidFill>
                <a:latin typeface="Garet"/>
                <a:ea typeface="Garet"/>
                <a:cs typeface="Garet"/>
                <a:sym typeface="Garet"/>
              </a:rPr>
              <a:t>σ = √17.11 = 4.14 gün</a:t>
            </a:r>
          </a:p>
        </p:txBody>
      </p:sp>
      <p:sp>
        <p:nvSpPr>
          <p:cNvPr name="TextBox 13" id="13"/>
          <p:cNvSpPr txBox="true"/>
          <p:nvPr/>
        </p:nvSpPr>
        <p:spPr>
          <a:xfrm rot="0">
            <a:off x="9909550" y="4153535"/>
            <a:ext cx="7757599" cy="2756535"/>
          </a:xfrm>
          <a:prstGeom prst="rect">
            <a:avLst/>
          </a:prstGeom>
        </p:spPr>
        <p:txBody>
          <a:bodyPr anchor="t" rtlCol="false" tIns="0" lIns="0" bIns="0" rIns="0">
            <a:spAutoFit/>
          </a:bodyPr>
          <a:lstStyle/>
          <a:p>
            <a:pPr algn="ctr">
              <a:lnSpc>
                <a:spcPts val="3630"/>
              </a:lnSpc>
            </a:pPr>
            <a:r>
              <a:rPr lang="en-US" sz="3300" i="true">
                <a:solidFill>
                  <a:srgbClr val="FFFFFF"/>
                </a:solidFill>
                <a:latin typeface="Garet Italics"/>
                <a:ea typeface="Garet Italics"/>
                <a:cs typeface="Garet Italics"/>
                <a:sym typeface="Garet Italics"/>
              </a:rPr>
              <a:t>⭐ </a:t>
            </a:r>
            <a:r>
              <a:rPr lang="en-US" sz="3300" i="true">
                <a:solidFill>
                  <a:srgbClr val="FFFFFF"/>
                </a:solidFill>
                <a:latin typeface="Garet Italics"/>
                <a:ea typeface="Garet Italics"/>
                <a:cs typeface="Garet Italics"/>
                <a:sym typeface="Garet Italics"/>
              </a:rPr>
              <a:t>Merkezi Limit Teoremine göre kritik yol üzerindeki faaliyet sürelerinin toplamı yaklaşık normal dağılım gösterir. Bu nedenle proje tamamlanma olasılıkları Z-Skoru ile hesaplanabilir.</a:t>
            </a:r>
          </a:p>
        </p:txBody>
      </p:sp>
    </p:spTree>
  </p:cSld>
  <p:clrMapOvr>
    <a:masterClrMapping/>
  </p:clrMapOvr>
  <p:transition spd="slow">
    <p:push dir="l"/>
  </p:transition>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9774012" y="1229155"/>
            <a:ext cx="2457042" cy="1071864"/>
          </a:xfrm>
          <a:custGeom>
            <a:avLst/>
            <a:gdLst/>
            <a:ahLst/>
            <a:cxnLst/>
            <a:rect r="r" b="b" t="t" l="l"/>
            <a:pathLst>
              <a:path h="1071864" w="2457042">
                <a:moveTo>
                  <a:pt x="0" y="0"/>
                </a:moveTo>
                <a:lnTo>
                  <a:pt x="2457042" y="0"/>
                </a:lnTo>
                <a:lnTo>
                  <a:pt x="2457042" y="1071864"/>
                </a:lnTo>
                <a:lnTo>
                  <a:pt x="0" y="1071864"/>
                </a:lnTo>
                <a:lnTo>
                  <a:pt x="0" y="0"/>
                </a:lnTo>
                <a:close/>
              </a:path>
            </a:pathLst>
          </a:custGeom>
          <a:blipFill>
            <a:blip r:embed="rId2"/>
            <a:stretch>
              <a:fillRect l="0" t="0" r="0" b="0"/>
            </a:stretch>
          </a:blipFill>
        </p:spPr>
      </p:sp>
      <p:sp>
        <p:nvSpPr>
          <p:cNvPr name="Freeform 3" id="3"/>
          <p:cNvSpPr/>
          <p:nvPr/>
        </p:nvSpPr>
        <p:spPr>
          <a:xfrm flipH="false" flipV="false" rot="0">
            <a:off x="15069527" y="9451344"/>
            <a:ext cx="1733826" cy="835656"/>
          </a:xfrm>
          <a:custGeom>
            <a:avLst/>
            <a:gdLst/>
            <a:ahLst/>
            <a:cxnLst/>
            <a:rect r="r" b="b" t="t" l="l"/>
            <a:pathLst>
              <a:path h="835656" w="1733826">
                <a:moveTo>
                  <a:pt x="0" y="0"/>
                </a:moveTo>
                <a:lnTo>
                  <a:pt x="1733826" y="0"/>
                </a:lnTo>
                <a:lnTo>
                  <a:pt x="1733826" y="835656"/>
                </a:lnTo>
                <a:lnTo>
                  <a:pt x="0" y="835656"/>
                </a:lnTo>
                <a:lnTo>
                  <a:pt x="0" y="0"/>
                </a:lnTo>
                <a:close/>
              </a:path>
            </a:pathLst>
          </a:custGeom>
          <a:blipFill>
            <a:blip r:embed="rId3">
              <a:extLst>
                <a:ext uri="{96DAC541-7B7A-43D3-8B79-37D633B846F1}">
                  <asvg:svgBlip xmlns:asvg="http://schemas.microsoft.com/office/drawing/2016/SVG/main" r:embed="rId4"/>
                </a:ext>
              </a:extLst>
            </a:blip>
            <a:stretch>
              <a:fillRect l="0" t="0" r="0" b="-107480"/>
            </a:stretch>
          </a:blipFill>
        </p:spPr>
      </p:sp>
      <p:sp>
        <p:nvSpPr>
          <p:cNvPr name="Freeform 4" id="4"/>
          <p:cNvSpPr/>
          <p:nvPr/>
        </p:nvSpPr>
        <p:spPr>
          <a:xfrm flipH="false" flipV="false" rot="0">
            <a:off x="16641556" y="9493460"/>
            <a:ext cx="1646444" cy="793540"/>
          </a:xfrm>
          <a:custGeom>
            <a:avLst/>
            <a:gdLst/>
            <a:ahLst/>
            <a:cxnLst/>
            <a:rect r="r" b="b" t="t" l="l"/>
            <a:pathLst>
              <a:path h="793540" w="1646444">
                <a:moveTo>
                  <a:pt x="0" y="0"/>
                </a:moveTo>
                <a:lnTo>
                  <a:pt x="1646444" y="0"/>
                </a:lnTo>
                <a:lnTo>
                  <a:pt x="1646444" y="793540"/>
                </a:lnTo>
                <a:lnTo>
                  <a:pt x="0" y="793540"/>
                </a:lnTo>
                <a:lnTo>
                  <a:pt x="0" y="0"/>
                </a:lnTo>
                <a:close/>
              </a:path>
            </a:pathLst>
          </a:custGeom>
          <a:blipFill>
            <a:blip r:embed="rId5">
              <a:extLst>
                <a:ext uri="{96DAC541-7B7A-43D3-8B79-37D633B846F1}">
                  <asvg:svgBlip xmlns:asvg="http://schemas.microsoft.com/office/drawing/2016/SVG/main" r:embed="rId6"/>
                </a:ext>
              </a:extLst>
            </a:blip>
            <a:stretch>
              <a:fillRect l="0" t="0" r="0" b="-107480"/>
            </a:stretch>
          </a:blipFill>
        </p:spPr>
      </p:sp>
      <p:graphicFrame>
        <p:nvGraphicFramePr>
          <p:cNvPr name="Object 5" id="5"/>
          <p:cNvGraphicFramePr/>
          <p:nvPr/>
        </p:nvGraphicFramePr>
        <p:xfrm>
          <a:off x="226690" y="3102778"/>
          <a:ext cx="7543800" cy="2514600"/>
        </p:xfrm>
        <a:graphic>
          <a:graphicData uri="http://schemas.openxmlformats.org/presentationml/2006/ole">
            <p:oleObj imgW="9042400" imgH="4013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6" id="6"/>
          <p:cNvSpPr txBox="true"/>
          <p:nvPr/>
        </p:nvSpPr>
        <p:spPr>
          <a:xfrm rot="0">
            <a:off x="4454851" y="306289"/>
            <a:ext cx="8653146" cy="556717"/>
          </a:xfrm>
          <a:prstGeom prst="rect">
            <a:avLst/>
          </a:prstGeom>
        </p:spPr>
        <p:txBody>
          <a:bodyPr anchor="t" rtlCol="false" tIns="0" lIns="0" bIns="0" rIns="0">
            <a:spAutoFit/>
          </a:bodyPr>
          <a:lstStyle/>
          <a:p>
            <a:pPr algn="ctr">
              <a:lnSpc>
                <a:spcPts val="4438"/>
              </a:lnSpc>
              <a:spcBef>
                <a:spcPct val="0"/>
              </a:spcBef>
            </a:pPr>
            <a:r>
              <a:rPr lang="en-US" b="true" sz="3414">
                <a:solidFill>
                  <a:srgbClr val="FFFFFF"/>
                </a:solidFill>
                <a:latin typeface="Garet Bold"/>
                <a:ea typeface="Garet Bold"/>
                <a:cs typeface="Garet Bold"/>
                <a:sym typeface="Garet Bold"/>
              </a:rPr>
              <a:t>Proje Tamamlanma Olasılığı (Z-Skoru)</a:t>
            </a:r>
          </a:p>
        </p:txBody>
      </p:sp>
      <p:sp>
        <p:nvSpPr>
          <p:cNvPr name="TextBox 7" id="7"/>
          <p:cNvSpPr txBox="true"/>
          <p:nvPr/>
        </p:nvSpPr>
        <p:spPr>
          <a:xfrm rot="0">
            <a:off x="5733643" y="1501067"/>
            <a:ext cx="3815358" cy="547078"/>
          </a:xfrm>
          <a:prstGeom prst="rect">
            <a:avLst/>
          </a:prstGeom>
        </p:spPr>
        <p:txBody>
          <a:bodyPr anchor="t" rtlCol="false" tIns="0" lIns="0" bIns="0" rIns="0">
            <a:spAutoFit/>
          </a:bodyPr>
          <a:lstStyle/>
          <a:p>
            <a:pPr algn="ctr">
              <a:lnSpc>
                <a:spcPts val="4449"/>
              </a:lnSpc>
              <a:spcBef>
                <a:spcPct val="0"/>
              </a:spcBef>
            </a:pPr>
            <a:r>
              <a:rPr lang="en-US" b="true" sz="3422">
                <a:solidFill>
                  <a:srgbClr val="FFFFFF"/>
                </a:solidFill>
                <a:latin typeface="Garet Bold"/>
                <a:ea typeface="Garet Bold"/>
                <a:cs typeface="Garet Bold"/>
                <a:sym typeface="Garet Bold"/>
              </a:rPr>
              <a:t>Z-Skoru formülü:</a:t>
            </a:r>
          </a:p>
        </p:txBody>
      </p:sp>
      <p:sp>
        <p:nvSpPr>
          <p:cNvPr name="TextBox 8" id="8"/>
          <p:cNvSpPr txBox="true"/>
          <p:nvPr/>
        </p:nvSpPr>
        <p:spPr>
          <a:xfrm rot="0">
            <a:off x="5925393" y="2398841"/>
            <a:ext cx="5131713" cy="468271"/>
          </a:xfrm>
          <a:prstGeom prst="rect">
            <a:avLst/>
          </a:prstGeom>
        </p:spPr>
        <p:txBody>
          <a:bodyPr anchor="t" rtlCol="false" tIns="0" lIns="0" bIns="0" rIns="0">
            <a:spAutoFit/>
          </a:bodyPr>
          <a:lstStyle/>
          <a:p>
            <a:pPr algn="ctr">
              <a:lnSpc>
                <a:spcPts val="3741"/>
              </a:lnSpc>
              <a:spcBef>
                <a:spcPct val="0"/>
              </a:spcBef>
            </a:pPr>
            <a:r>
              <a:rPr lang="en-US" sz="2878">
                <a:solidFill>
                  <a:srgbClr val="FFFFFF"/>
                </a:solidFill>
                <a:latin typeface="Garet"/>
                <a:ea typeface="Garet"/>
                <a:cs typeface="Garet"/>
                <a:sym typeface="Garet"/>
              </a:rPr>
              <a:t>(T: Hedeflenen proje süresi)</a:t>
            </a:r>
          </a:p>
        </p:txBody>
      </p:sp>
      <p:sp>
        <p:nvSpPr>
          <p:cNvPr name="TextBox 9" id="9"/>
          <p:cNvSpPr txBox="true"/>
          <p:nvPr/>
        </p:nvSpPr>
        <p:spPr>
          <a:xfrm rot="0">
            <a:off x="9144000" y="3562436"/>
            <a:ext cx="8711624" cy="1569085"/>
          </a:xfrm>
          <a:prstGeom prst="rect">
            <a:avLst/>
          </a:prstGeom>
        </p:spPr>
        <p:txBody>
          <a:bodyPr anchor="t" rtlCol="false" tIns="0" lIns="0" bIns="0" rIns="0">
            <a:spAutoFit/>
          </a:bodyPr>
          <a:lstStyle/>
          <a:p>
            <a:pPr algn="ctr">
              <a:lnSpc>
                <a:spcPts val="3079"/>
              </a:lnSpc>
              <a:spcBef>
                <a:spcPct val="0"/>
              </a:spcBef>
            </a:pPr>
            <a:r>
              <a:rPr lang="en-US" sz="2799">
                <a:solidFill>
                  <a:srgbClr val="FFFFFF"/>
                </a:solidFill>
                <a:latin typeface="Garet"/>
                <a:ea typeface="Garet"/>
                <a:cs typeface="Garet"/>
                <a:sym typeface="Garet"/>
              </a:rPr>
              <a:t>%90 güven düzeyinde tamamlanma süresi:</a:t>
            </a:r>
          </a:p>
          <a:p>
            <a:pPr algn="ctr">
              <a:lnSpc>
                <a:spcPts val="3079"/>
              </a:lnSpc>
              <a:spcBef>
                <a:spcPct val="0"/>
              </a:spcBef>
            </a:pPr>
            <a:r>
              <a:rPr lang="en-US" sz="2799">
                <a:solidFill>
                  <a:srgbClr val="FFFFFF"/>
                </a:solidFill>
                <a:latin typeface="Garet"/>
                <a:ea typeface="Garet"/>
                <a:cs typeface="Garet"/>
                <a:sym typeface="Garet"/>
              </a:rPr>
              <a:t>T = μ + ( Z × σ ) </a:t>
            </a:r>
          </a:p>
          <a:p>
            <a:pPr algn="ctr">
              <a:lnSpc>
                <a:spcPts val="3079"/>
              </a:lnSpc>
              <a:spcBef>
                <a:spcPct val="0"/>
              </a:spcBef>
            </a:pPr>
            <a:r>
              <a:rPr lang="en-US" sz="2799">
                <a:solidFill>
                  <a:srgbClr val="FFFFFF"/>
                </a:solidFill>
                <a:latin typeface="Garet"/>
                <a:ea typeface="Garet"/>
                <a:cs typeface="Garet"/>
                <a:sym typeface="Garet"/>
              </a:rPr>
              <a:t>= 56.01 + (1.29 × 4.14)</a:t>
            </a:r>
          </a:p>
          <a:p>
            <a:pPr algn="ctr">
              <a:lnSpc>
                <a:spcPts val="3079"/>
              </a:lnSpc>
              <a:spcBef>
                <a:spcPct val="0"/>
              </a:spcBef>
            </a:pPr>
            <a:r>
              <a:rPr lang="en-US" sz="2799">
                <a:solidFill>
                  <a:srgbClr val="FFFFFF"/>
                </a:solidFill>
                <a:latin typeface="Garet"/>
                <a:ea typeface="Garet"/>
                <a:cs typeface="Garet"/>
                <a:sym typeface="Garet"/>
              </a:rPr>
              <a:t> = 61.35 gün</a:t>
            </a:r>
          </a:p>
        </p:txBody>
      </p:sp>
      <p:sp>
        <p:nvSpPr>
          <p:cNvPr name="TextBox 10" id="10"/>
          <p:cNvSpPr txBox="true"/>
          <p:nvPr/>
        </p:nvSpPr>
        <p:spPr>
          <a:xfrm rot="0">
            <a:off x="9549001" y="6388821"/>
            <a:ext cx="7747767" cy="2524125"/>
          </a:xfrm>
          <a:prstGeom prst="rect">
            <a:avLst/>
          </a:prstGeom>
        </p:spPr>
        <p:txBody>
          <a:bodyPr anchor="t" rtlCol="false" tIns="0" lIns="0" bIns="0" rIns="0">
            <a:spAutoFit/>
          </a:bodyPr>
          <a:lstStyle/>
          <a:p>
            <a:pPr algn="ctr">
              <a:lnSpc>
                <a:spcPts val="3300"/>
              </a:lnSpc>
              <a:spcBef>
                <a:spcPct val="0"/>
              </a:spcBef>
            </a:pPr>
            <a:r>
              <a:rPr lang="en-US" sz="3000">
                <a:solidFill>
                  <a:srgbClr val="FFFFFF"/>
                </a:solidFill>
                <a:latin typeface="Garet"/>
                <a:ea typeface="Garet"/>
                <a:cs typeface="Garet"/>
                <a:sym typeface="Garet"/>
              </a:rPr>
              <a:t>P</a:t>
            </a:r>
            <a:r>
              <a:rPr lang="en-US" sz="3000">
                <a:solidFill>
                  <a:srgbClr val="FFFFFF"/>
                </a:solidFill>
                <a:latin typeface="Garet"/>
                <a:ea typeface="Garet"/>
                <a:cs typeface="Garet"/>
                <a:sym typeface="Garet"/>
              </a:rPr>
              <a:t>rojenin 60 gün içerisinde tamamlanma olasılığı yaklaşık yüzde 83 olarak hesaplanmıştır. Bu nedenle proje planlamasında yaklaşık 61 günlük sürenin daha güvenli bir tamamlanma süresi olduğu sonucuna ulaşılmıştır.</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0370580" y="4074090"/>
            <a:ext cx="6240404" cy="5551962"/>
          </a:xfrm>
          <a:custGeom>
            <a:avLst/>
            <a:gdLst/>
            <a:ahLst/>
            <a:cxnLst/>
            <a:rect r="r" b="b" t="t" l="l"/>
            <a:pathLst>
              <a:path h="5551962" w="6240404">
                <a:moveTo>
                  <a:pt x="0" y="0"/>
                </a:moveTo>
                <a:lnTo>
                  <a:pt x="6240404" y="0"/>
                </a:lnTo>
                <a:lnTo>
                  <a:pt x="6240404" y="5551962"/>
                </a:lnTo>
                <a:lnTo>
                  <a:pt x="0" y="5551962"/>
                </a:lnTo>
                <a:lnTo>
                  <a:pt x="0" y="0"/>
                </a:lnTo>
                <a:close/>
              </a:path>
            </a:pathLst>
          </a:custGeom>
          <a:blipFill>
            <a:blip r:embed="rId2"/>
            <a:stretch>
              <a:fillRect l="0" t="-5094" r="0" b="-5094"/>
            </a:stretch>
          </a:blipFill>
        </p:spPr>
      </p:sp>
      <p:sp>
        <p:nvSpPr>
          <p:cNvPr name="TextBox 3" id="3"/>
          <p:cNvSpPr txBox="true"/>
          <p:nvPr/>
        </p:nvSpPr>
        <p:spPr>
          <a:xfrm rot="0">
            <a:off x="2704445" y="233680"/>
            <a:ext cx="12554843" cy="878839"/>
          </a:xfrm>
          <a:prstGeom prst="rect">
            <a:avLst/>
          </a:prstGeom>
        </p:spPr>
        <p:txBody>
          <a:bodyPr anchor="t" rtlCol="false" tIns="0" lIns="0" bIns="0" rIns="0">
            <a:spAutoFit/>
          </a:bodyPr>
          <a:lstStyle/>
          <a:p>
            <a:pPr algn="ctr">
              <a:lnSpc>
                <a:spcPts val="6819"/>
              </a:lnSpc>
              <a:spcBef>
                <a:spcPct val="0"/>
              </a:spcBef>
            </a:pPr>
            <a:r>
              <a:rPr lang="en-US" sz="6199">
                <a:solidFill>
                  <a:srgbClr val="FAF9F8"/>
                </a:solidFill>
                <a:latin typeface="Garet"/>
                <a:ea typeface="Garet"/>
                <a:cs typeface="Garet"/>
                <a:sym typeface="Garet"/>
              </a:rPr>
              <a:t>Proje Analizi ve Seçim Modelleri</a:t>
            </a:r>
          </a:p>
        </p:txBody>
      </p:sp>
      <p:sp>
        <p:nvSpPr>
          <p:cNvPr name="TextBox 4" id="4"/>
          <p:cNvSpPr txBox="true"/>
          <p:nvPr/>
        </p:nvSpPr>
        <p:spPr>
          <a:xfrm rot="0">
            <a:off x="201937" y="1432485"/>
            <a:ext cx="14297769" cy="492125"/>
          </a:xfrm>
          <a:prstGeom prst="rect">
            <a:avLst/>
          </a:prstGeom>
        </p:spPr>
        <p:txBody>
          <a:bodyPr anchor="t" rtlCol="false" tIns="0" lIns="0" bIns="0" rIns="0">
            <a:spAutoFit/>
          </a:bodyPr>
          <a:lstStyle/>
          <a:p>
            <a:pPr algn="ctr">
              <a:lnSpc>
                <a:spcPts val="3850"/>
              </a:lnSpc>
              <a:spcBef>
                <a:spcPct val="0"/>
              </a:spcBef>
            </a:pPr>
            <a:r>
              <a:rPr lang="en-US" sz="3500">
                <a:solidFill>
                  <a:srgbClr val="FAF9F8"/>
                </a:solidFill>
                <a:latin typeface="Garet"/>
                <a:ea typeface="Garet"/>
                <a:cs typeface="Garet"/>
                <a:sym typeface="Garet"/>
              </a:rPr>
              <a:t>Kuruml</a:t>
            </a:r>
            <a:r>
              <a:rPr lang="en-US" sz="3500">
                <a:solidFill>
                  <a:srgbClr val="FAF9F8"/>
                </a:solidFill>
                <a:latin typeface="Garet"/>
                <a:ea typeface="Garet"/>
                <a:cs typeface="Garet"/>
                <a:sym typeface="Garet"/>
              </a:rPr>
              <a:t>arın yatırım kararı alırken kullandığı modeller ikiye ayrılır.</a:t>
            </a:r>
          </a:p>
        </p:txBody>
      </p:sp>
      <p:sp>
        <p:nvSpPr>
          <p:cNvPr name="TextBox 5" id="5"/>
          <p:cNvSpPr txBox="true"/>
          <p:nvPr/>
        </p:nvSpPr>
        <p:spPr>
          <a:xfrm rot="0">
            <a:off x="-222934" y="2244575"/>
            <a:ext cx="14297769" cy="977900"/>
          </a:xfrm>
          <a:prstGeom prst="rect">
            <a:avLst/>
          </a:prstGeom>
        </p:spPr>
        <p:txBody>
          <a:bodyPr anchor="t" rtlCol="false" tIns="0" lIns="0" bIns="0" rIns="0">
            <a:spAutoFit/>
          </a:bodyPr>
          <a:lstStyle/>
          <a:p>
            <a:pPr algn="ctr">
              <a:lnSpc>
                <a:spcPts val="3850"/>
              </a:lnSpc>
              <a:spcBef>
                <a:spcPct val="0"/>
              </a:spcBef>
            </a:pPr>
            <a:r>
              <a:rPr lang="en-US" b="true" sz="3500">
                <a:solidFill>
                  <a:srgbClr val="FAF9F8"/>
                </a:solidFill>
                <a:latin typeface="Garet Bold"/>
                <a:ea typeface="Garet Bold"/>
                <a:cs typeface="Garet Bold"/>
                <a:sym typeface="Garet Bold"/>
              </a:rPr>
              <a:t>Sayısal Olmay</a:t>
            </a:r>
            <a:r>
              <a:rPr lang="en-US" b="true" sz="3500">
                <a:solidFill>
                  <a:srgbClr val="FAF9F8"/>
                </a:solidFill>
                <a:latin typeface="Garet Bold"/>
                <a:ea typeface="Garet Bold"/>
                <a:cs typeface="Garet Bold"/>
                <a:sym typeface="Garet Bold"/>
              </a:rPr>
              <a:t>an Modeller:</a:t>
            </a:r>
            <a:r>
              <a:rPr lang="en-US" sz="3500">
                <a:solidFill>
                  <a:srgbClr val="FAF9F8"/>
                </a:solidFill>
                <a:latin typeface="Garet"/>
                <a:ea typeface="Garet"/>
                <a:cs typeface="Garet"/>
                <a:sym typeface="Garet"/>
              </a:rPr>
              <a:t> Operasyonel zorunluluk (manuel adisyonun artık yetersiz kalması) veya rekabet zorunluluğu.</a:t>
            </a:r>
          </a:p>
        </p:txBody>
      </p:sp>
      <p:sp>
        <p:nvSpPr>
          <p:cNvPr name="TextBox 6" id="6"/>
          <p:cNvSpPr txBox="true"/>
          <p:nvPr/>
        </p:nvSpPr>
        <p:spPr>
          <a:xfrm rot="0">
            <a:off x="201937" y="3260575"/>
            <a:ext cx="17559858" cy="977900"/>
          </a:xfrm>
          <a:prstGeom prst="rect">
            <a:avLst/>
          </a:prstGeom>
        </p:spPr>
        <p:txBody>
          <a:bodyPr anchor="t" rtlCol="false" tIns="0" lIns="0" bIns="0" rIns="0">
            <a:spAutoFit/>
          </a:bodyPr>
          <a:lstStyle/>
          <a:p>
            <a:pPr algn="ctr">
              <a:lnSpc>
                <a:spcPts val="3850"/>
              </a:lnSpc>
              <a:spcBef>
                <a:spcPct val="0"/>
              </a:spcBef>
            </a:pPr>
            <a:r>
              <a:rPr lang="en-US" b="true" sz="3500">
                <a:solidFill>
                  <a:srgbClr val="FAF9F8"/>
                </a:solidFill>
                <a:latin typeface="Garet Bold"/>
                <a:ea typeface="Garet Bold"/>
                <a:cs typeface="Garet Bold"/>
                <a:sym typeface="Garet Bold"/>
              </a:rPr>
              <a:t>Sayıs</a:t>
            </a:r>
            <a:r>
              <a:rPr lang="en-US" b="true" sz="3500">
                <a:solidFill>
                  <a:srgbClr val="FAF9F8"/>
                </a:solidFill>
                <a:latin typeface="Garet Bold"/>
                <a:ea typeface="Garet Bold"/>
                <a:cs typeface="Garet Bold"/>
                <a:sym typeface="Garet Bold"/>
              </a:rPr>
              <a:t>al Modeller:</a:t>
            </a:r>
            <a:r>
              <a:rPr lang="en-US" sz="3500">
                <a:solidFill>
                  <a:srgbClr val="FAF9F8"/>
                </a:solidFill>
                <a:latin typeface="Garet"/>
                <a:ea typeface="Garet"/>
                <a:cs typeface="Garet"/>
                <a:sym typeface="Garet"/>
              </a:rPr>
              <a:t> Finansal veya puanlamaya dayalı net matematiksel analizler.</a:t>
            </a:r>
          </a:p>
          <a:p>
            <a:pPr algn="ctr">
              <a:lnSpc>
                <a:spcPts val="3850"/>
              </a:lnSpc>
              <a:spcBef>
                <a:spcPct val="0"/>
              </a:spcBef>
            </a:pPr>
          </a:p>
        </p:txBody>
      </p:sp>
      <p:sp>
        <p:nvSpPr>
          <p:cNvPr name="TextBox 7" id="7"/>
          <p:cNvSpPr txBox="true"/>
          <p:nvPr/>
        </p:nvSpPr>
        <p:spPr>
          <a:xfrm rot="0">
            <a:off x="81200" y="4276575"/>
            <a:ext cx="8681368" cy="502920"/>
          </a:xfrm>
          <a:prstGeom prst="rect">
            <a:avLst/>
          </a:prstGeom>
        </p:spPr>
        <p:txBody>
          <a:bodyPr anchor="t" rtlCol="false" tIns="0" lIns="0" bIns="0" rIns="0">
            <a:spAutoFit/>
          </a:bodyPr>
          <a:lstStyle/>
          <a:p>
            <a:pPr algn="ctr">
              <a:lnSpc>
                <a:spcPts val="3960"/>
              </a:lnSpc>
              <a:spcBef>
                <a:spcPct val="0"/>
              </a:spcBef>
            </a:pPr>
            <a:r>
              <a:rPr lang="en-US" b="true" sz="3600">
                <a:solidFill>
                  <a:srgbClr val="FAF9F8"/>
                </a:solidFill>
                <a:latin typeface="Garet Bold"/>
                <a:ea typeface="Garet Bold"/>
                <a:cs typeface="Garet Bold"/>
                <a:sym typeface="Garet Bold"/>
              </a:rPr>
              <a:t>S</a:t>
            </a:r>
            <a:r>
              <a:rPr lang="en-US" b="true" sz="3600">
                <a:solidFill>
                  <a:srgbClr val="FAF9F8"/>
                </a:solidFill>
                <a:latin typeface="Garet Bold"/>
                <a:ea typeface="Garet Bold"/>
                <a:cs typeface="Garet Bold"/>
                <a:sym typeface="Garet Bold"/>
              </a:rPr>
              <a:t>ayısal Seçim ve Puanlama Kriterleri</a:t>
            </a:r>
          </a:p>
        </p:txBody>
      </p:sp>
      <p:sp>
        <p:nvSpPr>
          <p:cNvPr name="TextBox 8" id="8"/>
          <p:cNvSpPr txBox="true"/>
          <p:nvPr/>
        </p:nvSpPr>
        <p:spPr>
          <a:xfrm rot="0">
            <a:off x="0" y="4916487"/>
            <a:ext cx="8641831" cy="2631440"/>
          </a:xfrm>
          <a:prstGeom prst="rect">
            <a:avLst/>
          </a:prstGeom>
        </p:spPr>
        <p:txBody>
          <a:bodyPr anchor="t" rtlCol="false" tIns="0" lIns="0" bIns="0" rIns="0">
            <a:spAutoFit/>
          </a:bodyPr>
          <a:lstStyle/>
          <a:p>
            <a:pPr algn="ctr">
              <a:lnSpc>
                <a:spcPts val="3520"/>
              </a:lnSpc>
              <a:spcBef>
                <a:spcPct val="0"/>
              </a:spcBef>
            </a:pPr>
            <a:r>
              <a:rPr lang="en-US" b="true" sz="3200">
                <a:solidFill>
                  <a:srgbClr val="FAF9F8"/>
                </a:solidFill>
                <a:latin typeface="Garet Bold"/>
                <a:ea typeface="Garet Bold"/>
                <a:cs typeface="Garet Bold"/>
                <a:sym typeface="Garet Bold"/>
              </a:rPr>
              <a:t> Finansal Modeller</a:t>
            </a:r>
            <a:r>
              <a:rPr lang="en-US" sz="3200">
                <a:solidFill>
                  <a:srgbClr val="FAF9F8"/>
                </a:solidFill>
                <a:latin typeface="Garet"/>
                <a:ea typeface="Garet"/>
                <a:cs typeface="Garet"/>
                <a:sym typeface="Garet"/>
              </a:rPr>
              <a:t>: </a:t>
            </a:r>
            <a:r>
              <a:rPr lang="en-US" sz="3200">
                <a:solidFill>
                  <a:srgbClr val="FAF9F8"/>
                </a:solidFill>
                <a:latin typeface="Garet"/>
                <a:ea typeface="Garet"/>
                <a:cs typeface="Garet"/>
                <a:sym typeface="Garet"/>
              </a:rPr>
              <a:t>Projenin kabulü için NPV (Net Bugünkü Değer) &gt; 0 olmalı ve IRR (İç Kârlılık Oranı) hedefleri tutturulmalıdır. Geri ödeme süresi (PB) hesaplanmalıdır.</a:t>
            </a:r>
          </a:p>
          <a:p>
            <a:pPr algn="ctr">
              <a:lnSpc>
                <a:spcPts val="3520"/>
              </a:lnSpc>
              <a:spcBef>
                <a:spcPct val="0"/>
              </a:spcBef>
            </a:pPr>
          </a:p>
        </p:txBody>
      </p:sp>
      <p:sp>
        <p:nvSpPr>
          <p:cNvPr name="TextBox 9" id="9"/>
          <p:cNvSpPr txBox="true"/>
          <p:nvPr/>
        </p:nvSpPr>
        <p:spPr>
          <a:xfrm rot="0">
            <a:off x="201937" y="7353800"/>
            <a:ext cx="8981866" cy="2582545"/>
          </a:xfrm>
          <a:prstGeom prst="rect">
            <a:avLst/>
          </a:prstGeom>
        </p:spPr>
        <p:txBody>
          <a:bodyPr anchor="t" rtlCol="false" tIns="0" lIns="0" bIns="0" rIns="0">
            <a:spAutoFit/>
          </a:bodyPr>
          <a:lstStyle/>
          <a:p>
            <a:pPr algn="ctr">
              <a:lnSpc>
                <a:spcPts val="3410"/>
              </a:lnSpc>
              <a:spcBef>
                <a:spcPct val="0"/>
              </a:spcBef>
            </a:pPr>
            <a:r>
              <a:rPr lang="en-US" b="true" sz="3100">
                <a:solidFill>
                  <a:srgbClr val="FAF9F8"/>
                </a:solidFill>
                <a:latin typeface="Garet Bold"/>
                <a:ea typeface="Garet Bold"/>
                <a:cs typeface="Garet Bold"/>
                <a:sym typeface="Garet Bold"/>
              </a:rPr>
              <a:t>Ağırlıklı F</a:t>
            </a:r>
            <a:r>
              <a:rPr lang="en-US" b="true" sz="3100">
                <a:solidFill>
                  <a:srgbClr val="FAF9F8"/>
                </a:solidFill>
                <a:latin typeface="Garet Bold"/>
                <a:ea typeface="Garet Bold"/>
                <a:cs typeface="Garet Bold"/>
                <a:sym typeface="Garet Bold"/>
              </a:rPr>
              <a:t>aktör Puanlama Modeli</a:t>
            </a:r>
            <a:r>
              <a:rPr lang="en-US" sz="3100">
                <a:solidFill>
                  <a:srgbClr val="FAF9F8"/>
                </a:solidFill>
                <a:latin typeface="Garet"/>
                <a:ea typeface="Garet"/>
                <a:cs typeface="Garet"/>
                <a:sym typeface="Garet"/>
              </a:rPr>
              <a:t>: Şirketin stratejik hedeflerine uyum, teknolojik altyapı, maliyet ve risk kısıtlarına verilen yüzdelik ağırlıkların (örn: %40 strateji, %30 ROI) çarpılarak en yüksek puanlı projenin (Deadline) seçilmesi</a:t>
            </a:r>
          </a:p>
        </p:txBody>
      </p:sp>
    </p:spTree>
  </p:cSld>
  <p:clrMapOvr>
    <a:masterClrMapping/>
  </p:clrMapOvr>
  <p:transition spd="slow">
    <p:push dir="l"/>
  </p:transition>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7907960" y="2150319"/>
            <a:ext cx="9570442" cy="7630014"/>
          </a:xfrm>
          <a:custGeom>
            <a:avLst/>
            <a:gdLst/>
            <a:ahLst/>
            <a:cxnLst/>
            <a:rect r="r" b="b" t="t" l="l"/>
            <a:pathLst>
              <a:path h="7630014" w="9570442">
                <a:moveTo>
                  <a:pt x="0" y="0"/>
                </a:moveTo>
                <a:lnTo>
                  <a:pt x="9570442" y="0"/>
                </a:lnTo>
                <a:lnTo>
                  <a:pt x="9570442" y="7630014"/>
                </a:lnTo>
                <a:lnTo>
                  <a:pt x="0" y="7630014"/>
                </a:lnTo>
                <a:lnTo>
                  <a:pt x="0" y="0"/>
                </a:lnTo>
                <a:close/>
              </a:path>
            </a:pathLst>
          </a:custGeom>
          <a:blipFill>
            <a:blip r:embed="rId2"/>
            <a:stretch>
              <a:fillRect l="0" t="-22986" r="0" b="-1535"/>
            </a:stretch>
          </a:blipFill>
        </p:spPr>
      </p:sp>
      <p:sp>
        <p:nvSpPr>
          <p:cNvPr name="TextBox 3" id="3"/>
          <p:cNvSpPr txBox="true"/>
          <p:nvPr/>
        </p:nvSpPr>
        <p:spPr>
          <a:xfrm rot="0">
            <a:off x="5547944" y="286385"/>
            <a:ext cx="7719045" cy="742315"/>
          </a:xfrm>
          <a:prstGeom prst="rect">
            <a:avLst/>
          </a:prstGeom>
        </p:spPr>
        <p:txBody>
          <a:bodyPr anchor="t" rtlCol="false" tIns="0" lIns="0" bIns="0" rIns="0">
            <a:spAutoFit/>
          </a:bodyPr>
          <a:lstStyle/>
          <a:p>
            <a:pPr algn="ctr">
              <a:lnSpc>
                <a:spcPts val="5719"/>
              </a:lnSpc>
              <a:spcBef>
                <a:spcPct val="0"/>
              </a:spcBef>
            </a:pPr>
            <a:r>
              <a:rPr lang="en-US" b="true" sz="5199">
                <a:solidFill>
                  <a:srgbClr val="FAF9F8"/>
                </a:solidFill>
                <a:latin typeface="Garet Bold"/>
                <a:ea typeface="Garet Bold"/>
                <a:cs typeface="Garet Bold"/>
                <a:sym typeface="Garet Bold"/>
              </a:rPr>
              <a:t>Proje İletişim Yönetimi</a:t>
            </a:r>
          </a:p>
        </p:txBody>
      </p:sp>
      <p:sp>
        <p:nvSpPr>
          <p:cNvPr name="TextBox 4" id="4"/>
          <p:cNvSpPr txBox="true"/>
          <p:nvPr/>
        </p:nvSpPr>
        <p:spPr>
          <a:xfrm rot="0">
            <a:off x="218032" y="1370800"/>
            <a:ext cx="13961187" cy="616585"/>
          </a:xfrm>
          <a:prstGeom prst="rect">
            <a:avLst/>
          </a:prstGeom>
        </p:spPr>
        <p:txBody>
          <a:bodyPr anchor="t" rtlCol="false" tIns="0" lIns="0" bIns="0" rIns="0">
            <a:spAutoFit/>
          </a:bodyPr>
          <a:lstStyle/>
          <a:p>
            <a:pPr algn="ctr">
              <a:lnSpc>
                <a:spcPts val="4729"/>
              </a:lnSpc>
              <a:spcBef>
                <a:spcPct val="0"/>
              </a:spcBef>
            </a:pPr>
            <a:r>
              <a:rPr lang="en-US" b="true" sz="4299">
                <a:solidFill>
                  <a:srgbClr val="FAF9F8"/>
                </a:solidFill>
                <a:latin typeface="Garet Bold"/>
                <a:ea typeface="Garet Bold"/>
                <a:cs typeface="Garet Bold"/>
                <a:sym typeface="Garet Bold"/>
              </a:rPr>
              <a:t>Doğ</a:t>
            </a:r>
            <a:r>
              <a:rPr lang="en-US" b="true" sz="4299">
                <a:solidFill>
                  <a:srgbClr val="FAF9F8"/>
                </a:solidFill>
                <a:latin typeface="Garet Bold"/>
                <a:ea typeface="Garet Bold"/>
                <a:cs typeface="Garet Bold"/>
                <a:sym typeface="Garet Bold"/>
              </a:rPr>
              <a:t>ru Bilgi, Doğru Kişiye, Doğru Zamanda</a:t>
            </a:r>
          </a:p>
        </p:txBody>
      </p:sp>
      <p:sp>
        <p:nvSpPr>
          <p:cNvPr name="TextBox 5" id="5"/>
          <p:cNvSpPr txBox="true"/>
          <p:nvPr/>
        </p:nvSpPr>
        <p:spPr>
          <a:xfrm rot="0">
            <a:off x="218032" y="2550995"/>
            <a:ext cx="6533317" cy="2921000"/>
          </a:xfrm>
          <a:prstGeom prst="rect">
            <a:avLst/>
          </a:prstGeom>
        </p:spPr>
        <p:txBody>
          <a:bodyPr anchor="t" rtlCol="false" tIns="0" lIns="0" bIns="0" rIns="0">
            <a:spAutoFit/>
          </a:bodyPr>
          <a:lstStyle/>
          <a:p>
            <a:pPr algn="ctr">
              <a:lnSpc>
                <a:spcPts val="3850"/>
              </a:lnSpc>
              <a:spcBef>
                <a:spcPct val="0"/>
              </a:spcBef>
            </a:pPr>
            <a:r>
              <a:rPr lang="en-US" sz="3500">
                <a:solidFill>
                  <a:srgbClr val="FAF9F8"/>
                </a:solidFill>
                <a:latin typeface="Garet"/>
                <a:ea typeface="Garet"/>
                <a:cs typeface="Garet"/>
                <a:sym typeface="Garet"/>
              </a:rPr>
              <a:t>İletişim yönetimi; bilgi ihtiy</a:t>
            </a:r>
            <a:r>
              <a:rPr lang="en-US" sz="3500">
                <a:solidFill>
                  <a:srgbClr val="FAF9F8"/>
                </a:solidFill>
                <a:latin typeface="Garet"/>
                <a:ea typeface="Garet"/>
                <a:cs typeface="Garet"/>
                <a:sym typeface="Garet"/>
              </a:rPr>
              <a:t>acının saptanması, bilginin toplanması, dağıtımı ve paydaş beklentilerinin yönetilmesi süreçlerini kapsar.</a:t>
            </a:r>
          </a:p>
        </p:txBody>
      </p:sp>
      <p:sp>
        <p:nvSpPr>
          <p:cNvPr name="TextBox 6" id="6"/>
          <p:cNvSpPr txBox="true"/>
          <p:nvPr/>
        </p:nvSpPr>
        <p:spPr>
          <a:xfrm rot="0">
            <a:off x="-45435" y="6568690"/>
            <a:ext cx="7060251" cy="2435225"/>
          </a:xfrm>
          <a:prstGeom prst="rect">
            <a:avLst/>
          </a:prstGeom>
        </p:spPr>
        <p:txBody>
          <a:bodyPr anchor="t" rtlCol="false" tIns="0" lIns="0" bIns="0" rIns="0">
            <a:spAutoFit/>
          </a:bodyPr>
          <a:lstStyle/>
          <a:p>
            <a:pPr algn="ctr">
              <a:lnSpc>
                <a:spcPts val="3850"/>
              </a:lnSpc>
              <a:spcBef>
                <a:spcPct val="0"/>
              </a:spcBef>
            </a:pPr>
            <a:r>
              <a:rPr lang="en-US" b="true" sz="3500">
                <a:solidFill>
                  <a:srgbClr val="FAF9F8"/>
                </a:solidFill>
                <a:latin typeface="Garet Bold"/>
                <a:ea typeface="Garet Bold"/>
                <a:cs typeface="Garet Bold"/>
                <a:sym typeface="Garet Bold"/>
              </a:rPr>
              <a:t>Temel Sorul</a:t>
            </a:r>
            <a:r>
              <a:rPr lang="en-US" b="true" sz="3500">
                <a:solidFill>
                  <a:srgbClr val="FAF9F8"/>
                </a:solidFill>
                <a:latin typeface="Garet Bold"/>
                <a:ea typeface="Garet Bold"/>
                <a:cs typeface="Garet Bold"/>
                <a:sym typeface="Garet Bold"/>
              </a:rPr>
              <a:t>ar: </a:t>
            </a:r>
            <a:r>
              <a:rPr lang="en-US" sz="3500">
                <a:solidFill>
                  <a:srgbClr val="FAF9F8"/>
                </a:solidFill>
                <a:latin typeface="Garet"/>
                <a:ea typeface="Garet"/>
                <a:cs typeface="Garet"/>
                <a:sym typeface="Garet"/>
              </a:rPr>
              <a:t>Kim, hangi bilgiye, ne zaman ihtiyaç duyar? Herkes tüm bilgilere sahip olmalı mı?</a:t>
            </a:r>
          </a:p>
          <a:p>
            <a:pPr algn="ctr">
              <a:lnSpc>
                <a:spcPts val="3850"/>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666872" y="5169779"/>
            <a:ext cx="5642752" cy="4873798"/>
          </a:xfrm>
          <a:custGeom>
            <a:avLst/>
            <a:gdLst/>
            <a:ahLst/>
            <a:cxnLst/>
            <a:rect r="r" b="b" t="t" l="l"/>
            <a:pathLst>
              <a:path h="4873798" w="5642752">
                <a:moveTo>
                  <a:pt x="0" y="0"/>
                </a:moveTo>
                <a:lnTo>
                  <a:pt x="5642752" y="0"/>
                </a:lnTo>
                <a:lnTo>
                  <a:pt x="5642752" y="4873798"/>
                </a:lnTo>
                <a:lnTo>
                  <a:pt x="0" y="4873798"/>
                </a:lnTo>
                <a:lnTo>
                  <a:pt x="0" y="0"/>
                </a:lnTo>
                <a:close/>
              </a:path>
            </a:pathLst>
          </a:custGeom>
          <a:blipFill>
            <a:blip r:embed="rId2"/>
            <a:stretch>
              <a:fillRect l="-49423" t="-31844" r="-52002" b="0"/>
            </a:stretch>
          </a:blipFill>
        </p:spPr>
      </p:sp>
      <p:sp>
        <p:nvSpPr>
          <p:cNvPr name="Freeform 3" id="3"/>
          <p:cNvSpPr/>
          <p:nvPr/>
        </p:nvSpPr>
        <p:spPr>
          <a:xfrm flipH="false" flipV="false" rot="0">
            <a:off x="8473362" y="4532241"/>
            <a:ext cx="8963501" cy="5283769"/>
          </a:xfrm>
          <a:custGeom>
            <a:avLst/>
            <a:gdLst/>
            <a:ahLst/>
            <a:cxnLst/>
            <a:rect r="r" b="b" t="t" l="l"/>
            <a:pathLst>
              <a:path h="5283769" w="8963501">
                <a:moveTo>
                  <a:pt x="0" y="0"/>
                </a:moveTo>
                <a:lnTo>
                  <a:pt x="8963501" y="0"/>
                </a:lnTo>
                <a:lnTo>
                  <a:pt x="8963501" y="5283769"/>
                </a:lnTo>
                <a:lnTo>
                  <a:pt x="0" y="5283769"/>
                </a:lnTo>
                <a:lnTo>
                  <a:pt x="0" y="0"/>
                </a:lnTo>
                <a:close/>
              </a:path>
            </a:pathLst>
          </a:custGeom>
          <a:blipFill>
            <a:blip r:embed="rId3"/>
            <a:stretch>
              <a:fillRect l="0" t="-3460" r="0" b="0"/>
            </a:stretch>
          </a:blipFill>
        </p:spPr>
      </p:sp>
      <p:sp>
        <p:nvSpPr>
          <p:cNvPr name="TextBox 4" id="4"/>
          <p:cNvSpPr txBox="true"/>
          <p:nvPr/>
        </p:nvSpPr>
        <p:spPr>
          <a:xfrm rot="0">
            <a:off x="136965" y="194348"/>
            <a:ext cx="6702565" cy="1216660"/>
          </a:xfrm>
          <a:prstGeom prst="rect">
            <a:avLst/>
          </a:prstGeom>
        </p:spPr>
        <p:txBody>
          <a:bodyPr anchor="t" rtlCol="false" tIns="0" lIns="0" bIns="0" rIns="0">
            <a:spAutoFit/>
          </a:bodyPr>
          <a:lstStyle/>
          <a:p>
            <a:pPr algn="ctr">
              <a:lnSpc>
                <a:spcPts val="4729"/>
              </a:lnSpc>
              <a:spcBef>
                <a:spcPct val="0"/>
              </a:spcBef>
            </a:pPr>
            <a:r>
              <a:rPr lang="en-US" b="true" sz="4299">
                <a:solidFill>
                  <a:srgbClr val="FAF9F8"/>
                </a:solidFill>
                <a:latin typeface="Garet Bold"/>
                <a:ea typeface="Garet Bold"/>
                <a:cs typeface="Garet Bold"/>
                <a:sym typeface="Garet Bold"/>
              </a:rPr>
              <a:t>İletişimde Gizlilik: Bilme Gereği </a:t>
            </a:r>
            <a:r>
              <a:rPr lang="en-US" b="true" sz="4299">
                <a:solidFill>
                  <a:srgbClr val="FAF9F8"/>
                </a:solidFill>
                <a:latin typeface="Garet Bold"/>
                <a:ea typeface="Garet Bold"/>
                <a:cs typeface="Garet Bold"/>
                <a:sym typeface="Garet Bold"/>
              </a:rPr>
              <a:t>Prensibi</a:t>
            </a:r>
          </a:p>
        </p:txBody>
      </p:sp>
      <p:sp>
        <p:nvSpPr>
          <p:cNvPr name="TextBox 5" id="5"/>
          <p:cNvSpPr txBox="true"/>
          <p:nvPr/>
        </p:nvSpPr>
        <p:spPr>
          <a:xfrm rot="0">
            <a:off x="136965" y="1592191"/>
            <a:ext cx="6702565" cy="1267461"/>
          </a:xfrm>
          <a:prstGeom prst="rect">
            <a:avLst/>
          </a:prstGeom>
        </p:spPr>
        <p:txBody>
          <a:bodyPr anchor="t" rtlCol="false" tIns="0" lIns="0" bIns="0" rIns="0">
            <a:spAutoFit/>
          </a:bodyPr>
          <a:lstStyle/>
          <a:p>
            <a:pPr algn="ctr">
              <a:lnSpc>
                <a:spcPts val="2530"/>
              </a:lnSpc>
              <a:spcBef>
                <a:spcPct val="0"/>
              </a:spcBef>
            </a:pPr>
            <a:r>
              <a:rPr lang="en-US" sz="2300">
                <a:solidFill>
                  <a:srgbClr val="FAF9F8"/>
                </a:solidFill>
                <a:latin typeface="Garet"/>
                <a:ea typeface="Garet"/>
                <a:cs typeface="Garet"/>
                <a:sym typeface="Garet"/>
              </a:rPr>
              <a:t>Bilginin yalnızc</a:t>
            </a:r>
            <a:r>
              <a:rPr lang="en-US" sz="2300">
                <a:solidFill>
                  <a:srgbClr val="FAF9F8"/>
                </a:solidFill>
                <a:latin typeface="Garet"/>
                <a:ea typeface="Garet"/>
                <a:cs typeface="Garet"/>
                <a:sym typeface="Garet"/>
              </a:rPr>
              <a:t>a görev ve sorumlulukları gereği bir konuyu öğrenmek veya incelemekle yetkili kişilere verilmesi prensibidir.</a:t>
            </a:r>
          </a:p>
        </p:txBody>
      </p:sp>
      <p:sp>
        <p:nvSpPr>
          <p:cNvPr name="TextBox 6" id="6"/>
          <p:cNvSpPr txBox="true"/>
          <p:nvPr/>
        </p:nvSpPr>
        <p:spPr>
          <a:xfrm rot="0">
            <a:off x="201323" y="3235568"/>
            <a:ext cx="6573851" cy="1581786"/>
          </a:xfrm>
          <a:prstGeom prst="rect">
            <a:avLst/>
          </a:prstGeom>
        </p:spPr>
        <p:txBody>
          <a:bodyPr anchor="t" rtlCol="false" tIns="0" lIns="0" bIns="0" rIns="0">
            <a:spAutoFit/>
          </a:bodyPr>
          <a:lstStyle/>
          <a:p>
            <a:pPr algn="ctr">
              <a:lnSpc>
                <a:spcPts val="2530"/>
              </a:lnSpc>
              <a:spcBef>
                <a:spcPct val="0"/>
              </a:spcBef>
            </a:pPr>
            <a:r>
              <a:rPr lang="en-US" sz="2300">
                <a:solidFill>
                  <a:srgbClr val="FAF9F8"/>
                </a:solidFill>
                <a:latin typeface="Garet"/>
                <a:ea typeface="Garet"/>
                <a:cs typeface="Garet"/>
                <a:sym typeface="Garet"/>
              </a:rPr>
              <a:t>Deadline projesi restoran finansalları ve kullanıcı verileri b</a:t>
            </a:r>
            <a:r>
              <a:rPr lang="en-US" sz="2300">
                <a:solidFill>
                  <a:srgbClr val="FAF9F8"/>
                </a:solidFill>
                <a:latin typeface="Garet"/>
                <a:ea typeface="Garet"/>
                <a:cs typeface="Garet"/>
                <a:sym typeface="Garet"/>
              </a:rPr>
              <a:t>arındıracağından, bilgiler sadece Proje Yöneticisinin onayı ve yetkilendirmesi dahilinde paylaşılmalı, sözleşme gizlilik şartlarına uyulmalıdır.</a:t>
            </a:r>
          </a:p>
        </p:txBody>
      </p:sp>
      <p:sp>
        <p:nvSpPr>
          <p:cNvPr name="TextBox 7" id="7"/>
          <p:cNvSpPr txBox="true"/>
          <p:nvPr/>
        </p:nvSpPr>
        <p:spPr>
          <a:xfrm rot="0">
            <a:off x="7710503" y="379730"/>
            <a:ext cx="10122471" cy="648970"/>
          </a:xfrm>
          <a:prstGeom prst="rect">
            <a:avLst/>
          </a:prstGeom>
        </p:spPr>
        <p:txBody>
          <a:bodyPr anchor="t" rtlCol="false" tIns="0" lIns="0" bIns="0" rIns="0">
            <a:spAutoFit/>
          </a:bodyPr>
          <a:lstStyle/>
          <a:p>
            <a:pPr algn="ctr">
              <a:lnSpc>
                <a:spcPts val="5059"/>
              </a:lnSpc>
              <a:spcBef>
                <a:spcPct val="0"/>
              </a:spcBef>
            </a:pPr>
            <a:r>
              <a:rPr lang="en-US" b="true" sz="4599">
                <a:solidFill>
                  <a:srgbClr val="FAF9F8"/>
                </a:solidFill>
                <a:latin typeface="Garet Bold"/>
                <a:ea typeface="Garet Bold"/>
                <a:cs typeface="Garet Bold"/>
                <a:sym typeface="Garet Bold"/>
              </a:rPr>
              <a:t>Proje Risk Yönetimi ve Risk Tipleri</a:t>
            </a:r>
          </a:p>
        </p:txBody>
      </p:sp>
      <p:sp>
        <p:nvSpPr>
          <p:cNvPr name="TextBox 8" id="8"/>
          <p:cNvSpPr txBox="true"/>
          <p:nvPr/>
        </p:nvSpPr>
        <p:spPr>
          <a:xfrm rot="0">
            <a:off x="7568636" y="1495036"/>
            <a:ext cx="9269321" cy="1099821"/>
          </a:xfrm>
          <a:prstGeom prst="rect">
            <a:avLst/>
          </a:prstGeom>
        </p:spPr>
        <p:txBody>
          <a:bodyPr anchor="t" rtlCol="false" tIns="0" lIns="0" bIns="0" rIns="0">
            <a:spAutoFit/>
          </a:bodyPr>
          <a:lstStyle/>
          <a:p>
            <a:pPr algn="ctr">
              <a:lnSpc>
                <a:spcPts val="2860"/>
              </a:lnSpc>
              <a:spcBef>
                <a:spcPct val="0"/>
              </a:spcBef>
            </a:pPr>
            <a:r>
              <a:rPr lang="en-US" b="true" sz="2600">
                <a:solidFill>
                  <a:srgbClr val="FAF9F8"/>
                </a:solidFill>
                <a:latin typeface="Garet Bold"/>
                <a:ea typeface="Garet Bold"/>
                <a:cs typeface="Garet Bold"/>
                <a:sym typeface="Garet Bold"/>
              </a:rPr>
              <a:t>Kabul Edilemez Risk</a:t>
            </a:r>
            <a:r>
              <a:rPr lang="en-US" sz="2600">
                <a:solidFill>
                  <a:srgbClr val="FAF9F8"/>
                </a:solidFill>
                <a:latin typeface="Garet"/>
                <a:ea typeface="Garet"/>
                <a:cs typeface="Garet"/>
                <a:sym typeface="Garet"/>
              </a:rPr>
              <a:t>: Ciddi m</a:t>
            </a:r>
            <a:r>
              <a:rPr lang="en-US" sz="2600">
                <a:solidFill>
                  <a:srgbClr val="FAF9F8"/>
                </a:solidFill>
                <a:latin typeface="Garet"/>
                <a:ea typeface="Garet"/>
                <a:cs typeface="Garet"/>
                <a:sym typeface="Garet"/>
              </a:rPr>
              <a:t>ali kayıp (Örn: Tüm adisyon/fatura veritabanının çökmesi).</a:t>
            </a:r>
          </a:p>
          <a:p>
            <a:pPr algn="ctr">
              <a:lnSpc>
                <a:spcPts val="2860"/>
              </a:lnSpc>
              <a:spcBef>
                <a:spcPct val="0"/>
              </a:spcBef>
            </a:pPr>
          </a:p>
        </p:txBody>
      </p:sp>
      <p:sp>
        <p:nvSpPr>
          <p:cNvPr name="TextBox 9" id="9"/>
          <p:cNvSpPr txBox="true"/>
          <p:nvPr/>
        </p:nvSpPr>
        <p:spPr>
          <a:xfrm rot="0">
            <a:off x="8077252" y="2235446"/>
            <a:ext cx="9755722" cy="737871"/>
          </a:xfrm>
          <a:prstGeom prst="rect">
            <a:avLst/>
          </a:prstGeom>
        </p:spPr>
        <p:txBody>
          <a:bodyPr anchor="t" rtlCol="false" tIns="0" lIns="0" bIns="0" rIns="0">
            <a:spAutoFit/>
          </a:bodyPr>
          <a:lstStyle/>
          <a:p>
            <a:pPr algn="ctr">
              <a:lnSpc>
                <a:spcPts val="2860"/>
              </a:lnSpc>
              <a:spcBef>
                <a:spcPct val="0"/>
              </a:spcBef>
            </a:pPr>
            <a:r>
              <a:rPr lang="en-US" b="true" sz="2600">
                <a:solidFill>
                  <a:srgbClr val="FAF9F8"/>
                </a:solidFill>
                <a:latin typeface="Garet Bold"/>
                <a:ea typeface="Garet Bold"/>
                <a:cs typeface="Garet Bold"/>
                <a:sym typeface="Garet Bold"/>
              </a:rPr>
              <a:t>K</a:t>
            </a:r>
            <a:r>
              <a:rPr lang="en-US" b="true" sz="2600">
                <a:solidFill>
                  <a:srgbClr val="FAF9F8"/>
                </a:solidFill>
                <a:latin typeface="Garet Bold"/>
                <a:ea typeface="Garet Bold"/>
                <a:cs typeface="Garet Bold"/>
                <a:sym typeface="Garet Bold"/>
              </a:rPr>
              <a:t>ritik Risk</a:t>
            </a:r>
            <a:r>
              <a:rPr lang="en-US" sz="2600">
                <a:solidFill>
                  <a:srgbClr val="FAF9F8"/>
                </a:solidFill>
                <a:latin typeface="Garet"/>
                <a:ea typeface="Garet"/>
                <a:cs typeface="Garet"/>
                <a:sym typeface="Garet"/>
              </a:rPr>
              <a:t>: Kayda değer mali kayıplar (Örn: Sipariş ağının donanım arızası yüzünden durması).</a:t>
            </a:r>
          </a:p>
        </p:txBody>
      </p:sp>
      <p:sp>
        <p:nvSpPr>
          <p:cNvPr name="TextBox 10" id="10"/>
          <p:cNvSpPr txBox="true"/>
          <p:nvPr/>
        </p:nvSpPr>
        <p:spPr>
          <a:xfrm rot="0">
            <a:off x="8273578" y="2878702"/>
            <a:ext cx="8984754" cy="375921"/>
          </a:xfrm>
          <a:prstGeom prst="rect">
            <a:avLst/>
          </a:prstGeom>
        </p:spPr>
        <p:txBody>
          <a:bodyPr anchor="t" rtlCol="false" tIns="0" lIns="0" bIns="0" rIns="0">
            <a:spAutoFit/>
          </a:bodyPr>
          <a:lstStyle/>
          <a:p>
            <a:pPr algn="ctr">
              <a:lnSpc>
                <a:spcPts val="2860"/>
              </a:lnSpc>
              <a:spcBef>
                <a:spcPct val="0"/>
              </a:spcBef>
            </a:pPr>
            <a:r>
              <a:rPr lang="en-US" b="true" sz="2600">
                <a:solidFill>
                  <a:srgbClr val="FAF9F8"/>
                </a:solidFill>
                <a:latin typeface="Garet Bold"/>
                <a:ea typeface="Garet Bold"/>
                <a:cs typeface="Garet Bold"/>
                <a:sym typeface="Garet Bold"/>
              </a:rPr>
              <a:t>Önemli Risk</a:t>
            </a:r>
            <a:r>
              <a:rPr lang="en-US" sz="2600">
                <a:solidFill>
                  <a:srgbClr val="FAF9F8"/>
                </a:solidFill>
                <a:latin typeface="Garet"/>
                <a:ea typeface="Garet"/>
                <a:cs typeface="Garet"/>
                <a:sym typeface="Garet"/>
              </a:rPr>
              <a:t>: İşletme sorunl</a:t>
            </a:r>
            <a:r>
              <a:rPr lang="en-US" sz="2600">
                <a:solidFill>
                  <a:srgbClr val="FAF9F8"/>
                </a:solidFill>
                <a:latin typeface="Garet"/>
                <a:ea typeface="Garet"/>
                <a:cs typeface="Garet"/>
                <a:sym typeface="Garet"/>
              </a:rPr>
              <a:t>arına yol açan gecikmeler.</a:t>
            </a:r>
          </a:p>
        </p:txBody>
      </p:sp>
      <p:sp>
        <p:nvSpPr>
          <p:cNvPr name="TextBox 11" id="11"/>
          <p:cNvSpPr txBox="true"/>
          <p:nvPr/>
        </p:nvSpPr>
        <p:spPr>
          <a:xfrm rot="0">
            <a:off x="7710503" y="3346695"/>
            <a:ext cx="9845488" cy="737871"/>
          </a:xfrm>
          <a:prstGeom prst="rect">
            <a:avLst/>
          </a:prstGeom>
        </p:spPr>
        <p:txBody>
          <a:bodyPr anchor="t" rtlCol="false" tIns="0" lIns="0" bIns="0" rIns="0">
            <a:spAutoFit/>
          </a:bodyPr>
          <a:lstStyle/>
          <a:p>
            <a:pPr algn="ctr">
              <a:lnSpc>
                <a:spcPts val="2860"/>
              </a:lnSpc>
              <a:spcBef>
                <a:spcPct val="0"/>
              </a:spcBef>
            </a:pPr>
            <a:r>
              <a:rPr lang="en-US" b="true" sz="2600">
                <a:solidFill>
                  <a:srgbClr val="FAF9F8"/>
                </a:solidFill>
                <a:latin typeface="Garet Bold"/>
                <a:ea typeface="Garet Bold"/>
                <a:cs typeface="Garet Bold"/>
                <a:sym typeface="Garet Bold"/>
              </a:rPr>
              <a:t>Önemsiz Risk</a:t>
            </a:r>
            <a:r>
              <a:rPr lang="en-US" sz="2600">
                <a:solidFill>
                  <a:srgbClr val="FAF9F8"/>
                </a:solidFill>
                <a:latin typeface="Garet"/>
                <a:ea typeface="Garet"/>
                <a:cs typeface="Garet"/>
                <a:sym typeface="Garet"/>
              </a:rPr>
              <a:t>: Ciddi bi</a:t>
            </a:r>
            <a:r>
              <a:rPr lang="en-US" sz="2600">
                <a:solidFill>
                  <a:srgbClr val="FAF9F8"/>
                </a:solidFill>
                <a:latin typeface="Garet"/>
                <a:ea typeface="Garet"/>
                <a:cs typeface="Garet"/>
                <a:sym typeface="Garet"/>
              </a:rPr>
              <a:t>r soruna neden olmayan tolere edilebilir hatalar.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A7D46">
                <a:alpha val="100000"/>
              </a:srgbClr>
            </a:gs>
            <a:gs pos="50000">
              <a:srgbClr val="777B41">
                <a:alpha val="100000"/>
              </a:srgbClr>
            </a:gs>
            <a:gs pos="100000">
              <a:srgbClr val="3D3D4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0" y="1295400"/>
            <a:ext cx="9648766" cy="4677293"/>
          </a:xfrm>
          <a:custGeom>
            <a:avLst/>
            <a:gdLst/>
            <a:ahLst/>
            <a:cxnLst/>
            <a:rect r="r" b="b" t="t" l="l"/>
            <a:pathLst>
              <a:path h="4677293" w="9648766">
                <a:moveTo>
                  <a:pt x="0" y="0"/>
                </a:moveTo>
                <a:lnTo>
                  <a:pt x="9648766" y="0"/>
                </a:lnTo>
                <a:lnTo>
                  <a:pt x="9648766" y="4677293"/>
                </a:lnTo>
                <a:lnTo>
                  <a:pt x="0" y="4677293"/>
                </a:lnTo>
                <a:lnTo>
                  <a:pt x="0" y="0"/>
                </a:lnTo>
                <a:close/>
              </a:path>
            </a:pathLst>
          </a:custGeom>
          <a:blipFill>
            <a:blip r:embed="rId2"/>
            <a:stretch>
              <a:fillRect l="-2622" t="-21590" r="-3817" b="0"/>
            </a:stretch>
          </a:blipFill>
        </p:spPr>
      </p:sp>
      <p:sp>
        <p:nvSpPr>
          <p:cNvPr name="Freeform 3" id="3"/>
          <p:cNvSpPr/>
          <p:nvPr/>
        </p:nvSpPr>
        <p:spPr>
          <a:xfrm flipH="false" flipV="false" rot="0">
            <a:off x="9913150" y="5972693"/>
            <a:ext cx="8149601" cy="4114800"/>
          </a:xfrm>
          <a:custGeom>
            <a:avLst/>
            <a:gdLst/>
            <a:ahLst/>
            <a:cxnLst/>
            <a:rect r="r" b="b" t="t" l="l"/>
            <a:pathLst>
              <a:path h="4114800" w="8149601">
                <a:moveTo>
                  <a:pt x="0" y="0"/>
                </a:moveTo>
                <a:lnTo>
                  <a:pt x="8149601" y="0"/>
                </a:lnTo>
                <a:lnTo>
                  <a:pt x="8149601" y="4114800"/>
                </a:lnTo>
                <a:lnTo>
                  <a:pt x="0" y="4114800"/>
                </a:lnTo>
                <a:lnTo>
                  <a:pt x="0" y="0"/>
                </a:lnTo>
                <a:close/>
              </a:path>
            </a:pathLst>
          </a:custGeom>
          <a:blipFill>
            <a:blip r:embed="rId3"/>
            <a:stretch>
              <a:fillRect l="-2888" t="-24199" r="-12174" b="0"/>
            </a:stretch>
          </a:blipFill>
        </p:spPr>
      </p:sp>
      <p:sp>
        <p:nvSpPr>
          <p:cNvPr name="TextBox 4" id="4"/>
          <p:cNvSpPr txBox="true"/>
          <p:nvPr/>
        </p:nvSpPr>
        <p:spPr>
          <a:xfrm rot="0">
            <a:off x="0" y="47625"/>
            <a:ext cx="9408629" cy="1247775"/>
          </a:xfrm>
          <a:prstGeom prst="rect">
            <a:avLst/>
          </a:prstGeom>
        </p:spPr>
        <p:txBody>
          <a:bodyPr anchor="t" rtlCol="false" tIns="0" lIns="0" bIns="0" rIns="0">
            <a:spAutoFit/>
          </a:bodyPr>
          <a:lstStyle/>
          <a:p>
            <a:pPr algn="ctr">
              <a:lnSpc>
                <a:spcPts val="4949"/>
              </a:lnSpc>
              <a:spcBef>
                <a:spcPct val="0"/>
              </a:spcBef>
            </a:pPr>
            <a:r>
              <a:rPr lang="en-US" b="true" sz="4499">
                <a:solidFill>
                  <a:srgbClr val="FAF9F8"/>
                </a:solidFill>
                <a:latin typeface="Garet Bold"/>
                <a:ea typeface="Garet Bold"/>
                <a:cs typeface="Garet Bold"/>
                <a:sym typeface="Garet Bold"/>
              </a:rPr>
              <a:t> H</a:t>
            </a:r>
            <a:r>
              <a:rPr lang="en-US" b="true" sz="4499">
                <a:solidFill>
                  <a:srgbClr val="FAF9F8"/>
                </a:solidFill>
                <a:latin typeface="Garet Bold"/>
                <a:ea typeface="Garet Bold"/>
                <a:cs typeface="Garet Bold"/>
                <a:sym typeface="Garet Bold"/>
              </a:rPr>
              <a:t>ata Türü ve Etkileri Analizi (FMEA)</a:t>
            </a:r>
          </a:p>
        </p:txBody>
      </p:sp>
      <p:sp>
        <p:nvSpPr>
          <p:cNvPr name="TextBox 5" id="5"/>
          <p:cNvSpPr txBox="true"/>
          <p:nvPr/>
        </p:nvSpPr>
        <p:spPr>
          <a:xfrm rot="0">
            <a:off x="0" y="6470834"/>
            <a:ext cx="8119360" cy="748665"/>
          </a:xfrm>
          <a:prstGeom prst="rect">
            <a:avLst/>
          </a:prstGeom>
        </p:spPr>
        <p:txBody>
          <a:bodyPr anchor="t" rtlCol="false" tIns="0" lIns="0" bIns="0" rIns="0">
            <a:spAutoFit/>
          </a:bodyPr>
          <a:lstStyle/>
          <a:p>
            <a:pPr algn="ctr">
              <a:lnSpc>
                <a:spcPts val="2970"/>
              </a:lnSpc>
              <a:spcBef>
                <a:spcPct val="0"/>
              </a:spcBef>
            </a:pPr>
            <a:r>
              <a:rPr lang="en-US" sz="2700">
                <a:solidFill>
                  <a:srgbClr val="FAF9F8"/>
                </a:solidFill>
                <a:latin typeface="Garet"/>
                <a:ea typeface="Garet"/>
                <a:cs typeface="Garet"/>
                <a:sym typeface="Garet"/>
              </a:rPr>
              <a:t>Uz</a:t>
            </a:r>
            <a:r>
              <a:rPr lang="en-US" sz="2700">
                <a:solidFill>
                  <a:srgbClr val="FAF9F8"/>
                </a:solidFill>
                <a:latin typeface="Garet"/>
                <a:ea typeface="Garet"/>
                <a:cs typeface="Garet"/>
                <a:sym typeface="Garet"/>
              </a:rPr>
              <a:t>ay programlarında geliştirilen bu modelle riskler nicel olarak hesaplanır.</a:t>
            </a:r>
          </a:p>
        </p:txBody>
      </p:sp>
      <p:sp>
        <p:nvSpPr>
          <p:cNvPr name="TextBox 6" id="6"/>
          <p:cNvSpPr txBox="true"/>
          <p:nvPr/>
        </p:nvSpPr>
        <p:spPr>
          <a:xfrm rot="0">
            <a:off x="-317420" y="7368789"/>
            <a:ext cx="8119360" cy="737871"/>
          </a:xfrm>
          <a:prstGeom prst="rect">
            <a:avLst/>
          </a:prstGeom>
        </p:spPr>
        <p:txBody>
          <a:bodyPr anchor="t" rtlCol="false" tIns="0" lIns="0" bIns="0" rIns="0">
            <a:spAutoFit/>
          </a:bodyPr>
          <a:lstStyle/>
          <a:p>
            <a:pPr algn="ctr">
              <a:lnSpc>
                <a:spcPts val="2860"/>
              </a:lnSpc>
              <a:spcBef>
                <a:spcPct val="0"/>
              </a:spcBef>
            </a:pPr>
            <a:r>
              <a:rPr lang="en-US" b="true" sz="2600">
                <a:solidFill>
                  <a:srgbClr val="FAF9F8"/>
                </a:solidFill>
                <a:latin typeface="Garet Bold"/>
                <a:ea typeface="Garet Bold"/>
                <a:cs typeface="Garet Bold"/>
                <a:sym typeface="Garet Bold"/>
              </a:rPr>
              <a:t>Fo</a:t>
            </a:r>
            <a:r>
              <a:rPr lang="en-US" b="true" sz="2600">
                <a:solidFill>
                  <a:srgbClr val="FAF9F8"/>
                </a:solidFill>
                <a:latin typeface="Garet Bold"/>
                <a:ea typeface="Garet Bold"/>
                <a:cs typeface="Garet Bold"/>
                <a:sym typeface="Garet Bold"/>
              </a:rPr>
              <a:t>rmül:</a:t>
            </a:r>
            <a:r>
              <a:rPr lang="en-US" sz="2600">
                <a:solidFill>
                  <a:srgbClr val="FAF9F8"/>
                </a:solidFill>
                <a:latin typeface="Garet"/>
                <a:ea typeface="Garet"/>
                <a:cs typeface="Garet"/>
                <a:sym typeface="Garet"/>
              </a:rPr>
              <a:t> Risk Öncelik Sayısı (RÖS) = C x P x I</a:t>
            </a:r>
          </a:p>
          <a:p>
            <a:pPr algn="ctr">
              <a:lnSpc>
                <a:spcPts val="2860"/>
              </a:lnSpc>
              <a:spcBef>
                <a:spcPct val="0"/>
              </a:spcBef>
            </a:pPr>
          </a:p>
        </p:txBody>
      </p:sp>
      <p:sp>
        <p:nvSpPr>
          <p:cNvPr name="TextBox 7" id="7"/>
          <p:cNvSpPr txBox="true"/>
          <p:nvPr/>
        </p:nvSpPr>
        <p:spPr>
          <a:xfrm rot="0">
            <a:off x="191600" y="7900073"/>
            <a:ext cx="7736160" cy="698501"/>
          </a:xfrm>
          <a:prstGeom prst="rect">
            <a:avLst/>
          </a:prstGeom>
        </p:spPr>
        <p:txBody>
          <a:bodyPr anchor="t" rtlCol="false" tIns="0" lIns="0" bIns="0" rIns="0">
            <a:spAutoFit/>
          </a:bodyPr>
          <a:lstStyle/>
          <a:p>
            <a:pPr algn="ctr">
              <a:lnSpc>
                <a:spcPts val="2750"/>
              </a:lnSpc>
              <a:spcBef>
                <a:spcPct val="0"/>
              </a:spcBef>
            </a:pPr>
            <a:r>
              <a:rPr lang="en-US" b="true" sz="2500">
                <a:solidFill>
                  <a:srgbClr val="FAF9F8"/>
                </a:solidFill>
                <a:latin typeface="Garet Bold"/>
                <a:ea typeface="Garet Bold"/>
                <a:cs typeface="Garet Bold"/>
                <a:sym typeface="Garet Bold"/>
              </a:rPr>
              <a:t>C (Sonuç/Şiddet): </a:t>
            </a:r>
            <a:r>
              <a:rPr lang="en-US" sz="2500">
                <a:solidFill>
                  <a:srgbClr val="FAF9F8"/>
                </a:solidFill>
                <a:latin typeface="Garet"/>
                <a:ea typeface="Garet"/>
                <a:cs typeface="Garet"/>
                <a:sym typeface="Garet"/>
              </a:rPr>
              <a:t>H</a:t>
            </a:r>
            <a:r>
              <a:rPr lang="en-US" sz="2500">
                <a:solidFill>
                  <a:srgbClr val="FAF9F8"/>
                </a:solidFill>
                <a:latin typeface="Garet"/>
                <a:ea typeface="Garet"/>
                <a:cs typeface="Garet"/>
                <a:sym typeface="Garet"/>
              </a:rPr>
              <a:t>atanın çıktıya etki derecesi.</a:t>
            </a:r>
          </a:p>
          <a:p>
            <a:pPr algn="ctr">
              <a:lnSpc>
                <a:spcPts val="2750"/>
              </a:lnSpc>
              <a:spcBef>
                <a:spcPct val="0"/>
              </a:spcBef>
            </a:pPr>
          </a:p>
        </p:txBody>
      </p:sp>
      <p:sp>
        <p:nvSpPr>
          <p:cNvPr name="TextBox 8" id="8"/>
          <p:cNvSpPr txBox="true"/>
          <p:nvPr/>
        </p:nvSpPr>
        <p:spPr>
          <a:xfrm rot="0">
            <a:off x="191600" y="8418048"/>
            <a:ext cx="6976765" cy="698501"/>
          </a:xfrm>
          <a:prstGeom prst="rect">
            <a:avLst/>
          </a:prstGeom>
        </p:spPr>
        <p:txBody>
          <a:bodyPr anchor="t" rtlCol="false" tIns="0" lIns="0" bIns="0" rIns="0">
            <a:spAutoFit/>
          </a:bodyPr>
          <a:lstStyle/>
          <a:p>
            <a:pPr algn="ctr">
              <a:lnSpc>
                <a:spcPts val="2750"/>
              </a:lnSpc>
              <a:spcBef>
                <a:spcPct val="0"/>
              </a:spcBef>
            </a:pPr>
            <a:r>
              <a:rPr lang="en-US" b="true" sz="2500">
                <a:solidFill>
                  <a:srgbClr val="FAF9F8"/>
                </a:solidFill>
                <a:latin typeface="Garet Bold"/>
                <a:ea typeface="Garet Bold"/>
                <a:cs typeface="Garet Bold"/>
                <a:sym typeface="Garet Bold"/>
              </a:rPr>
              <a:t>P (Olasılık):</a:t>
            </a:r>
            <a:r>
              <a:rPr lang="en-US" sz="2500">
                <a:solidFill>
                  <a:srgbClr val="FAF9F8"/>
                </a:solidFill>
                <a:latin typeface="Garet"/>
                <a:ea typeface="Garet"/>
                <a:cs typeface="Garet"/>
                <a:sym typeface="Garet"/>
              </a:rPr>
              <a:t> Hatanın meydana gelme sıklığı.</a:t>
            </a:r>
          </a:p>
          <a:p>
            <a:pPr algn="ctr">
              <a:lnSpc>
                <a:spcPts val="2750"/>
              </a:lnSpc>
              <a:spcBef>
                <a:spcPct val="0"/>
              </a:spcBef>
            </a:pPr>
          </a:p>
        </p:txBody>
      </p:sp>
      <p:sp>
        <p:nvSpPr>
          <p:cNvPr name="TextBox 9" id="9"/>
          <p:cNvSpPr txBox="true"/>
          <p:nvPr/>
        </p:nvSpPr>
        <p:spPr>
          <a:xfrm rot="0">
            <a:off x="-453808" y="8918575"/>
            <a:ext cx="8573168" cy="698501"/>
          </a:xfrm>
          <a:prstGeom prst="rect">
            <a:avLst/>
          </a:prstGeom>
        </p:spPr>
        <p:txBody>
          <a:bodyPr anchor="t" rtlCol="false" tIns="0" lIns="0" bIns="0" rIns="0">
            <a:spAutoFit/>
          </a:bodyPr>
          <a:lstStyle/>
          <a:p>
            <a:pPr algn="ctr">
              <a:lnSpc>
                <a:spcPts val="2750"/>
              </a:lnSpc>
              <a:spcBef>
                <a:spcPct val="0"/>
              </a:spcBef>
            </a:pPr>
            <a:r>
              <a:rPr lang="en-US" b="true" sz="2500">
                <a:solidFill>
                  <a:srgbClr val="FAF9F8"/>
                </a:solidFill>
                <a:latin typeface="Garet Bold"/>
                <a:ea typeface="Garet Bold"/>
                <a:cs typeface="Garet Bold"/>
                <a:sym typeface="Garet Bold"/>
              </a:rPr>
              <a:t>I (Beli</a:t>
            </a:r>
            <a:r>
              <a:rPr lang="en-US" b="true" sz="2500">
                <a:solidFill>
                  <a:srgbClr val="FAF9F8"/>
                </a:solidFill>
                <a:latin typeface="Garet Bold"/>
                <a:ea typeface="Garet Bold"/>
                <a:cs typeface="Garet Bold"/>
                <a:sym typeface="Garet Bold"/>
              </a:rPr>
              <a:t>rlenebilirlik):</a:t>
            </a:r>
            <a:r>
              <a:rPr lang="en-US" sz="2500">
                <a:solidFill>
                  <a:srgbClr val="FAF9F8"/>
                </a:solidFill>
                <a:latin typeface="Garet"/>
                <a:ea typeface="Garet"/>
                <a:cs typeface="Garet"/>
                <a:sym typeface="Garet"/>
              </a:rPr>
              <a:t> Hatanın tespit edilebilme yeteneği.</a:t>
            </a:r>
          </a:p>
        </p:txBody>
      </p:sp>
      <p:sp>
        <p:nvSpPr>
          <p:cNvPr name="TextBox 10" id="10"/>
          <p:cNvSpPr txBox="true"/>
          <p:nvPr/>
        </p:nvSpPr>
        <p:spPr>
          <a:xfrm rot="0">
            <a:off x="9828870" y="78740"/>
            <a:ext cx="8233881" cy="1216660"/>
          </a:xfrm>
          <a:prstGeom prst="rect">
            <a:avLst/>
          </a:prstGeom>
        </p:spPr>
        <p:txBody>
          <a:bodyPr anchor="t" rtlCol="false" tIns="0" lIns="0" bIns="0" rIns="0">
            <a:spAutoFit/>
          </a:bodyPr>
          <a:lstStyle/>
          <a:p>
            <a:pPr algn="ctr">
              <a:lnSpc>
                <a:spcPts val="4729"/>
              </a:lnSpc>
              <a:spcBef>
                <a:spcPct val="0"/>
              </a:spcBef>
            </a:pPr>
            <a:r>
              <a:rPr lang="en-US" b="true" sz="4299">
                <a:solidFill>
                  <a:srgbClr val="FAF9F8"/>
                </a:solidFill>
                <a:latin typeface="Garet Bold"/>
                <a:ea typeface="Garet Bold"/>
                <a:cs typeface="Garet Bold"/>
                <a:sym typeface="Garet Bold"/>
              </a:rPr>
              <a:t>De</a:t>
            </a:r>
            <a:r>
              <a:rPr lang="en-US" b="true" sz="4299">
                <a:solidFill>
                  <a:srgbClr val="FAF9F8"/>
                </a:solidFill>
                <a:latin typeface="Garet Bold"/>
                <a:ea typeface="Garet Bold"/>
                <a:cs typeface="Garet Bold"/>
                <a:sym typeface="Garet Bold"/>
              </a:rPr>
              <a:t>adline İçin Örnek FMEA Tablosu</a:t>
            </a:r>
          </a:p>
        </p:txBody>
      </p:sp>
      <p:sp>
        <p:nvSpPr>
          <p:cNvPr name="TextBox 11" id="11"/>
          <p:cNvSpPr txBox="true"/>
          <p:nvPr/>
        </p:nvSpPr>
        <p:spPr>
          <a:xfrm rot="0">
            <a:off x="9949551" y="1661594"/>
            <a:ext cx="7992519" cy="3613786"/>
          </a:xfrm>
          <a:prstGeom prst="rect">
            <a:avLst/>
          </a:prstGeom>
        </p:spPr>
        <p:txBody>
          <a:bodyPr anchor="t" rtlCol="false" tIns="0" lIns="0" bIns="0" rIns="0">
            <a:spAutoFit/>
          </a:bodyPr>
          <a:lstStyle/>
          <a:p>
            <a:pPr algn="ctr" marL="561349" indent="-280674" lvl="1">
              <a:lnSpc>
                <a:spcPts val="2860"/>
              </a:lnSpc>
              <a:buFont typeface="Arial"/>
              <a:buChar char="•"/>
            </a:pPr>
            <a:r>
              <a:rPr lang="en-US" sz="2600">
                <a:solidFill>
                  <a:srgbClr val="FAF9F8"/>
                </a:solidFill>
                <a:latin typeface="Garet"/>
                <a:ea typeface="Garet"/>
                <a:cs typeface="Garet"/>
                <a:sym typeface="Garet"/>
              </a:rPr>
              <a:t>Hata: İnternet kesintisi yüzünden siparişin mutfağa düşmemesi.</a:t>
            </a:r>
          </a:p>
          <a:p>
            <a:pPr algn="ctr" marL="561349" indent="-280674" lvl="1">
              <a:lnSpc>
                <a:spcPts val="2860"/>
              </a:lnSpc>
              <a:buFont typeface="Arial"/>
              <a:buChar char="•"/>
            </a:pPr>
            <a:r>
              <a:rPr lang="en-US" sz="2600">
                <a:solidFill>
                  <a:srgbClr val="FAF9F8"/>
                </a:solidFill>
                <a:latin typeface="Garet"/>
                <a:ea typeface="Garet"/>
                <a:cs typeface="Garet"/>
                <a:sym typeface="Garet"/>
              </a:rPr>
              <a:t>C (Şiddet): 9 (Yüksek - müşteri kaybı)</a:t>
            </a:r>
          </a:p>
          <a:p>
            <a:pPr algn="ctr" marL="561349" indent="-280674" lvl="1">
              <a:lnSpc>
                <a:spcPts val="2860"/>
              </a:lnSpc>
              <a:spcBef>
                <a:spcPct val="0"/>
              </a:spcBef>
              <a:buFont typeface="Arial"/>
              <a:buChar char="•"/>
            </a:pPr>
            <a:r>
              <a:rPr lang="en-US" sz="2600">
                <a:solidFill>
                  <a:srgbClr val="FAF9F8"/>
                </a:solidFill>
                <a:latin typeface="Garet"/>
                <a:ea typeface="Garet"/>
                <a:cs typeface="Garet"/>
                <a:sym typeface="Garet"/>
              </a:rPr>
              <a:t>P (Olasılık): 4 (Orta/Düşük)</a:t>
            </a:r>
          </a:p>
          <a:p>
            <a:pPr algn="ctr" marL="561349" indent="-280674" lvl="1">
              <a:lnSpc>
                <a:spcPts val="2860"/>
              </a:lnSpc>
              <a:spcBef>
                <a:spcPct val="0"/>
              </a:spcBef>
              <a:buFont typeface="Arial"/>
              <a:buChar char="•"/>
            </a:pPr>
            <a:r>
              <a:rPr lang="en-US" sz="2600">
                <a:solidFill>
                  <a:srgbClr val="FAF9F8"/>
                </a:solidFill>
                <a:latin typeface="Garet"/>
                <a:ea typeface="Garet"/>
                <a:cs typeface="Garet"/>
                <a:sym typeface="Garet"/>
              </a:rPr>
              <a:t>I (Tespit): 2 (Çok kolay - anında fark edilir)</a:t>
            </a:r>
          </a:p>
          <a:p>
            <a:pPr algn="ctr" marL="561349" indent="-280674" lvl="1">
              <a:lnSpc>
                <a:spcPts val="2860"/>
              </a:lnSpc>
              <a:spcBef>
                <a:spcPct val="0"/>
              </a:spcBef>
              <a:buFont typeface="Arial"/>
              <a:buChar char="•"/>
            </a:pPr>
            <a:r>
              <a:rPr lang="en-US" sz="2600">
                <a:solidFill>
                  <a:srgbClr val="FAF9F8"/>
                </a:solidFill>
                <a:latin typeface="Garet"/>
                <a:ea typeface="Garet"/>
                <a:cs typeface="Garet"/>
                <a:sym typeface="Garet"/>
              </a:rPr>
              <a:t>RÖS: 9x4x2 = 72 (Orta seviye risk)</a:t>
            </a:r>
          </a:p>
          <a:p>
            <a:pPr algn="ctr" marL="561349" indent="-280674" lvl="1">
              <a:lnSpc>
                <a:spcPts val="2860"/>
              </a:lnSpc>
              <a:spcBef>
                <a:spcPct val="0"/>
              </a:spcBef>
              <a:buFont typeface="Arial"/>
              <a:buChar char="•"/>
            </a:pPr>
            <a:r>
              <a:rPr lang="en-US" sz="2600">
                <a:solidFill>
                  <a:srgbClr val="FAF9F8"/>
                </a:solidFill>
                <a:latin typeface="Garet"/>
                <a:ea typeface="Garet"/>
                <a:cs typeface="Garet"/>
                <a:sym typeface="Garet"/>
              </a:rPr>
              <a:t>Azaltma Stratejisi: Sistemin "Offline-First" (yerel ağda internetsiz de çalışabilme) mimarisiyle kodlanması.</a:t>
            </a:r>
          </a:p>
          <a:p>
            <a:pPr algn="ctr">
              <a:lnSpc>
                <a:spcPts val="2750"/>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777A4A"/>
        </a:solidFill>
      </p:bgPr>
    </p:bg>
    <p:spTree>
      <p:nvGrpSpPr>
        <p:cNvPr id="1" name=""/>
        <p:cNvGrpSpPr/>
        <p:nvPr/>
      </p:nvGrpSpPr>
      <p:grpSpPr>
        <a:xfrm>
          <a:off x="0" y="0"/>
          <a:ext cx="0" cy="0"/>
          <a:chOff x="0" y="0"/>
          <a:chExt cx="0" cy="0"/>
        </a:xfrm>
      </p:grpSpPr>
      <p:sp>
        <p:nvSpPr>
          <p:cNvPr name="Freeform 2" id="2"/>
          <p:cNvSpPr/>
          <p:nvPr/>
        </p:nvSpPr>
        <p:spPr>
          <a:xfrm flipH="false" flipV="false" rot="0">
            <a:off x="4044715" y="1886885"/>
            <a:ext cx="2996328" cy="3213221"/>
          </a:xfrm>
          <a:custGeom>
            <a:avLst/>
            <a:gdLst/>
            <a:ahLst/>
            <a:cxnLst/>
            <a:rect r="r" b="b" t="t" l="l"/>
            <a:pathLst>
              <a:path h="3213221" w="2996328">
                <a:moveTo>
                  <a:pt x="0" y="0"/>
                </a:moveTo>
                <a:lnTo>
                  <a:pt x="2996328" y="0"/>
                </a:lnTo>
                <a:lnTo>
                  <a:pt x="2996328" y="3213220"/>
                </a:lnTo>
                <a:lnTo>
                  <a:pt x="0" y="3213220"/>
                </a:lnTo>
                <a:lnTo>
                  <a:pt x="0" y="0"/>
                </a:lnTo>
                <a:close/>
              </a:path>
            </a:pathLst>
          </a:custGeom>
          <a:blipFill>
            <a:blip r:embed="rId2"/>
            <a:stretch>
              <a:fillRect l="0" t="0" r="0" b="0"/>
            </a:stretch>
          </a:blipFill>
        </p:spPr>
      </p:sp>
      <p:sp>
        <p:nvSpPr>
          <p:cNvPr name="Freeform 3" id="3"/>
          <p:cNvSpPr/>
          <p:nvPr/>
        </p:nvSpPr>
        <p:spPr>
          <a:xfrm flipH="false" flipV="false" rot="0">
            <a:off x="5737387" y="4100959"/>
            <a:ext cx="4666656" cy="4299157"/>
          </a:xfrm>
          <a:custGeom>
            <a:avLst/>
            <a:gdLst/>
            <a:ahLst/>
            <a:cxnLst/>
            <a:rect r="r" b="b" t="t" l="l"/>
            <a:pathLst>
              <a:path h="4299157" w="4666656">
                <a:moveTo>
                  <a:pt x="0" y="0"/>
                </a:moveTo>
                <a:lnTo>
                  <a:pt x="4666656" y="0"/>
                </a:lnTo>
                <a:lnTo>
                  <a:pt x="4666656" y="4299156"/>
                </a:lnTo>
                <a:lnTo>
                  <a:pt x="0" y="4299156"/>
                </a:lnTo>
                <a:lnTo>
                  <a:pt x="0" y="0"/>
                </a:lnTo>
                <a:close/>
              </a:path>
            </a:pathLst>
          </a:custGeom>
          <a:blipFill>
            <a:blip r:embed="rId3"/>
            <a:stretch>
              <a:fillRect l="0" t="0" r="0" b="0"/>
            </a:stretch>
          </a:blipFill>
        </p:spPr>
      </p:sp>
      <p:sp>
        <p:nvSpPr>
          <p:cNvPr name="Freeform 4" id="4"/>
          <p:cNvSpPr/>
          <p:nvPr/>
        </p:nvSpPr>
        <p:spPr>
          <a:xfrm flipH="false" flipV="false" rot="0">
            <a:off x="10036545" y="2212273"/>
            <a:ext cx="1255598" cy="2562444"/>
          </a:xfrm>
          <a:custGeom>
            <a:avLst/>
            <a:gdLst/>
            <a:ahLst/>
            <a:cxnLst/>
            <a:rect r="r" b="b" t="t" l="l"/>
            <a:pathLst>
              <a:path h="2562444" w="1255598">
                <a:moveTo>
                  <a:pt x="0" y="0"/>
                </a:moveTo>
                <a:lnTo>
                  <a:pt x="1255597" y="0"/>
                </a:lnTo>
                <a:lnTo>
                  <a:pt x="1255597" y="2562444"/>
                </a:lnTo>
                <a:lnTo>
                  <a:pt x="0" y="2562444"/>
                </a:lnTo>
                <a:lnTo>
                  <a:pt x="0" y="0"/>
                </a:lnTo>
                <a:close/>
              </a:path>
            </a:pathLst>
          </a:custGeom>
          <a:blipFill>
            <a:blip r:embed="rId4"/>
            <a:stretch>
              <a:fillRect l="0" t="0" r="0" b="0"/>
            </a:stretch>
          </a:blipFill>
        </p:spPr>
      </p:sp>
      <p:sp>
        <p:nvSpPr>
          <p:cNvPr name="TextBox 5" id="5"/>
          <p:cNvSpPr txBox="true"/>
          <p:nvPr/>
        </p:nvSpPr>
        <p:spPr>
          <a:xfrm rot="0">
            <a:off x="2678245" y="2259351"/>
            <a:ext cx="12931510" cy="2220637"/>
          </a:xfrm>
          <a:prstGeom prst="rect">
            <a:avLst/>
          </a:prstGeom>
        </p:spPr>
        <p:txBody>
          <a:bodyPr anchor="t" rtlCol="false" tIns="0" lIns="0" bIns="0" rIns="0">
            <a:spAutoFit/>
          </a:bodyPr>
          <a:lstStyle/>
          <a:p>
            <a:pPr algn="ctr">
              <a:lnSpc>
                <a:spcPts val="18165"/>
              </a:lnSpc>
            </a:pPr>
            <a:r>
              <a:rPr lang="en-US" sz="12975">
                <a:solidFill>
                  <a:srgbClr val="D7D5DC"/>
                </a:solidFill>
                <a:latin typeface="Garet"/>
                <a:ea typeface="Garet"/>
                <a:cs typeface="Garet"/>
                <a:sym typeface="Garet"/>
              </a:rPr>
              <a:t>TEŞEKKÜRLER</a:t>
            </a:r>
          </a:p>
        </p:txBody>
      </p:sp>
      <p:sp>
        <p:nvSpPr>
          <p:cNvPr name="Freeform 6" id="6"/>
          <p:cNvSpPr/>
          <p:nvPr/>
        </p:nvSpPr>
        <p:spPr>
          <a:xfrm flipH="false" flipV="false" rot="0">
            <a:off x="11292142" y="3710335"/>
            <a:ext cx="2951143" cy="3078115"/>
          </a:xfrm>
          <a:custGeom>
            <a:avLst/>
            <a:gdLst/>
            <a:ahLst/>
            <a:cxnLst/>
            <a:rect r="r" b="b" t="t" l="l"/>
            <a:pathLst>
              <a:path h="3078115" w="2951143">
                <a:moveTo>
                  <a:pt x="0" y="0"/>
                </a:moveTo>
                <a:lnTo>
                  <a:pt x="2951143" y="0"/>
                </a:lnTo>
                <a:lnTo>
                  <a:pt x="2951143" y="3078115"/>
                </a:lnTo>
                <a:lnTo>
                  <a:pt x="0" y="3078115"/>
                </a:lnTo>
                <a:lnTo>
                  <a:pt x="0" y="0"/>
                </a:lnTo>
                <a:close/>
              </a:path>
            </a:pathLst>
          </a:custGeom>
          <a:blipFill>
            <a:blip r:embed="rId5"/>
            <a:stretch>
              <a:fillRect l="0" t="0" r="0" b="0"/>
            </a:stretch>
          </a:blipFill>
        </p:spPr>
      </p:sp>
      <p:sp>
        <p:nvSpPr>
          <p:cNvPr name="Freeform 7" id="7"/>
          <p:cNvSpPr/>
          <p:nvPr/>
        </p:nvSpPr>
        <p:spPr>
          <a:xfrm flipH="false" flipV="false" rot="0">
            <a:off x="-9763497" y="0"/>
            <a:ext cx="12718022" cy="12718022"/>
          </a:xfrm>
          <a:custGeom>
            <a:avLst/>
            <a:gdLst/>
            <a:ahLst/>
            <a:cxnLst/>
            <a:rect r="r" b="b" t="t" l="l"/>
            <a:pathLst>
              <a:path h="12718022" w="12718022">
                <a:moveTo>
                  <a:pt x="0" y="0"/>
                </a:moveTo>
                <a:lnTo>
                  <a:pt x="12718021" y="0"/>
                </a:lnTo>
                <a:lnTo>
                  <a:pt x="12718021" y="12718022"/>
                </a:lnTo>
                <a:lnTo>
                  <a:pt x="0" y="12718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51334" y="9286875"/>
            <a:ext cx="17785331" cy="397510"/>
          </a:xfrm>
          <a:prstGeom prst="rect">
            <a:avLst/>
          </a:prstGeom>
        </p:spPr>
        <p:txBody>
          <a:bodyPr anchor="t" rtlCol="false" tIns="0" lIns="0" bIns="0" rIns="0">
            <a:spAutoFit/>
          </a:bodyPr>
          <a:lstStyle/>
          <a:p>
            <a:pPr algn="ctr">
              <a:lnSpc>
                <a:spcPts val="3080"/>
              </a:lnSpc>
              <a:spcBef>
                <a:spcPct val="0"/>
              </a:spcBef>
            </a:pPr>
            <a:r>
              <a:rPr lang="en-US" sz="2800">
                <a:solidFill>
                  <a:srgbClr val="FAF9F8"/>
                </a:solidFill>
                <a:latin typeface="Garet"/>
                <a:ea typeface="Garet"/>
                <a:cs typeface="Garet"/>
                <a:sym typeface="Garet"/>
              </a:rPr>
              <a:t>Mehmet ÇELİK---Hüsne Nur KURT---Özlem CESUROĞLU---Bektaş KESLER---Yunus Emre ÖZERGİN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DAHJ3OmDC4U</dc:identifier>
  <dcterms:modified xsi:type="dcterms:W3CDTF">2011-08-01T06:04:30Z</dcterms:modified>
  <cp:revision>1</cp:revision>
  <dc:title>Yeşil Gri Hareketli Modern Gradyan Dijital Marka Yönetimi Sunum</dc:title>
</cp:coreProperties>
</file>